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305" r:id="rId3"/>
    <p:sldId id="306" r:id="rId4"/>
    <p:sldId id="307" r:id="rId5"/>
    <p:sldId id="308" r:id="rId6"/>
    <p:sldId id="309" r:id="rId7"/>
    <p:sldId id="310" r:id="rId8"/>
    <p:sldId id="300" r:id="rId9"/>
    <p:sldId id="311" r:id="rId10"/>
    <p:sldId id="312" r:id="rId11"/>
    <p:sldId id="313" r:id="rId12"/>
    <p:sldId id="314" r:id="rId13"/>
    <p:sldId id="315" r:id="rId14"/>
    <p:sldId id="316" r:id="rId15"/>
    <p:sldId id="317" r:id="rId16"/>
    <p:sldId id="318" r:id="rId17"/>
    <p:sldId id="319" r:id="rId18"/>
    <p:sldId id="320" r:id="rId19"/>
    <p:sldId id="321" r:id="rId20"/>
    <p:sldId id="298" r:id="rId21"/>
    <p:sldId id="322" r:id="rId22"/>
    <p:sldId id="323" r:id="rId23"/>
    <p:sldId id="299" r:id="rId24"/>
    <p:sldId id="324" r:id="rId25"/>
    <p:sldId id="325" r:id="rId26"/>
    <p:sldId id="326" r:id="rId27"/>
    <p:sldId id="327" r:id="rId28"/>
    <p:sldId id="328" r:id="rId29"/>
    <p:sldId id="329" r:id="rId30"/>
    <p:sldId id="331" r:id="rId31"/>
    <p:sldId id="332"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2"/>
    <p:restoredTop sz="94669"/>
  </p:normalViewPr>
  <p:slideViewPr>
    <p:cSldViewPr snapToGrid="0">
      <p:cViewPr varScale="1">
        <p:scale>
          <a:sx n="141" d="100"/>
          <a:sy n="141" d="100"/>
        </p:scale>
        <p:origin x="192"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代码依据：</a:t>
            </a:r>
            <a:r>
              <a:rPr lang="en"/>
              <a:t>knowledge/README.md、knowledge/cards.json、apps/server/src/knowledge-store.ts、knowledge-import.ts、rerank.ts。</a:t>
            </a:r>
            <a:r>
              <a:rPr lang="zh-CN" altLang="en-US"/>
              <a:t>核对日期</a:t>
            </a:r>
            <a:r>
              <a:rPr lang="en-US" altLang="zh-CN"/>
              <a:t>2026-09-08</a:t>
            </a:r>
            <a:r>
              <a:rPr lang="zh-CN" altLang="en-US"/>
              <a:t>。实际记录 </a:t>
            </a:r>
            <a:r>
              <a:rPr lang="en"/>
              <a:t>ID=interview-bagu-ai-agent-q17-consistency-idempotency。</a:t>
            </a:r>
            <a:r>
              <a:rPr lang="zh-CN" altLang="en-US"/>
              <a:t>此首批卡仍保留固定</a:t>
            </a:r>
            <a:r>
              <a:rPr lang="en"/>
              <a:t>commit</a:t>
            </a:r>
            <a:r>
              <a:rPr lang="zh-CN" altLang="en-US"/>
              <a:t>链接，但新导入卡不统一要求固定</a:t>
            </a:r>
            <a:r>
              <a:rPr lang="en"/>
              <a:t>commit。</a:t>
            </a:r>
            <a:r>
              <a:rPr lang="zh-CN" altLang="en-US"/>
              <a:t>展示内容按该卡正文压缩。</a:t>
            </a:r>
            <a:endParaRPr lang="zh-CN" alt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两段问题逐字提取 data/evaluations/phase4-knowledge-questions-smoke.json，2026-09-06，gpt-5.6-sol。有检索侧 reason 为“核实外部副作用与本地状态之间出现故障窗口时的具体恢复机制”，targetFieldId=project_2abbfz:mechanism，targetDepth=3。两侧均出现一次 ask_candidate 拒绝后接受；invalid_depth 是记录的 blockerCode，不据此推断未保存的首轮完整参数。历史记录来自20卡、Top-3时期，当前检索已升级，不把这组原文当作新版重排效果。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代码依据：knowledge</a:t>
            </a:r>
            <a:r>
              <a:rPr dirty="0"/>
              <a:t>/</a:t>
            </a:r>
            <a:r>
              <a:rPr dirty="0" err="1"/>
              <a:t>README.md、knowledge</a:t>
            </a:r>
            <a:r>
              <a:rPr dirty="0"/>
              <a:t>/</a:t>
            </a:r>
            <a:r>
              <a:rPr dirty="0" err="1"/>
              <a:t>cards.json、apps</a:t>
            </a:r>
            <a:r>
              <a:rPr dirty="0"/>
              <a:t>/server/</a:t>
            </a:r>
            <a:r>
              <a:rPr dirty="0" err="1"/>
              <a:t>src</a:t>
            </a:r>
            <a:r>
              <a:rPr dirty="0"/>
              <a:t>/knowledge-store.ts、knowledge-import.ts、rerank.ts。核对日期2026-09-08。embedding_hash只跟踪实际embeddingText，content_hash保存完整卡片摘要。embedding_fingerprint变化触发全量生成。向量按10张分批请求，校验维度后BEGIN </a:t>
            </a:r>
            <a:r>
              <a:rPr dirty="0" err="1"/>
              <a:t>IMMEDIATE并原子替换索引</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代码依据：knowledge</a:t>
            </a:r>
            <a:r>
              <a:rPr dirty="0"/>
              <a:t>/</a:t>
            </a:r>
            <a:r>
              <a:rPr dirty="0" err="1"/>
              <a:t>README.md、knowledge</a:t>
            </a:r>
            <a:r>
              <a:rPr dirty="0"/>
              <a:t>/</a:t>
            </a:r>
            <a:r>
              <a:rPr dirty="0" err="1"/>
              <a:t>cards.json、apps</a:t>
            </a:r>
            <a:r>
              <a:rPr dirty="0"/>
              <a:t>/server/</a:t>
            </a:r>
            <a:r>
              <a:rPr dirty="0" err="1"/>
              <a:t>src</a:t>
            </a:r>
            <a:r>
              <a:rPr dirty="0"/>
              <a:t>/knowledge-store.ts、knowledge-import.ts、rerank.ts。核对日期2026-09-08。BM25用Intl.Segmenter中英文分词、停用词过滤，检索文档为原题和考察点；RRF常数60。领域参与embedding而不是独立硬过滤。每轮最多两次retrieve_probe_knowledge，重试共用预算；knowledgeIds按实际命中校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来源 packages/interview-core/src/memory.ts、apps/server/src/session-memory.ts、packages/pi-runtime/src/recall.ts、docs/phase/phase4/README.md。不能声称跨候选人记忆或已实现跨会话成长画像。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候选人语句为机制示例。来源 README.md、packages/interview-core/src/open-floor.ts、packages/pi-runtime/src/clarification.ts。每轮单主要问题，中性承接。拟人度仍需真人评价。</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来源 apps/server/src/store.ts 的 claim/complete，apps/server/src/execution.ts 的 answer，apps/server/src/model-stage.ts。存在故障注入与恢复测试。主备模型共用命令截止时间，不能把备用配置等同于无限重试。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来源 docs/phase/phase1.5/results/routing-matrix-v0.1.json，2026-09-02。强模型 gpt-5.6-sol，报告快速模型 gpt-5.6-terra。总token为输入与输出之和。降幅=(302691-237935)/302691、(1462178-854770)/1462178。两策略行为Gate均6/6，不代表人工质量Gate。质量对照因Gold及路径问题无效，未使用其precision/recall。不宣称金额节省或当前版本稳定复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2026-09-08 在本地副本打开2026-09-07演示候选人甲的历史报告。report-radar.png 完整展示四维雷达与待评估项；report-advice.png 展示第一项提升任务。该记录匹配分100仅按1/1条合并JD要求计算，其他维度仍待评估。截图不修改原有分数、文本或图形。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这是维护方向，贡献指南和根目录LICENSE尚未建立，不宣称已有贡献者社区。模型API用量由使用者与其服务商自行承担。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2026-09-08 在 GitHub 项目页面确认仓库标记为 Private。未修改可见性或权限。最终提交前需确认源码获取方式及主办方对本地体验方案的接受情况。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13C"/>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6B94EEB-F885-409A-AFD0-741B3A66473B}"/>
              </a:ext>
            </a:extLst>
          </p:cNvPr>
          <p:cNvSpPr>
            <a:spLocks noGrp="1"/>
          </p:cNvSpPr>
          <p:nvPr/>
        </p:nvSpPr>
        <p:spPr>
          <a:xfrm>
            <a:off x="647700" y="1066800"/>
            <a:ext cx="10858500" cy="1095375"/>
          </a:xfrm>
          <a:prstGeom prst="rect">
            <a:avLst/>
          </a:prstGeom>
          <a:noFill/>
          <a:ln w="0">
            <a:noFill/>
          </a:ln>
        </p:spPr>
        <p:txBody>
          <a:bodyPr wrap="none" lIns="0" tIns="0" rIns="0" bIns="0" anchor="t">
            <a:noAutofit/>
          </a:bodyPr>
          <a:lstStyle/>
          <a:p>
            <a:pPr algn="l">
              <a:defRPr sz="6300" b="1">
                <a:solidFill>
                  <a:srgbClr val="FFFFFF"/>
                </a:solidFill>
                <a:latin typeface="Arial Unicode MS"/>
                <a:ea typeface="Arial Unicode MS"/>
                <a:cs typeface="Arial Unicode MS"/>
              </a:defRPr>
            </a:pPr>
            <a:r>
              <a:rPr sz="6300" b="1" dirty="0">
                <a:solidFill>
                  <a:srgbClr val="FFFFFF"/>
                </a:solidFill>
                <a:latin typeface="Arial Unicode MS"/>
                <a:ea typeface="Arial Unicode MS"/>
                <a:cs typeface="Arial Unicode MS"/>
              </a:rPr>
              <a:t>Better Resume</a:t>
            </a:r>
          </a:p>
        </p:txBody>
      </p:sp>
      <p:sp>
        <p:nvSpPr>
          <p:cNvPr id="2" name="矩形 1">
            <a:extLst>
              <a:ext uri="{FF2B5EF4-FFF2-40B4-BE49-F238E27FC236}">
                <a16:creationId xmlns:a16="http://schemas.microsoft.com/office/drawing/2014/main" id="{4F3FF50E-6398-4ABD-93EB-A92BB18C3A8E}"/>
              </a:ext>
            </a:extLst>
          </p:cNvPr>
          <p:cNvSpPr>
            <a:spLocks noGrp="1"/>
          </p:cNvSpPr>
          <p:nvPr/>
        </p:nvSpPr>
        <p:spPr>
          <a:xfrm>
            <a:off x="685800" y="2609850"/>
            <a:ext cx="10572750" cy="838200"/>
          </a:xfrm>
          <a:prstGeom prst="rect">
            <a:avLst/>
          </a:prstGeom>
          <a:noFill/>
          <a:ln w="0">
            <a:noFill/>
          </a:ln>
        </p:spPr>
        <p:txBody>
          <a:bodyPr wrap="none" lIns="0" tIns="0" rIns="0" bIns="0" anchor="t">
            <a:noAutofit/>
          </a:bodyPr>
          <a:lstStyle/>
          <a:p>
            <a:pPr algn="l">
              <a:defRPr sz="4350" b="0">
                <a:solidFill>
                  <a:srgbClr val="FFFFFF"/>
                </a:solidFill>
                <a:latin typeface="Arial Unicode MS"/>
                <a:ea typeface="Arial Unicode MS"/>
                <a:cs typeface="Arial Unicode MS"/>
              </a:defRPr>
            </a:pPr>
            <a:r>
              <a:rPr sz="4350" b="0" dirty="0" err="1">
                <a:solidFill>
                  <a:srgbClr val="FFFFFF"/>
                </a:solidFill>
                <a:latin typeface="Arial Unicode MS"/>
                <a:ea typeface="Arial Unicode MS"/>
                <a:cs typeface="Arial Unicode MS"/>
              </a:rPr>
              <a:t>岗位胜任力评估智能体</a:t>
            </a:r>
            <a:endParaRPr sz="4350" b="0" dirty="0">
              <a:solidFill>
                <a:srgbClr val="FFFFFF"/>
              </a:solidFill>
              <a:latin typeface="Arial Unicode MS"/>
              <a:ea typeface="Arial Unicode MS"/>
              <a:cs typeface="Arial Unicode MS"/>
            </a:endParaRPr>
          </a:p>
        </p:txBody>
      </p:sp>
      <p:sp>
        <p:nvSpPr>
          <p:cNvPr id="3" name="矩形 2">
            <a:extLst>
              <a:ext uri="{FF2B5EF4-FFF2-40B4-BE49-F238E27FC236}">
                <a16:creationId xmlns:a16="http://schemas.microsoft.com/office/drawing/2014/main" id="{9AA5EF7F-8DDC-45E2-92C3-3EBB335AD971}"/>
              </a:ext>
            </a:extLst>
          </p:cNvPr>
          <p:cNvSpPr>
            <a:spLocks noGrp="1"/>
          </p:cNvSpPr>
          <p:nvPr/>
        </p:nvSpPr>
        <p:spPr>
          <a:xfrm>
            <a:off x="704850" y="3657600"/>
            <a:ext cx="10191750" cy="619125"/>
          </a:xfrm>
          <a:prstGeom prst="rect">
            <a:avLst/>
          </a:prstGeom>
          <a:noFill/>
          <a:ln w="0">
            <a:noFill/>
          </a:ln>
        </p:spPr>
        <p:txBody>
          <a:bodyPr wrap="none" lIns="0" tIns="0" rIns="0" bIns="0" anchor="t">
            <a:noAutofit/>
          </a:bodyPr>
          <a:lstStyle/>
          <a:p>
            <a:pPr algn="l">
              <a:defRPr sz="2625" b="0">
                <a:solidFill>
                  <a:srgbClr val="A5DBD8"/>
                </a:solidFill>
                <a:latin typeface="Arial Unicode MS"/>
                <a:ea typeface="Arial Unicode MS"/>
                <a:cs typeface="Arial Unicode MS"/>
              </a:defRPr>
            </a:pPr>
            <a:r>
              <a:rPr sz="2625" b="0" dirty="0" err="1">
                <a:solidFill>
                  <a:srgbClr val="A5DBD8"/>
                </a:solidFill>
                <a:latin typeface="Arial Unicode MS"/>
                <a:ea typeface="Arial Unicode MS"/>
                <a:cs typeface="Arial Unicode MS"/>
              </a:rPr>
              <a:t>面向项目经历的模拟面试与能力评估</a:t>
            </a:r>
            <a:endParaRPr sz="2625" b="0" dirty="0">
              <a:solidFill>
                <a:srgbClr val="A5DBD8"/>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0E7ED4DE-E344-4A16-8846-AB1DC8ADF485}"/>
              </a:ext>
            </a:extLst>
          </p:cNvPr>
          <p:cNvSpPr>
            <a:spLocks noGrp="1"/>
          </p:cNvSpPr>
          <p:nvPr/>
        </p:nvSpPr>
        <p:spPr>
          <a:xfrm>
            <a:off x="685800" y="5500370"/>
            <a:ext cx="10477500" cy="727710"/>
          </a:xfrm>
          <a:prstGeom prst="rect">
            <a:avLst/>
          </a:prstGeom>
          <a:noFill/>
          <a:ln w="0">
            <a:noFill/>
          </a:ln>
        </p:spPr>
        <p:txBody>
          <a:bodyPr wrap="none" lIns="0" tIns="0" rIns="0" bIns="0" anchor="t">
            <a:noAutofit/>
          </a:bodyPr>
          <a:lstStyle/>
          <a:p>
            <a:pPr>
              <a:defRPr sz="1500" b="0">
                <a:solidFill>
                  <a:srgbClr val="B9D2D5"/>
                </a:solidFill>
                <a:latin typeface="Arial Unicode MS"/>
                <a:ea typeface="Arial Unicode MS"/>
                <a:cs typeface="Arial Unicode MS"/>
              </a:defRPr>
            </a:pPr>
            <a:r>
              <a:rPr sz="1500" b="0" dirty="0" err="1">
                <a:solidFill>
                  <a:srgbClr val="B9D2D5"/>
                </a:solidFill>
                <a:latin typeface="Arial Unicode MS"/>
                <a:ea typeface="Arial Unicode MS"/>
                <a:cs typeface="Arial Unicode MS"/>
              </a:rPr>
              <a:t>项目计划书</a:t>
            </a:r>
            <a:r>
              <a:rPr sz="1500" b="0" dirty="0">
                <a:solidFill>
                  <a:srgbClr val="B9D2D5"/>
                </a:solidFill>
                <a:latin typeface="Arial Unicode MS"/>
                <a:ea typeface="Arial Unicode MS"/>
                <a:cs typeface="Arial Unicode MS"/>
              </a:rPr>
              <a:t>   </a:t>
            </a:r>
            <a:br>
              <a:rPr lang="en-US" sz="1500" b="0" dirty="0">
                <a:solidFill>
                  <a:srgbClr val="B9D2D5"/>
                </a:solidFill>
                <a:latin typeface="Arial Unicode MS"/>
                <a:ea typeface="Arial Unicode MS"/>
                <a:cs typeface="Arial Unicode MS"/>
              </a:rPr>
            </a:br>
            <a:r>
              <a:rPr lang="en-US" altLang="zh-CN" sz="1600" dirty="0">
                <a:solidFill>
                  <a:srgbClr val="B9D2D5"/>
                </a:solidFill>
                <a:latin typeface="Arial Unicode MS"/>
                <a:ea typeface="Arial Unicode MS"/>
                <a:cs typeface="Arial Unicode MS"/>
              </a:rPr>
              <a:t>[</a:t>
            </a:r>
            <a:r>
              <a:rPr lang="zh-CN" altLang="en-US" sz="1600" dirty="0">
                <a:solidFill>
                  <a:srgbClr val="B9D2D5"/>
                </a:solidFill>
                <a:latin typeface="Arial Unicode MS"/>
                <a:ea typeface="Arial Unicode MS"/>
                <a:cs typeface="Arial Unicode MS"/>
              </a:rPr>
              <a:t>队伍名称</a:t>
            </a:r>
            <a:r>
              <a:rPr lang="en-US" altLang="zh-CN" sz="1600" dirty="0">
                <a:solidFill>
                  <a:srgbClr val="B9D2D5"/>
                </a:solidFill>
                <a:latin typeface="Arial Unicode MS"/>
                <a:ea typeface="Arial Unicode MS"/>
                <a:cs typeface="Arial Unicode MS"/>
              </a:rPr>
              <a:t>]:</a:t>
            </a:r>
            <a:r>
              <a:rPr sz="1500" b="0" dirty="0">
                <a:solidFill>
                  <a:srgbClr val="B9D2D5"/>
                </a:solidFill>
                <a:latin typeface="Arial Unicode MS"/>
                <a:ea typeface="Arial Unicode MS"/>
                <a:cs typeface="Arial Unicode MS"/>
              </a:rPr>
              <a:t> [</a:t>
            </a:r>
            <a:r>
              <a:rPr lang="zh-CN" altLang="en-US" sz="1500" b="0" dirty="0">
                <a:solidFill>
                  <a:srgbClr val="B9D2D5"/>
                </a:solidFill>
                <a:latin typeface="Arial Unicode MS"/>
                <a:ea typeface="Arial Unicode MS"/>
                <a:cs typeface="Arial Unicode MS"/>
              </a:rPr>
              <a:t>哈吉米重度依赖</a:t>
            </a:r>
            <a:r>
              <a:rPr sz="1500" b="0" dirty="0">
                <a:solidFill>
                  <a:srgbClr val="B9D2D5"/>
                </a:solidFill>
                <a:latin typeface="Arial Unicode MS"/>
                <a:ea typeface="Arial Unicode MS"/>
                <a:cs typeface="Arial Unicode MS"/>
              </a:rPr>
              <a:t>]   </a:t>
            </a:r>
            <a:endParaRPr lang="en-US" sz="1500" b="0" dirty="0">
              <a:solidFill>
                <a:srgbClr val="B9D2D5"/>
              </a:solidFill>
              <a:latin typeface="Arial Unicode MS"/>
              <a:ea typeface="Arial Unicode MS"/>
              <a:cs typeface="Arial Unicode MS"/>
            </a:endParaRPr>
          </a:p>
          <a:p>
            <a:pPr>
              <a:defRPr sz="1500" b="0">
                <a:solidFill>
                  <a:srgbClr val="B9D2D5"/>
                </a:solidFill>
                <a:latin typeface="Arial Unicode MS"/>
                <a:ea typeface="Arial Unicode MS"/>
                <a:cs typeface="Arial Unicode MS"/>
              </a:defRPr>
            </a:pPr>
            <a:r>
              <a:rPr sz="1500" b="0" dirty="0">
                <a:solidFill>
                  <a:srgbClr val="B9D2D5"/>
                </a:solidFill>
                <a:latin typeface="Arial Unicode MS"/>
                <a:ea typeface="Arial Unicode MS"/>
                <a:cs typeface="Arial Unicode MS"/>
              </a:rPr>
              <a:t>2026.09</a:t>
            </a:r>
          </a:p>
        </p:txBody>
      </p:sp>
    </p:spTree>
    <p:extLst>
      <p:ext uri="{BB962C8B-B14F-4D97-AF65-F5344CB8AC3E}">
        <p14:creationId xmlns:p14="http://schemas.microsoft.com/office/powerpoint/2010/main" val="415903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D0C86054-9F7A-4117-9E73-AEF9D02A929F}"/>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目录</a:t>
            </a:r>
          </a:p>
        </p:txBody>
      </p:sp>
      <p:sp>
        <p:nvSpPr>
          <p:cNvPr id="2" name="矩形 1">
            <a:extLst>
              <a:ext uri="{FF2B5EF4-FFF2-40B4-BE49-F238E27FC236}">
                <a16:creationId xmlns:a16="http://schemas.microsoft.com/office/drawing/2014/main" id="{610B55BB-1760-4A65-8864-115D07CDE182}"/>
              </a:ext>
            </a:extLst>
          </p:cNvPr>
          <p:cNvSpPr>
            <a:spLocks noGrp="1"/>
          </p:cNvSpPr>
          <p:nvPr/>
        </p:nvSpPr>
        <p:spPr>
          <a:xfrm>
            <a:off x="3106700" y="16764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01</a:t>
            </a:r>
          </a:p>
        </p:txBody>
      </p:sp>
      <p:sp>
        <p:nvSpPr>
          <p:cNvPr id="3" name="矩形 2">
            <a:extLst>
              <a:ext uri="{FF2B5EF4-FFF2-40B4-BE49-F238E27FC236}">
                <a16:creationId xmlns:a16="http://schemas.microsoft.com/office/drawing/2014/main" id="{FA59B193-9BF3-4EB6-BAD3-B5D8322A050B}"/>
              </a:ext>
            </a:extLst>
          </p:cNvPr>
          <p:cNvSpPr>
            <a:spLocks noGrp="1"/>
          </p:cNvSpPr>
          <p:nvPr/>
        </p:nvSpPr>
        <p:spPr>
          <a:xfrm>
            <a:off x="5086128" y="160020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3200" b="0" u="sng" dirty="0" err="1">
                <a:solidFill>
                  <a:srgbClr val="FF0000"/>
                </a:solidFill>
                <a:latin typeface="Arial Unicode MS"/>
                <a:ea typeface="Arial Unicode MS"/>
                <a:cs typeface="Arial Unicode MS"/>
              </a:rPr>
              <a:t>项目定位与使用流程</a:t>
            </a:r>
            <a:endParaRPr sz="3200" b="0" u="sng" dirty="0">
              <a:solidFill>
                <a:srgbClr val="FF0000"/>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30105C2D-1152-4D26-8EFD-7941B1F8958D}"/>
              </a:ext>
            </a:extLst>
          </p:cNvPr>
          <p:cNvSpPr>
            <a:spLocks noGrp="1"/>
          </p:cNvSpPr>
          <p:nvPr/>
        </p:nvSpPr>
        <p:spPr>
          <a:xfrm>
            <a:off x="3106700" y="2681287"/>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02</a:t>
            </a:r>
          </a:p>
        </p:txBody>
      </p:sp>
      <p:sp>
        <p:nvSpPr>
          <p:cNvPr id="6" name="矩形 5">
            <a:extLst>
              <a:ext uri="{FF2B5EF4-FFF2-40B4-BE49-F238E27FC236}">
                <a16:creationId xmlns:a16="http://schemas.microsoft.com/office/drawing/2014/main" id="{4B77B381-A76C-4D3F-B5CF-E3C95049BA4F}"/>
              </a:ext>
            </a:extLst>
          </p:cNvPr>
          <p:cNvSpPr>
            <a:spLocks noGrp="1"/>
          </p:cNvSpPr>
          <p:nvPr/>
        </p:nvSpPr>
        <p:spPr>
          <a:xfrm>
            <a:off x="5447635" y="2681287"/>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面试架构与评估逻辑</a:t>
            </a:r>
            <a:endParaRPr sz="2400" b="0" dirty="0">
              <a:solidFill>
                <a:srgbClr val="16313C"/>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0182B843-E764-4C10-8C15-D077C34EF1FA}"/>
              </a:ext>
            </a:extLst>
          </p:cNvPr>
          <p:cNvSpPr>
            <a:spLocks noGrp="1"/>
          </p:cNvSpPr>
          <p:nvPr/>
        </p:nvSpPr>
        <p:spPr>
          <a:xfrm>
            <a:off x="3106700" y="3533776"/>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03</a:t>
            </a:r>
          </a:p>
        </p:txBody>
      </p:sp>
      <p:sp>
        <p:nvSpPr>
          <p:cNvPr id="9" name="矩形 8">
            <a:extLst>
              <a:ext uri="{FF2B5EF4-FFF2-40B4-BE49-F238E27FC236}">
                <a16:creationId xmlns:a16="http://schemas.microsoft.com/office/drawing/2014/main" id="{C0AF4E1A-0ECE-4221-B8BA-A15010FF7D46}"/>
              </a:ext>
            </a:extLst>
          </p:cNvPr>
          <p:cNvSpPr>
            <a:spLocks noGrp="1"/>
          </p:cNvSpPr>
          <p:nvPr/>
        </p:nvSpPr>
        <p:spPr>
          <a:xfrm>
            <a:off x="5447635" y="3533776"/>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知识库与自适应</a:t>
            </a:r>
            <a:r>
              <a:rPr sz="2400" b="0" dirty="0">
                <a:solidFill>
                  <a:srgbClr val="16313C"/>
                </a:solidFill>
                <a:latin typeface="Arial Unicode MS"/>
                <a:ea typeface="Arial Unicode MS"/>
                <a:cs typeface="Arial Unicode MS"/>
              </a:rPr>
              <a:t> RAG</a:t>
            </a:r>
          </a:p>
        </p:txBody>
      </p:sp>
      <p:sp>
        <p:nvSpPr>
          <p:cNvPr id="11" name="矩形 10">
            <a:extLst>
              <a:ext uri="{FF2B5EF4-FFF2-40B4-BE49-F238E27FC236}">
                <a16:creationId xmlns:a16="http://schemas.microsoft.com/office/drawing/2014/main" id="{2577E2F3-4A07-42B8-90B9-42FD5FE3EAAA}"/>
              </a:ext>
            </a:extLst>
          </p:cNvPr>
          <p:cNvSpPr>
            <a:spLocks noGrp="1"/>
          </p:cNvSpPr>
          <p:nvPr/>
        </p:nvSpPr>
        <p:spPr>
          <a:xfrm>
            <a:off x="3106700" y="44577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04</a:t>
            </a:r>
          </a:p>
        </p:txBody>
      </p:sp>
      <p:sp>
        <p:nvSpPr>
          <p:cNvPr id="12" name="矩形 11">
            <a:extLst>
              <a:ext uri="{FF2B5EF4-FFF2-40B4-BE49-F238E27FC236}">
                <a16:creationId xmlns:a16="http://schemas.microsoft.com/office/drawing/2014/main" id="{60308C3C-36C3-4779-ADBA-B3AD2DEB6E7A}"/>
              </a:ext>
            </a:extLst>
          </p:cNvPr>
          <p:cNvSpPr>
            <a:spLocks noGrp="1"/>
          </p:cNvSpPr>
          <p:nvPr/>
        </p:nvSpPr>
        <p:spPr>
          <a:xfrm>
            <a:off x="5447635" y="445770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会话管理与运行保障</a:t>
            </a:r>
            <a:endParaRPr sz="2400" b="0" dirty="0">
              <a:solidFill>
                <a:srgbClr val="16313C"/>
              </a:solidFill>
              <a:latin typeface="Arial Unicode MS"/>
              <a:ea typeface="Arial Unicode MS"/>
              <a:cs typeface="Arial Unicode MS"/>
            </a:endParaRPr>
          </a:p>
        </p:txBody>
      </p:sp>
      <p:sp>
        <p:nvSpPr>
          <p:cNvPr id="17" name="矩形 16">
            <a:extLst>
              <a:ext uri="{FF2B5EF4-FFF2-40B4-BE49-F238E27FC236}">
                <a16:creationId xmlns:a16="http://schemas.microsoft.com/office/drawing/2014/main" id="{B88F10DA-6730-4643-B282-F605802F2AE6}"/>
              </a:ext>
            </a:extLst>
          </p:cNvPr>
          <p:cNvSpPr>
            <a:spLocks noGrp="1"/>
          </p:cNvSpPr>
          <p:nvPr/>
        </p:nvSpPr>
        <p:spPr>
          <a:xfrm>
            <a:off x="3106700" y="5248275"/>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06</a:t>
            </a:r>
          </a:p>
        </p:txBody>
      </p:sp>
      <p:sp>
        <p:nvSpPr>
          <p:cNvPr id="18" name="矩形 17">
            <a:extLst>
              <a:ext uri="{FF2B5EF4-FFF2-40B4-BE49-F238E27FC236}">
                <a16:creationId xmlns:a16="http://schemas.microsoft.com/office/drawing/2014/main" id="{E6F0E237-31B0-446E-8BEB-BFDDD8D43317}"/>
              </a:ext>
            </a:extLst>
          </p:cNvPr>
          <p:cNvSpPr>
            <a:spLocks noGrp="1"/>
          </p:cNvSpPr>
          <p:nvPr/>
        </p:nvSpPr>
        <p:spPr>
          <a:xfrm>
            <a:off x="5447635" y="524827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lang="zh-CN" altLang="en-US" sz="2400" dirty="0">
                <a:solidFill>
                  <a:srgbClr val="16313C"/>
                </a:solidFill>
                <a:latin typeface="Arial Unicode MS"/>
                <a:ea typeface="Arial Unicode MS"/>
                <a:cs typeface="Arial Unicode MS"/>
              </a:rPr>
              <a:t>报告展示</a:t>
            </a:r>
            <a:r>
              <a:rPr sz="2400" b="0" dirty="0" err="1">
                <a:solidFill>
                  <a:srgbClr val="16313C"/>
                </a:solidFill>
                <a:latin typeface="Arial Unicode MS"/>
                <a:ea typeface="Arial Unicode MS"/>
                <a:cs typeface="Arial Unicode MS"/>
              </a:rPr>
              <a:t>与参赛信息</a:t>
            </a:r>
            <a:endParaRPr sz="2400" b="0" dirty="0">
              <a:solidFill>
                <a:srgbClr val="16313C"/>
              </a:solidFill>
              <a:latin typeface="Arial Unicode MS"/>
              <a:ea typeface="Arial Unicode MS"/>
              <a:cs typeface="Arial Unicode MS"/>
            </a:endParaRPr>
          </a:p>
        </p:txBody>
      </p:sp>
      <p:sp>
        <p:nvSpPr>
          <p:cNvPr id="20" name="矩形 19">
            <a:extLst>
              <a:ext uri="{FF2B5EF4-FFF2-40B4-BE49-F238E27FC236}">
                <a16:creationId xmlns:a16="http://schemas.microsoft.com/office/drawing/2014/main" id="{A100AABB-46D5-4BFD-B7C7-2C5BA8F4E607}"/>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02</a:t>
            </a:r>
          </a:p>
        </p:txBody>
      </p:sp>
    </p:spTree>
    <p:extLst>
      <p:ext uri="{BB962C8B-B14F-4D97-AF65-F5344CB8AC3E}">
        <p14:creationId xmlns:p14="http://schemas.microsoft.com/office/powerpoint/2010/main" val="4264821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18CE632-4AD6-4949-AB4E-345738BC5D72}"/>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项目要解决的问题</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44BBC398-0873-4364-82CE-D7D05AF90366}"/>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让项目经历经得起追问，让能力评价有据可查。</a:t>
            </a:r>
          </a:p>
        </p:txBody>
      </p:sp>
      <p:sp>
        <p:nvSpPr>
          <p:cNvPr id="3" name="矩形 2">
            <a:extLst>
              <a:ext uri="{FF2B5EF4-FFF2-40B4-BE49-F238E27FC236}">
                <a16:creationId xmlns:a16="http://schemas.microsoft.com/office/drawing/2014/main" id="{2DDAA479-11BC-4AA1-8688-9D6B4F50E2D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03</a:t>
            </a:r>
          </a:p>
        </p:txBody>
      </p:sp>
      <p:sp>
        <p:nvSpPr>
          <p:cNvPr id="4" name="矩形 3">
            <a:extLst>
              <a:ext uri="{FF2B5EF4-FFF2-40B4-BE49-F238E27FC236}">
                <a16:creationId xmlns:a16="http://schemas.microsoft.com/office/drawing/2014/main" id="{46FD4F70-B391-4E8C-81A6-E4498CF75EF7}"/>
              </a:ext>
            </a:extLst>
          </p:cNvPr>
          <p:cNvSpPr>
            <a:spLocks noGrp="1"/>
          </p:cNvSpPr>
          <p:nvPr/>
        </p:nvSpPr>
        <p:spPr>
          <a:xfrm>
            <a:off x="685800" y="1962150"/>
            <a:ext cx="10668000" cy="2495550"/>
          </a:xfrm>
          <a:prstGeom prst="rect">
            <a:avLst/>
          </a:prstGeom>
          <a:noFill/>
          <a:ln w="0">
            <a:noFill/>
          </a:ln>
        </p:spPr>
        <p:txBody>
          <a:bodyPr wrap="none" lIns="0" tIns="0" rIns="0" bIns="0" anchor="t">
            <a:noAutofit/>
          </a:bodyPr>
          <a:lstStyle/>
          <a:p>
            <a:pPr algn="l">
              <a:defRPr sz="3600" b="1">
                <a:solidFill>
                  <a:srgbClr val="16313C"/>
                </a:solidFill>
                <a:latin typeface="Arial Unicode MS"/>
                <a:ea typeface="Arial Unicode MS"/>
                <a:cs typeface="Arial Unicode MS"/>
              </a:defRPr>
            </a:pPr>
            <a:r>
              <a:rPr sz="3600" b="1" dirty="0" err="1">
                <a:solidFill>
                  <a:srgbClr val="16313C"/>
                </a:solidFill>
                <a:latin typeface="Arial Unicode MS"/>
                <a:ea typeface="Arial Unicode MS"/>
                <a:cs typeface="Arial Unicode MS"/>
              </a:rPr>
              <a:t>简历写了“做过</a:t>
            </a:r>
            <a:r>
              <a:rPr sz="3600" b="1" dirty="0">
                <a:solidFill>
                  <a:srgbClr val="16313C"/>
                </a:solidFill>
                <a:latin typeface="Arial Unicode MS"/>
                <a:ea typeface="Arial Unicode MS"/>
                <a:cs typeface="Arial Unicode MS"/>
              </a:rPr>
              <a:t>”，</a:t>
            </a:r>
          </a:p>
          <a:p>
            <a:pPr algn="l">
              <a:defRPr sz="3600" b="1">
                <a:solidFill>
                  <a:srgbClr val="16313C"/>
                </a:solidFill>
                <a:latin typeface="Arial Unicode MS"/>
                <a:ea typeface="Arial Unicode MS"/>
                <a:cs typeface="Arial Unicode MS"/>
              </a:defRPr>
            </a:pPr>
            <a:r>
              <a:rPr sz="3600" b="1" dirty="0" err="1">
                <a:solidFill>
                  <a:srgbClr val="16313C"/>
                </a:solidFill>
                <a:latin typeface="Arial Unicode MS"/>
                <a:ea typeface="Arial Unicode MS"/>
                <a:cs typeface="Arial Unicode MS"/>
              </a:rPr>
              <a:t>面试还要问清楚“怎么做</a:t>
            </a:r>
            <a:r>
              <a:rPr sz="3600" b="1" dirty="0">
                <a:solidFill>
                  <a:srgbClr val="16313C"/>
                </a:solidFill>
                <a:latin typeface="Arial Unicode MS"/>
                <a:ea typeface="Arial Unicode MS"/>
                <a:cs typeface="Arial Unicode MS"/>
              </a:rPr>
              <a:t>”。</a:t>
            </a:r>
          </a:p>
        </p:txBody>
      </p:sp>
      <p:sp>
        <p:nvSpPr>
          <p:cNvPr id="5" name="矩形 4">
            <a:extLst>
              <a:ext uri="{FF2B5EF4-FFF2-40B4-BE49-F238E27FC236}">
                <a16:creationId xmlns:a16="http://schemas.microsoft.com/office/drawing/2014/main" id="{FFA6A20D-0879-47E9-83E6-95CB25ED98E0}"/>
              </a:ext>
            </a:extLst>
          </p:cNvPr>
          <p:cNvSpPr>
            <a:spLocks noGrp="1"/>
          </p:cNvSpPr>
          <p:nvPr/>
        </p:nvSpPr>
        <p:spPr>
          <a:xfrm>
            <a:off x="723900" y="4800600"/>
            <a:ext cx="10382250" cy="1085850"/>
          </a:xfrm>
          <a:prstGeom prst="rect">
            <a:avLst/>
          </a:prstGeom>
          <a:noFill/>
          <a:ln w="0">
            <a:noFill/>
          </a:ln>
        </p:spPr>
        <p:txBody>
          <a:bodyPr wrap="none" lIns="0" tIns="0" rIns="0" bIns="0" anchor="t">
            <a:noAutofit/>
          </a:bodyPr>
          <a:lstStyle/>
          <a:p>
            <a:pPr algn="l">
              <a:defRPr sz="2100" b="0">
                <a:solidFill>
                  <a:srgbClr val="087D86"/>
                </a:solidFill>
                <a:latin typeface="Arial Unicode MS"/>
                <a:ea typeface="Arial Unicode MS"/>
                <a:cs typeface="Arial Unicode MS"/>
              </a:defRPr>
            </a:pPr>
            <a:r>
              <a:rPr sz="2100" b="0">
                <a:solidFill>
                  <a:srgbClr val="087D86"/>
                </a:solidFill>
                <a:latin typeface="Arial Unicode MS"/>
                <a:ea typeface="Arial Unicode MS"/>
                <a:cs typeface="Arial Unicode MS"/>
              </a:rPr>
              <a:t>练习围绕个人贡献、技术选择和结果验证展开。</a:t>
            </a:r>
          </a:p>
          <a:p>
            <a:pPr algn="l">
              <a:defRPr sz="2100" b="0">
                <a:solidFill>
                  <a:srgbClr val="087D86"/>
                </a:solidFill>
                <a:latin typeface="Arial Unicode MS"/>
                <a:ea typeface="Arial Unicode MS"/>
                <a:cs typeface="Arial Unicode MS"/>
              </a:defRPr>
            </a:pPr>
            <a:r>
              <a:rPr sz="2100" b="0">
                <a:solidFill>
                  <a:srgbClr val="087D86"/>
                </a:solidFill>
                <a:latin typeface="Arial Unicode MS"/>
                <a:ea typeface="Arial Unicode MS"/>
                <a:cs typeface="Arial Unicode MS"/>
              </a:rPr>
              <a:t>报告指出回答中已有的依据，以及仍需补充的内容。</a:t>
            </a:r>
          </a:p>
        </p:txBody>
      </p:sp>
    </p:spTree>
    <p:extLst>
      <p:ext uri="{BB962C8B-B14F-4D97-AF65-F5344CB8AC3E}">
        <p14:creationId xmlns:p14="http://schemas.microsoft.com/office/powerpoint/2010/main" val="3395436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578F383-D2BE-4858-86E8-74FC91000AE5}"/>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使用场景</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71700E93-E1A3-4080-B19C-15AD5665ECC6}"/>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学生通过本地模拟面试复盘经历，开发者可配置模型并查看执行记录。</a:t>
            </a:r>
          </a:p>
        </p:txBody>
      </p:sp>
      <p:sp>
        <p:nvSpPr>
          <p:cNvPr id="3" name="矩形 2">
            <a:extLst>
              <a:ext uri="{FF2B5EF4-FFF2-40B4-BE49-F238E27FC236}">
                <a16:creationId xmlns:a16="http://schemas.microsoft.com/office/drawing/2014/main" id="{2076C62F-2761-423F-AAA6-62C402119496}"/>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04</a:t>
            </a:r>
          </a:p>
        </p:txBody>
      </p:sp>
      <p:sp>
        <p:nvSpPr>
          <p:cNvPr id="4" name="矩形 3">
            <a:extLst>
              <a:ext uri="{FF2B5EF4-FFF2-40B4-BE49-F238E27FC236}">
                <a16:creationId xmlns:a16="http://schemas.microsoft.com/office/drawing/2014/main" id="{D948958D-0B41-4114-8503-E3527E7C6449}"/>
              </a:ext>
            </a:extLst>
          </p:cNvPr>
          <p:cNvSpPr>
            <a:spLocks noGrp="1"/>
          </p:cNvSpPr>
          <p:nvPr/>
        </p:nvSpPr>
        <p:spPr>
          <a:xfrm>
            <a:off x="685800" y="1771650"/>
            <a:ext cx="4857750" cy="419100"/>
          </a:xfrm>
          <a:prstGeom prst="rect">
            <a:avLst/>
          </a:prstGeom>
          <a:noFill/>
          <a:ln w="0">
            <a:noFill/>
          </a:ln>
        </p:spPr>
        <p:txBody>
          <a:bodyPr wrap="none" lIns="0" tIns="0" rIns="0" bIns="0" anchor="t">
            <a:noAutofit/>
          </a:bodyPr>
          <a:lstStyle/>
          <a:p>
            <a:pPr algn="l">
              <a:defRPr sz="1875" b="1">
                <a:solidFill>
                  <a:srgbClr val="087D86"/>
                </a:solidFill>
                <a:latin typeface="Arial Unicode MS"/>
                <a:ea typeface="Arial Unicode MS"/>
                <a:cs typeface="Arial Unicode MS"/>
              </a:defRPr>
            </a:pPr>
            <a:r>
              <a:rPr sz="1875" b="1" dirty="0" err="1">
                <a:solidFill>
                  <a:srgbClr val="087D86"/>
                </a:solidFill>
                <a:latin typeface="Arial Unicode MS"/>
                <a:ea typeface="Arial Unicode MS"/>
                <a:cs typeface="Arial Unicode MS"/>
              </a:rPr>
              <a:t>准备求职的学生</a:t>
            </a:r>
            <a:endParaRPr sz="1875" b="1" dirty="0">
              <a:solidFill>
                <a:srgbClr val="087D86"/>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39BA9222-BB7D-468D-829E-02BF9D4FB4F8}"/>
              </a:ext>
            </a:extLst>
          </p:cNvPr>
          <p:cNvSpPr>
            <a:spLocks noGrp="1"/>
          </p:cNvSpPr>
          <p:nvPr/>
        </p:nvSpPr>
        <p:spPr>
          <a:xfrm>
            <a:off x="685800" y="2409825"/>
            <a:ext cx="4857750" cy="1390650"/>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模拟面试</a:t>
            </a:r>
          </a:p>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复盘项目经历</a:t>
            </a:r>
          </a:p>
        </p:txBody>
      </p:sp>
      <p:sp>
        <p:nvSpPr>
          <p:cNvPr id="6" name="矩形 5">
            <a:extLst>
              <a:ext uri="{FF2B5EF4-FFF2-40B4-BE49-F238E27FC236}">
                <a16:creationId xmlns:a16="http://schemas.microsoft.com/office/drawing/2014/main" id="{DA3F67F2-74E5-4BD6-93B0-CF2CAA5B9588}"/>
              </a:ext>
            </a:extLst>
          </p:cNvPr>
          <p:cNvSpPr>
            <a:spLocks noGrp="1"/>
          </p:cNvSpPr>
          <p:nvPr/>
        </p:nvSpPr>
        <p:spPr>
          <a:xfrm>
            <a:off x="685800" y="4048125"/>
            <a:ext cx="4762500" cy="1524000"/>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学生填写简历与目标岗位后，系统围绕项</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目经历连续追问，并形成复盘建议。</a:t>
            </a:r>
          </a:p>
        </p:txBody>
      </p:sp>
      <p:sp>
        <p:nvSpPr>
          <p:cNvPr id="7" name="矩形 6">
            <a:extLst>
              <a:ext uri="{FF2B5EF4-FFF2-40B4-BE49-F238E27FC236}">
                <a16:creationId xmlns:a16="http://schemas.microsoft.com/office/drawing/2014/main" id="{3D82463E-1D09-4B0E-B3DD-C8DC051C80EC}"/>
              </a:ext>
            </a:extLst>
          </p:cNvPr>
          <p:cNvSpPr>
            <a:spLocks noGrp="1"/>
          </p:cNvSpPr>
          <p:nvPr/>
        </p:nvSpPr>
        <p:spPr>
          <a:xfrm>
            <a:off x="6419850" y="1771650"/>
            <a:ext cx="4857750" cy="419100"/>
          </a:xfrm>
          <a:prstGeom prst="rect">
            <a:avLst/>
          </a:prstGeom>
          <a:noFill/>
          <a:ln w="0">
            <a:noFill/>
          </a:ln>
        </p:spPr>
        <p:txBody>
          <a:bodyPr wrap="none" lIns="0" tIns="0" rIns="0" bIns="0" anchor="t">
            <a:noAutofit/>
          </a:bodyPr>
          <a:lstStyle/>
          <a:p>
            <a:pPr algn="l">
              <a:defRPr sz="1875" b="1">
                <a:solidFill>
                  <a:srgbClr val="087D86"/>
                </a:solidFill>
                <a:latin typeface="Arial Unicode MS"/>
                <a:ea typeface="Arial Unicode MS"/>
                <a:cs typeface="Arial Unicode MS"/>
              </a:defRPr>
            </a:pPr>
            <a:r>
              <a:rPr sz="1875" b="1" dirty="0" err="1">
                <a:solidFill>
                  <a:srgbClr val="087D86"/>
                </a:solidFill>
                <a:latin typeface="Arial Unicode MS"/>
                <a:ea typeface="Arial Unicode MS"/>
                <a:cs typeface="Arial Unicode MS"/>
              </a:rPr>
              <a:t>开发者与维护者</a:t>
            </a:r>
            <a:endParaRPr sz="1875" b="1" dirty="0">
              <a:solidFill>
                <a:srgbClr val="087D86"/>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60A34565-2ECA-4023-8CA1-311CB550193A}"/>
              </a:ext>
            </a:extLst>
          </p:cNvPr>
          <p:cNvSpPr>
            <a:spLocks noGrp="1"/>
          </p:cNvSpPr>
          <p:nvPr/>
        </p:nvSpPr>
        <p:spPr>
          <a:xfrm>
            <a:off x="6419850" y="2409825"/>
            <a:ext cx="4857750" cy="1390650"/>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本地体验</a:t>
            </a:r>
            <a:endParaRPr sz="3300" b="1" dirty="0">
              <a:solidFill>
                <a:srgbClr val="16313C"/>
              </a:solidFill>
              <a:latin typeface="Arial Unicode MS"/>
              <a:ea typeface="Arial Unicode MS"/>
              <a:cs typeface="Arial Unicode MS"/>
            </a:endParaRPr>
          </a:p>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修改与反馈</a:t>
            </a:r>
            <a:endParaRPr sz="3300" b="1" dirty="0">
              <a:solidFill>
                <a:srgbClr val="16313C"/>
              </a:solidFill>
              <a:latin typeface="Arial Unicode MS"/>
              <a:ea typeface="Arial Unicode MS"/>
              <a:cs typeface="Arial Unicode MS"/>
            </a:endParaRPr>
          </a:p>
        </p:txBody>
      </p:sp>
      <p:sp>
        <p:nvSpPr>
          <p:cNvPr id="9" name="矩形 8">
            <a:extLst>
              <a:ext uri="{FF2B5EF4-FFF2-40B4-BE49-F238E27FC236}">
                <a16:creationId xmlns:a16="http://schemas.microsoft.com/office/drawing/2014/main" id="{E2ABD5E4-60EB-418C-A3D5-53C4737C5B23}"/>
              </a:ext>
            </a:extLst>
          </p:cNvPr>
          <p:cNvSpPr>
            <a:spLocks noGrp="1"/>
          </p:cNvSpPr>
          <p:nvPr/>
        </p:nvSpPr>
        <p:spPr>
          <a:xfrm>
            <a:off x="6419850" y="4048125"/>
            <a:ext cx="4762500" cy="1524000"/>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开发者可查看工具调用和评分依据，通过</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模型配置与知识卡调整提问方式。</a:t>
            </a:r>
          </a:p>
        </p:txBody>
      </p:sp>
    </p:spTree>
    <p:extLst>
      <p:ext uri="{BB962C8B-B14F-4D97-AF65-F5344CB8AC3E}">
        <p14:creationId xmlns:p14="http://schemas.microsoft.com/office/powerpoint/2010/main" val="3664435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13AF152D-18B9-4441-9A80-3CA95B6B92B1}"/>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简历与项目输入</a:t>
            </a:r>
          </a:p>
        </p:txBody>
      </p:sp>
      <p:sp>
        <p:nvSpPr>
          <p:cNvPr id="2" name="矩形 1">
            <a:extLst>
              <a:ext uri="{FF2B5EF4-FFF2-40B4-BE49-F238E27FC236}">
                <a16:creationId xmlns:a16="http://schemas.microsoft.com/office/drawing/2014/main" id="{FB8B7E1C-2527-45ED-AC1C-CF566158EAB2}"/>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系统从简历与 JD 中提取项目和岗位信息，用户可在开始面试前校正</a:t>
            </a:r>
          </a:p>
        </p:txBody>
      </p:sp>
      <p:sp>
        <p:nvSpPr>
          <p:cNvPr id="3" name="矩形 2">
            <a:extLst>
              <a:ext uri="{FF2B5EF4-FFF2-40B4-BE49-F238E27FC236}">
                <a16:creationId xmlns:a16="http://schemas.microsoft.com/office/drawing/2014/main" id="{E72E233E-D4D4-48EC-94AF-E772DB905AE3}"/>
              </a:ext>
            </a:extLst>
          </p:cNvPr>
          <p:cNvSpPr>
            <a:spLocks noGrp="1"/>
          </p:cNvSpPr>
          <p:nvPr/>
        </p:nvSpPr>
        <p:spPr>
          <a:xfrm>
            <a:off x="942975" y="6505575"/>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dirty="0" err="1">
                <a:solidFill>
                  <a:srgbClr val="526874"/>
                </a:solidFill>
                <a:latin typeface="Arial Unicode MS"/>
                <a:ea typeface="Arial Unicode MS"/>
                <a:cs typeface="Arial Unicode MS"/>
              </a:rPr>
              <a:t>本地页面截图，使用项目自带的“演示候选人甲”档案</a:t>
            </a:r>
            <a:r>
              <a:rPr sz="1350" b="0" dirty="0">
                <a:solidFill>
                  <a:srgbClr val="526874"/>
                </a:solidFill>
                <a:latin typeface="Arial Unicode MS"/>
                <a:ea typeface="Arial Unicode MS"/>
                <a:cs typeface="Arial Unicode MS"/>
              </a:rPr>
              <a:t>。</a:t>
            </a:r>
          </a:p>
        </p:txBody>
      </p:sp>
      <p:sp>
        <p:nvSpPr>
          <p:cNvPr id="4" name="矩形 3">
            <a:extLst>
              <a:ext uri="{FF2B5EF4-FFF2-40B4-BE49-F238E27FC236}">
                <a16:creationId xmlns:a16="http://schemas.microsoft.com/office/drawing/2014/main" id="{9D42B48D-21B2-4FD1-8DE5-B2D9EE08FDB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05</a:t>
            </a:r>
          </a:p>
        </p:txBody>
      </p:sp>
      <p:sp>
        <p:nvSpPr>
          <p:cNvPr id="6" name="矩形 5">
            <a:extLst>
              <a:ext uri="{FF2B5EF4-FFF2-40B4-BE49-F238E27FC236}">
                <a16:creationId xmlns:a16="http://schemas.microsoft.com/office/drawing/2014/main" id="{9D4ACB3F-309F-4DBA-9FA9-2EF8B3190937}"/>
              </a:ext>
            </a:extLst>
          </p:cNvPr>
          <p:cNvSpPr>
            <a:spLocks noGrp="1"/>
          </p:cNvSpPr>
          <p:nvPr/>
        </p:nvSpPr>
        <p:spPr>
          <a:xfrm>
            <a:off x="6429375" y="1952625"/>
            <a:ext cx="4953000" cy="409575"/>
          </a:xfrm>
          <a:prstGeom prst="rect">
            <a:avLst/>
          </a:prstGeom>
          <a:noFill/>
          <a:ln w="0">
            <a:noFill/>
          </a:ln>
        </p:spPr>
        <p:txBody>
          <a:bodyPr wrap="none" lIns="0" tIns="0" rIns="0" bIns="0" anchor="t">
            <a:noAutofit/>
          </a:bodyPr>
          <a:lstStyle/>
          <a:p>
            <a:pPr algn="l">
              <a:defRPr sz="2175" b="1">
                <a:solidFill>
                  <a:srgbClr val="087D86"/>
                </a:solidFill>
                <a:latin typeface="Arial Unicode MS"/>
                <a:ea typeface="Arial Unicode MS"/>
                <a:cs typeface="Arial Unicode MS"/>
              </a:defRPr>
            </a:pPr>
            <a:r>
              <a:rPr sz="2175" b="1" dirty="0" err="1">
                <a:solidFill>
                  <a:srgbClr val="087D86"/>
                </a:solidFill>
                <a:latin typeface="Arial Unicode MS"/>
                <a:ea typeface="Arial Unicode MS"/>
                <a:cs typeface="Arial Unicode MS"/>
              </a:rPr>
              <a:t>项目经历</a:t>
            </a:r>
            <a:endParaRPr sz="2175" b="1" dirty="0">
              <a:solidFill>
                <a:srgbClr val="087D86"/>
              </a:solidFill>
              <a:latin typeface="Arial Unicode MS"/>
              <a:ea typeface="Arial Unicode MS"/>
              <a:cs typeface="Arial Unicode MS"/>
            </a:endParaRPr>
          </a:p>
        </p:txBody>
      </p:sp>
      <p:sp>
        <p:nvSpPr>
          <p:cNvPr id="7" name="矩形 6">
            <a:extLst>
              <a:ext uri="{FF2B5EF4-FFF2-40B4-BE49-F238E27FC236}">
                <a16:creationId xmlns:a16="http://schemas.microsoft.com/office/drawing/2014/main" id="{2314E59A-C04E-4693-95BE-5BF71D211FCE}"/>
              </a:ext>
            </a:extLst>
          </p:cNvPr>
          <p:cNvSpPr>
            <a:spLocks noGrp="1"/>
          </p:cNvSpPr>
          <p:nvPr/>
        </p:nvSpPr>
        <p:spPr>
          <a:xfrm>
            <a:off x="6429375" y="2428875"/>
            <a:ext cx="4857750" cy="7905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系统按项目组织个人职责、实施过程与结</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果。</a:t>
            </a:r>
          </a:p>
        </p:txBody>
      </p:sp>
      <p:sp>
        <p:nvSpPr>
          <p:cNvPr id="8" name="矩形 7">
            <a:extLst>
              <a:ext uri="{FF2B5EF4-FFF2-40B4-BE49-F238E27FC236}">
                <a16:creationId xmlns:a16="http://schemas.microsoft.com/office/drawing/2014/main" id="{FCAF4D73-41F9-4BA3-935C-D362DC7233E4}"/>
              </a:ext>
            </a:extLst>
          </p:cNvPr>
          <p:cNvSpPr>
            <a:spLocks noGrp="1"/>
          </p:cNvSpPr>
          <p:nvPr/>
        </p:nvSpPr>
        <p:spPr>
          <a:xfrm>
            <a:off x="6429375" y="3228975"/>
            <a:ext cx="4953000" cy="409575"/>
          </a:xfrm>
          <a:prstGeom prst="rect">
            <a:avLst/>
          </a:prstGeom>
          <a:noFill/>
          <a:ln w="0">
            <a:noFill/>
          </a:ln>
        </p:spPr>
        <p:txBody>
          <a:bodyPr wrap="none" lIns="0" tIns="0" rIns="0" bIns="0" anchor="t">
            <a:noAutofit/>
          </a:bodyPr>
          <a:lstStyle/>
          <a:p>
            <a:pPr algn="l">
              <a:defRPr sz="2175" b="1">
                <a:solidFill>
                  <a:srgbClr val="087D86"/>
                </a:solidFill>
                <a:latin typeface="Arial Unicode MS"/>
                <a:ea typeface="Arial Unicode MS"/>
                <a:cs typeface="Arial Unicode MS"/>
              </a:defRPr>
            </a:pPr>
            <a:r>
              <a:rPr sz="2175" b="1">
                <a:solidFill>
                  <a:srgbClr val="087D86"/>
                </a:solidFill>
                <a:latin typeface="Arial Unicode MS"/>
                <a:ea typeface="Arial Unicode MS"/>
                <a:cs typeface="Arial Unicode MS"/>
              </a:rPr>
              <a:t>目标岗位</a:t>
            </a:r>
          </a:p>
        </p:txBody>
      </p:sp>
      <p:sp>
        <p:nvSpPr>
          <p:cNvPr id="9" name="矩形 8">
            <a:extLst>
              <a:ext uri="{FF2B5EF4-FFF2-40B4-BE49-F238E27FC236}">
                <a16:creationId xmlns:a16="http://schemas.microsoft.com/office/drawing/2014/main" id="{F62042C4-22D2-42C7-8841-93E4A35AF55A}"/>
              </a:ext>
            </a:extLst>
          </p:cNvPr>
          <p:cNvSpPr>
            <a:spLocks noGrp="1"/>
          </p:cNvSpPr>
          <p:nvPr/>
        </p:nvSpPr>
        <p:spPr>
          <a:xfrm>
            <a:off x="6429375" y="3705225"/>
            <a:ext cx="4857750" cy="7905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岗位要求被映射为本次面试的调查计划。</a:t>
            </a:r>
          </a:p>
        </p:txBody>
      </p:sp>
      <p:sp>
        <p:nvSpPr>
          <p:cNvPr id="10" name="矩形 9">
            <a:extLst>
              <a:ext uri="{FF2B5EF4-FFF2-40B4-BE49-F238E27FC236}">
                <a16:creationId xmlns:a16="http://schemas.microsoft.com/office/drawing/2014/main" id="{D4859908-5B67-4A91-8D0B-87FE90B2A933}"/>
              </a:ext>
            </a:extLst>
          </p:cNvPr>
          <p:cNvSpPr>
            <a:spLocks noGrp="1"/>
          </p:cNvSpPr>
          <p:nvPr/>
        </p:nvSpPr>
        <p:spPr>
          <a:xfrm>
            <a:off x="6429375" y="4505325"/>
            <a:ext cx="4953000" cy="409575"/>
          </a:xfrm>
          <a:prstGeom prst="rect">
            <a:avLst/>
          </a:prstGeom>
          <a:noFill/>
          <a:ln w="0">
            <a:noFill/>
          </a:ln>
        </p:spPr>
        <p:txBody>
          <a:bodyPr wrap="none" lIns="0" tIns="0" rIns="0" bIns="0" anchor="t">
            <a:noAutofit/>
          </a:bodyPr>
          <a:lstStyle/>
          <a:p>
            <a:pPr algn="l">
              <a:defRPr sz="2175" b="1">
                <a:solidFill>
                  <a:srgbClr val="087D86"/>
                </a:solidFill>
                <a:latin typeface="Arial Unicode MS"/>
                <a:ea typeface="Arial Unicode MS"/>
                <a:cs typeface="Arial Unicode MS"/>
              </a:defRPr>
            </a:pPr>
            <a:r>
              <a:rPr sz="2175" b="1">
                <a:solidFill>
                  <a:srgbClr val="087D86"/>
                </a:solidFill>
                <a:latin typeface="Arial Unicode MS"/>
                <a:ea typeface="Arial Unicode MS"/>
                <a:cs typeface="Arial Unicode MS"/>
              </a:rPr>
              <a:t>输入校正</a:t>
            </a:r>
          </a:p>
        </p:txBody>
      </p:sp>
      <p:sp>
        <p:nvSpPr>
          <p:cNvPr id="11" name="矩形 10">
            <a:extLst>
              <a:ext uri="{FF2B5EF4-FFF2-40B4-BE49-F238E27FC236}">
                <a16:creationId xmlns:a16="http://schemas.microsoft.com/office/drawing/2014/main" id="{2BF6BE06-61F7-4E4C-B5EB-0587FC2942FC}"/>
              </a:ext>
            </a:extLst>
          </p:cNvPr>
          <p:cNvSpPr>
            <a:spLocks noGrp="1"/>
          </p:cNvSpPr>
          <p:nvPr/>
        </p:nvSpPr>
        <p:spPr>
          <a:xfrm>
            <a:off x="6429375" y="4981575"/>
            <a:ext cx="4857750" cy="7905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用户可在输入页核对项目归属与提取内</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容。</a:t>
            </a:r>
          </a:p>
        </p:txBody>
      </p:sp>
      <p:pic>
        <p:nvPicPr>
          <p:cNvPr id="17" name="图片 16">
            <a:extLst>
              <a:ext uri="{FF2B5EF4-FFF2-40B4-BE49-F238E27FC236}">
                <a16:creationId xmlns:a16="http://schemas.microsoft.com/office/drawing/2014/main" id="{75B5B608-4BF8-35C4-B0F0-2EE646F1FB67}"/>
              </a:ext>
            </a:extLst>
          </p:cNvPr>
          <p:cNvPicPr>
            <a:picLocks noChangeAspect="1"/>
          </p:cNvPicPr>
          <p:nvPr/>
        </p:nvPicPr>
        <p:blipFill>
          <a:blip r:embed="rId3"/>
          <a:stretch>
            <a:fillRect/>
          </a:stretch>
        </p:blipFill>
        <p:spPr>
          <a:xfrm>
            <a:off x="904875" y="1857375"/>
            <a:ext cx="4965700" cy="4076700"/>
          </a:xfrm>
          <a:prstGeom prst="rect">
            <a:avLst/>
          </a:prstGeom>
        </p:spPr>
      </p:pic>
    </p:spTree>
    <p:extLst>
      <p:ext uri="{BB962C8B-B14F-4D97-AF65-F5344CB8AC3E}">
        <p14:creationId xmlns:p14="http://schemas.microsoft.com/office/powerpoint/2010/main" val="161588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F465406-6103-4EFF-AAC8-EC48E868F78C}"/>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问答记录与执行详情</a:t>
            </a:r>
          </a:p>
        </p:txBody>
      </p:sp>
      <p:sp>
        <p:nvSpPr>
          <p:cNvPr id="2" name="矩形 1">
            <a:extLst>
              <a:ext uri="{FF2B5EF4-FFF2-40B4-BE49-F238E27FC236}">
                <a16:creationId xmlns:a16="http://schemas.microsoft.com/office/drawing/2014/main" id="{39B1AA46-77C4-4C29-895C-A79E0B54441E}"/>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系统保存每轮问题、回答与执行记录，支持面试复盘和技术追踪</a:t>
            </a:r>
          </a:p>
        </p:txBody>
      </p:sp>
      <p:sp>
        <p:nvSpPr>
          <p:cNvPr id="4" name="矩形 3">
            <a:extLst>
              <a:ext uri="{FF2B5EF4-FFF2-40B4-BE49-F238E27FC236}">
                <a16:creationId xmlns:a16="http://schemas.microsoft.com/office/drawing/2014/main" id="{B9D53951-4B8C-40B8-9C12-1BCC3584C306}"/>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06</a:t>
            </a:r>
          </a:p>
        </p:txBody>
      </p:sp>
      <p:sp>
        <p:nvSpPr>
          <p:cNvPr id="6" name="矩形 5">
            <a:extLst>
              <a:ext uri="{FF2B5EF4-FFF2-40B4-BE49-F238E27FC236}">
                <a16:creationId xmlns:a16="http://schemas.microsoft.com/office/drawing/2014/main" id="{5265144B-1923-4ED5-9D84-715B1B92DE66}"/>
              </a:ext>
            </a:extLst>
          </p:cNvPr>
          <p:cNvSpPr>
            <a:spLocks noGrp="1"/>
          </p:cNvSpPr>
          <p:nvPr/>
        </p:nvSpPr>
        <p:spPr>
          <a:xfrm>
            <a:off x="8505825" y="2386012"/>
            <a:ext cx="2828925" cy="2857500"/>
          </a:xfrm>
          <a:prstGeom prst="rect">
            <a:avLst/>
          </a:prstGeom>
          <a:noFill/>
          <a:ln w="0">
            <a:noFill/>
          </a:ln>
        </p:spPr>
        <p:txBody>
          <a:bodyPr wrap="none" lIns="0" tIns="0" rIns="0" bIns="0" anchor="t">
            <a:noAutofit/>
          </a:bodyPr>
          <a:lstStyle/>
          <a:p>
            <a:pPr algn="l">
              <a:defRPr sz="1950" b="0">
                <a:solidFill>
                  <a:srgbClr val="087D86"/>
                </a:solidFill>
                <a:latin typeface="Arial Unicode MS"/>
                <a:ea typeface="Arial Unicode MS"/>
                <a:cs typeface="Arial Unicode MS"/>
              </a:defRPr>
            </a:pPr>
            <a:r>
              <a:rPr sz="1950" b="0" dirty="0" err="1">
                <a:solidFill>
                  <a:srgbClr val="087D86"/>
                </a:solidFill>
                <a:latin typeface="Arial Unicode MS"/>
                <a:ea typeface="Arial Unicode MS"/>
                <a:cs typeface="Arial Unicode MS"/>
              </a:rPr>
              <a:t>首轮问题核实个人交付</a:t>
            </a:r>
            <a:r>
              <a:rPr sz="1950" b="0" dirty="0">
                <a:solidFill>
                  <a:srgbClr val="087D86"/>
                </a:solidFill>
                <a:latin typeface="Arial Unicode MS"/>
                <a:ea typeface="Arial Unicode MS"/>
                <a:cs typeface="Arial Unicode MS"/>
              </a:rPr>
              <a:t>。</a:t>
            </a:r>
            <a:endParaRPr lang="en-US" sz="1950" dirty="0">
              <a:solidFill>
                <a:srgbClr val="087D86"/>
              </a:solidFill>
              <a:latin typeface="Arial Unicode MS"/>
              <a:ea typeface="Arial Unicode MS"/>
              <a:cs typeface="Arial Unicode MS"/>
            </a:endParaRPr>
          </a:p>
          <a:p>
            <a:endParaRPr sz="1950" b="0" dirty="0">
              <a:solidFill>
                <a:srgbClr val="087D86"/>
              </a:solidFill>
              <a:latin typeface="Arial Unicode MS"/>
              <a:ea typeface="Arial Unicode MS"/>
              <a:cs typeface="Arial Unicode MS"/>
            </a:endParaRPr>
          </a:p>
        </p:txBody>
      </p:sp>
      <p:pic>
        <p:nvPicPr>
          <p:cNvPr id="9" name="图片 8">
            <a:extLst>
              <a:ext uri="{FF2B5EF4-FFF2-40B4-BE49-F238E27FC236}">
                <a16:creationId xmlns:a16="http://schemas.microsoft.com/office/drawing/2014/main" id="{6C7370C4-BC40-510B-18D9-1E702E4890A7}"/>
              </a:ext>
            </a:extLst>
          </p:cNvPr>
          <p:cNvPicPr>
            <a:picLocks noChangeAspect="1"/>
          </p:cNvPicPr>
          <p:nvPr/>
        </p:nvPicPr>
        <p:blipFill>
          <a:blip r:embed="rId3"/>
          <a:stretch>
            <a:fillRect/>
          </a:stretch>
        </p:blipFill>
        <p:spPr>
          <a:xfrm>
            <a:off x="1169027" y="1838325"/>
            <a:ext cx="5981700" cy="4406900"/>
          </a:xfrm>
          <a:prstGeom prst="rect">
            <a:avLst/>
          </a:prstGeom>
        </p:spPr>
      </p:pic>
    </p:spTree>
    <p:extLst>
      <p:ext uri="{BB962C8B-B14F-4D97-AF65-F5344CB8AC3E}">
        <p14:creationId xmlns:p14="http://schemas.microsoft.com/office/powerpoint/2010/main" val="4262757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69C5E2F-5F3A-B8A9-2497-6112DEE3E2A3}"/>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ECA8CFA1-D127-B0E4-9F0D-133A95FCF662}"/>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目录</a:t>
            </a:r>
          </a:p>
        </p:txBody>
      </p:sp>
      <p:sp>
        <p:nvSpPr>
          <p:cNvPr id="2" name="矩形 1">
            <a:extLst>
              <a:ext uri="{FF2B5EF4-FFF2-40B4-BE49-F238E27FC236}">
                <a16:creationId xmlns:a16="http://schemas.microsoft.com/office/drawing/2014/main" id="{CAE461B2-0DB8-DB04-DC64-2D320784CCA8}"/>
              </a:ext>
            </a:extLst>
          </p:cNvPr>
          <p:cNvSpPr>
            <a:spLocks noGrp="1"/>
          </p:cNvSpPr>
          <p:nvPr/>
        </p:nvSpPr>
        <p:spPr>
          <a:xfrm>
            <a:off x="3106700" y="16764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01</a:t>
            </a:r>
          </a:p>
        </p:txBody>
      </p:sp>
      <p:sp>
        <p:nvSpPr>
          <p:cNvPr id="3" name="矩形 2">
            <a:extLst>
              <a:ext uri="{FF2B5EF4-FFF2-40B4-BE49-F238E27FC236}">
                <a16:creationId xmlns:a16="http://schemas.microsoft.com/office/drawing/2014/main" id="{65055E97-4E42-C871-FE6C-1C3496329BD4}"/>
              </a:ext>
            </a:extLst>
          </p:cNvPr>
          <p:cNvSpPr>
            <a:spLocks noGrp="1"/>
          </p:cNvSpPr>
          <p:nvPr/>
        </p:nvSpPr>
        <p:spPr>
          <a:xfrm>
            <a:off x="5447635" y="1669256"/>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sz="2400" dirty="0" err="1">
                <a:solidFill>
                  <a:srgbClr val="16313C"/>
                </a:solidFill>
                <a:latin typeface="Arial Unicode MS"/>
                <a:ea typeface="Arial Unicode MS"/>
                <a:cs typeface="Arial Unicode MS"/>
              </a:rPr>
              <a:t>项目定位与使用流程</a:t>
            </a:r>
            <a:endParaRPr sz="2400" dirty="0">
              <a:solidFill>
                <a:srgbClr val="16313C"/>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6005B387-33E7-0312-4C24-A5BC03611916}"/>
              </a:ext>
            </a:extLst>
          </p:cNvPr>
          <p:cNvSpPr>
            <a:spLocks noGrp="1"/>
          </p:cNvSpPr>
          <p:nvPr/>
        </p:nvSpPr>
        <p:spPr>
          <a:xfrm>
            <a:off x="3106700" y="2681287"/>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02</a:t>
            </a:r>
          </a:p>
        </p:txBody>
      </p:sp>
      <p:sp>
        <p:nvSpPr>
          <p:cNvPr id="6" name="矩形 5">
            <a:extLst>
              <a:ext uri="{FF2B5EF4-FFF2-40B4-BE49-F238E27FC236}">
                <a16:creationId xmlns:a16="http://schemas.microsoft.com/office/drawing/2014/main" id="{BA0883B6-7EFF-EDFC-C3FC-97047E7EAE32}"/>
              </a:ext>
            </a:extLst>
          </p:cNvPr>
          <p:cNvSpPr>
            <a:spLocks noGrp="1"/>
          </p:cNvSpPr>
          <p:nvPr/>
        </p:nvSpPr>
        <p:spPr>
          <a:xfrm>
            <a:off x="5086128" y="261424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sz="3200" u="sng" dirty="0" err="1">
                <a:solidFill>
                  <a:srgbClr val="FF0000"/>
                </a:solidFill>
                <a:latin typeface="Arial Unicode MS"/>
                <a:ea typeface="Arial Unicode MS"/>
                <a:cs typeface="Arial Unicode MS"/>
              </a:rPr>
              <a:t>面试架构与评估逻辑</a:t>
            </a:r>
            <a:endParaRPr sz="3200" u="sng" dirty="0">
              <a:solidFill>
                <a:srgbClr val="FF0000"/>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D9682BEB-34BC-F373-EA9A-A929394292C5}"/>
              </a:ext>
            </a:extLst>
          </p:cNvPr>
          <p:cNvSpPr>
            <a:spLocks noGrp="1"/>
          </p:cNvSpPr>
          <p:nvPr/>
        </p:nvSpPr>
        <p:spPr>
          <a:xfrm>
            <a:off x="3106700" y="3533776"/>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03</a:t>
            </a:r>
          </a:p>
        </p:txBody>
      </p:sp>
      <p:sp>
        <p:nvSpPr>
          <p:cNvPr id="9" name="矩形 8">
            <a:extLst>
              <a:ext uri="{FF2B5EF4-FFF2-40B4-BE49-F238E27FC236}">
                <a16:creationId xmlns:a16="http://schemas.microsoft.com/office/drawing/2014/main" id="{28B0D466-07DE-0ED9-1FEA-978F955CFDE9}"/>
              </a:ext>
            </a:extLst>
          </p:cNvPr>
          <p:cNvSpPr>
            <a:spLocks noGrp="1"/>
          </p:cNvSpPr>
          <p:nvPr/>
        </p:nvSpPr>
        <p:spPr>
          <a:xfrm>
            <a:off x="5447635" y="3533776"/>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知识库与自适应</a:t>
            </a:r>
            <a:r>
              <a:rPr sz="2400" b="0" dirty="0">
                <a:solidFill>
                  <a:srgbClr val="16313C"/>
                </a:solidFill>
                <a:latin typeface="Arial Unicode MS"/>
                <a:ea typeface="Arial Unicode MS"/>
                <a:cs typeface="Arial Unicode MS"/>
              </a:rPr>
              <a:t> RAG</a:t>
            </a:r>
          </a:p>
        </p:txBody>
      </p:sp>
      <p:sp>
        <p:nvSpPr>
          <p:cNvPr id="11" name="矩形 10">
            <a:extLst>
              <a:ext uri="{FF2B5EF4-FFF2-40B4-BE49-F238E27FC236}">
                <a16:creationId xmlns:a16="http://schemas.microsoft.com/office/drawing/2014/main" id="{AEBE25F4-D7C2-6CBB-CA06-F9CA2EB2B4D7}"/>
              </a:ext>
            </a:extLst>
          </p:cNvPr>
          <p:cNvSpPr>
            <a:spLocks noGrp="1"/>
          </p:cNvSpPr>
          <p:nvPr/>
        </p:nvSpPr>
        <p:spPr>
          <a:xfrm>
            <a:off x="3106700" y="44577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04</a:t>
            </a:r>
          </a:p>
        </p:txBody>
      </p:sp>
      <p:sp>
        <p:nvSpPr>
          <p:cNvPr id="12" name="矩形 11">
            <a:extLst>
              <a:ext uri="{FF2B5EF4-FFF2-40B4-BE49-F238E27FC236}">
                <a16:creationId xmlns:a16="http://schemas.microsoft.com/office/drawing/2014/main" id="{CCA58A1A-7542-2D94-4C5E-27CF7AA22ACC}"/>
              </a:ext>
            </a:extLst>
          </p:cNvPr>
          <p:cNvSpPr>
            <a:spLocks noGrp="1"/>
          </p:cNvSpPr>
          <p:nvPr/>
        </p:nvSpPr>
        <p:spPr>
          <a:xfrm>
            <a:off x="5447635" y="445770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会话管理与运行保障</a:t>
            </a:r>
            <a:endParaRPr sz="2400" b="0" dirty="0">
              <a:solidFill>
                <a:srgbClr val="16313C"/>
              </a:solidFill>
              <a:latin typeface="Arial Unicode MS"/>
              <a:ea typeface="Arial Unicode MS"/>
              <a:cs typeface="Arial Unicode MS"/>
            </a:endParaRPr>
          </a:p>
        </p:txBody>
      </p:sp>
      <p:sp>
        <p:nvSpPr>
          <p:cNvPr id="17" name="矩形 16">
            <a:extLst>
              <a:ext uri="{FF2B5EF4-FFF2-40B4-BE49-F238E27FC236}">
                <a16:creationId xmlns:a16="http://schemas.microsoft.com/office/drawing/2014/main" id="{835DEB77-6C1F-5DE0-B158-A47BA690E0FF}"/>
              </a:ext>
            </a:extLst>
          </p:cNvPr>
          <p:cNvSpPr>
            <a:spLocks noGrp="1"/>
          </p:cNvSpPr>
          <p:nvPr/>
        </p:nvSpPr>
        <p:spPr>
          <a:xfrm>
            <a:off x="3106700" y="5248275"/>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06</a:t>
            </a:r>
          </a:p>
        </p:txBody>
      </p:sp>
      <p:sp>
        <p:nvSpPr>
          <p:cNvPr id="18" name="矩形 17">
            <a:extLst>
              <a:ext uri="{FF2B5EF4-FFF2-40B4-BE49-F238E27FC236}">
                <a16:creationId xmlns:a16="http://schemas.microsoft.com/office/drawing/2014/main" id="{E3CEA229-C026-0E10-9F14-E46CCBBEB531}"/>
              </a:ext>
            </a:extLst>
          </p:cNvPr>
          <p:cNvSpPr>
            <a:spLocks noGrp="1"/>
          </p:cNvSpPr>
          <p:nvPr/>
        </p:nvSpPr>
        <p:spPr>
          <a:xfrm>
            <a:off x="5447635" y="524827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lang="zh-CN" altLang="en-US" sz="2400" dirty="0">
                <a:solidFill>
                  <a:srgbClr val="16313C"/>
                </a:solidFill>
                <a:latin typeface="Arial Unicode MS"/>
                <a:ea typeface="Arial Unicode MS"/>
                <a:cs typeface="Arial Unicode MS"/>
              </a:rPr>
              <a:t>报告展示</a:t>
            </a:r>
            <a:r>
              <a:rPr sz="2400" b="0" dirty="0" err="1">
                <a:solidFill>
                  <a:srgbClr val="16313C"/>
                </a:solidFill>
                <a:latin typeface="Arial Unicode MS"/>
                <a:ea typeface="Arial Unicode MS"/>
                <a:cs typeface="Arial Unicode MS"/>
              </a:rPr>
              <a:t>与参赛信息</a:t>
            </a:r>
            <a:endParaRPr sz="2400" b="0" dirty="0">
              <a:solidFill>
                <a:srgbClr val="16313C"/>
              </a:solidFill>
              <a:latin typeface="Arial Unicode MS"/>
              <a:ea typeface="Arial Unicode MS"/>
              <a:cs typeface="Arial Unicode MS"/>
            </a:endParaRPr>
          </a:p>
        </p:txBody>
      </p:sp>
      <p:sp>
        <p:nvSpPr>
          <p:cNvPr id="20" name="矩形 19">
            <a:extLst>
              <a:ext uri="{FF2B5EF4-FFF2-40B4-BE49-F238E27FC236}">
                <a16:creationId xmlns:a16="http://schemas.microsoft.com/office/drawing/2014/main" id="{C68ACB42-B979-9364-074A-8F1F1B2ADD75}"/>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07</a:t>
            </a:r>
          </a:p>
        </p:txBody>
      </p:sp>
    </p:spTree>
    <p:extLst>
      <p:ext uri="{BB962C8B-B14F-4D97-AF65-F5344CB8AC3E}">
        <p14:creationId xmlns:p14="http://schemas.microsoft.com/office/powerpoint/2010/main" val="360244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形用户界面&#10;&#10;AI 生成的内容可能不正确。">
            <a:extLst>
              <a:ext uri="{FF2B5EF4-FFF2-40B4-BE49-F238E27FC236}">
                <a16:creationId xmlns:a16="http://schemas.microsoft.com/office/drawing/2014/main" id="{336395C3-05C2-FFF2-AC8E-C59D81F51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7" y="0"/>
            <a:ext cx="12198487" cy="6858000"/>
          </a:xfrm>
          <a:prstGeom prst="rect">
            <a:avLst/>
          </a:prstGeom>
        </p:spPr>
      </p:pic>
      <p:sp>
        <p:nvSpPr>
          <p:cNvPr id="3" name="文本框 2">
            <a:extLst>
              <a:ext uri="{FF2B5EF4-FFF2-40B4-BE49-F238E27FC236}">
                <a16:creationId xmlns:a16="http://schemas.microsoft.com/office/drawing/2014/main" id="{924CAF95-BB69-D848-B048-5D5B2CCD8389}"/>
              </a:ext>
            </a:extLst>
          </p:cNvPr>
          <p:cNvSpPr txBox="1"/>
          <p:nvPr/>
        </p:nvSpPr>
        <p:spPr>
          <a:xfrm>
            <a:off x="11334750" y="6505575"/>
            <a:ext cx="400050" cy="209550"/>
          </a:xfrm>
          <a:prstGeom prst="rect">
            <a:avLst/>
          </a:prstGeom>
          <a:noFill/>
        </p:spPr>
        <p:txBody>
          <a:bodyPr vertOverflow="overflow" vert="horz" wrap="square" rtlCol="0" anchor="t">
            <a:spAutoFit/>
          </a:bodyPr>
          <a:lstStyle/>
          <a:p>
            <a:pPr algn="l"/>
            <a:r>
              <a:rPr lang="en-US" altLang="zh-CN" sz="1200">
                <a:solidFill>
                  <a:srgbClr val="526874"/>
                </a:solidFill>
              </a:rPr>
              <a:t>08</a:t>
            </a:r>
            <a:endParaRPr lang="zh-CN" altLang="en-US" sz="1200">
              <a:solidFill>
                <a:srgbClr val="526874"/>
              </a:solidFill>
            </a:endParaRPr>
          </a:p>
        </p:txBody>
      </p:sp>
    </p:spTree>
    <p:extLst>
      <p:ext uri="{BB962C8B-B14F-4D97-AF65-F5344CB8AC3E}">
        <p14:creationId xmlns:p14="http://schemas.microsoft.com/office/powerpoint/2010/main" val="7411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70C717-7AE7-4FA4-B6CF-E7732FD58A92}"/>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双智能体协同：边调查，边建立能力画像</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EEB93F8F-165A-41C6-AABD-E86786D5BC0A}"/>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dirty="0" err="1">
                <a:solidFill>
                  <a:srgbClr val="087D86"/>
                </a:solidFill>
                <a:latin typeface="Arial Unicode MS"/>
                <a:ea typeface="Arial Unicode MS"/>
                <a:cs typeface="Arial Unicode MS"/>
              </a:rPr>
              <a:t>我们将证据评估与面试决策分工，让每一次追问都建立在最新能力画像上</a:t>
            </a:r>
            <a:endParaRPr sz="2025" b="0" dirty="0">
              <a:solidFill>
                <a:srgbClr val="087D86"/>
              </a:solidFill>
              <a:latin typeface="Arial Unicode MS"/>
              <a:ea typeface="Arial Unicode MS"/>
              <a:cs typeface="Arial Unicode MS"/>
            </a:endParaRPr>
          </a:p>
        </p:txBody>
      </p:sp>
      <p:sp>
        <p:nvSpPr>
          <p:cNvPr id="3" name="矩形 2">
            <a:extLst>
              <a:ext uri="{FF2B5EF4-FFF2-40B4-BE49-F238E27FC236}">
                <a16:creationId xmlns:a16="http://schemas.microsoft.com/office/drawing/2014/main" id="{66FFA4AF-A44E-4FC3-A320-22A98F57848E}"/>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Report Agent 整理证据，Interview Agent 根据更新后的报告决定下一步。</a:t>
            </a:r>
          </a:p>
        </p:txBody>
      </p:sp>
      <p:sp>
        <p:nvSpPr>
          <p:cNvPr id="4" name="矩形 3">
            <a:extLst>
              <a:ext uri="{FF2B5EF4-FFF2-40B4-BE49-F238E27FC236}">
                <a16:creationId xmlns:a16="http://schemas.microsoft.com/office/drawing/2014/main" id="{DA4DADF3-F068-4B6B-975C-46C0743AEA2A}"/>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09</a:t>
            </a:r>
          </a:p>
        </p:txBody>
      </p:sp>
      <p:graphicFrame>
        <p:nvGraphicFramePr>
          <p:cNvPr id="10" name="表格 9"/>
          <p:cNvGraphicFramePr/>
          <p:nvPr/>
        </p:nvGraphicFramePr>
        <p:xfrm>
          <a:off x="685800" y="2019300"/>
          <a:ext cx="10668000" cy="3762375"/>
        </p:xfrm>
        <a:graphic>
          <a:graphicData uri="http://schemas.openxmlformats.org/drawingml/2006/table">
            <a:tbl>
              <a:tblPr/>
              <a:tblGrid>
                <a:gridCol w="228600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752475">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组件</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主要工作</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输入与约束</a:t>
                      </a:r>
                    </a:p>
                  </a:txBody>
                  <a:tcPr anchor="ctr">
                    <a:solidFill>
                      <a:srgbClr val="16313C"/>
                    </a:solidFill>
                  </a:tcPr>
                </a:tc>
                <a:extLst>
                  <a:ext uri="{0D108BD9-81ED-4DB2-BD59-A6C34878D82A}">
                    <a16:rowId xmlns:a16="http://schemas.microsoft.com/office/drawing/2014/main" val="10000"/>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Report Agent</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模型从当前回答提取证据</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上下文包含当前项目的完整证据</a:t>
                      </a:r>
                    </a:p>
                  </a:txBody>
                  <a:tcPr anchor="ctr">
                    <a:solidFill>
                      <a:srgbClr val="F5F8F7"/>
                    </a:solidFill>
                  </a:tcPr>
                </a:tc>
                <a:extLst>
                  <a:ext uri="{0D108BD9-81ED-4DB2-BD59-A6C34878D82A}">
                    <a16:rowId xmlns:a16="http://schemas.microsoft.com/office/drawing/2014/main" val="10001"/>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Interview Agent</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模型决定下一问或申请结束</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上下文包含全局字段索引与焦点项目</a:t>
                      </a:r>
                    </a:p>
                  </a:txBody>
                  <a:tcPr anchor="ctr">
                    <a:solidFill>
                      <a:srgbClr val="FFFFFF"/>
                    </a:solidFill>
                  </a:tcPr>
                </a:tc>
                <a:extLst>
                  <a:ext uri="{0D108BD9-81ED-4DB2-BD59-A6C34878D82A}">
                    <a16:rowId xmlns:a16="http://schemas.microsoft.com/office/drawing/2014/main" val="10002"/>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Interview Core</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程序校验证据并计算评分</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校验覆盖原话、项目和能力归属</a:t>
                      </a:r>
                    </a:p>
                  </a:txBody>
                  <a:tcPr anchor="ctr">
                    <a:solidFill>
                      <a:srgbClr val="F5F8F7"/>
                    </a:solidFill>
                  </a:tcPr>
                </a:tc>
                <a:extLst>
                  <a:ext uri="{0D108BD9-81ED-4DB2-BD59-A6C34878D82A}">
                    <a16:rowId xmlns:a16="http://schemas.microsoft.com/office/drawing/2014/main" val="10003"/>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SQLite / API</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系统保存会话与执行状态</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报告与下一决策成功后统一提交</a:t>
                      </a:r>
                      <a:endParaRPr sz="1800" b="0" dirty="0">
                        <a:solidFill>
                          <a:srgbClr val="16313C"/>
                        </a:solidFill>
                        <a:latin typeface="Arial Unicode MS"/>
                        <a:ea typeface="Arial Unicode MS"/>
                        <a:cs typeface="Arial Unicode MS"/>
                      </a:endParaRPr>
                    </a:p>
                  </a:txBody>
                  <a:tcPr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7279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DF5CDB6-0B5A-4FC1-882F-5B41B0C42772}"/>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从一次回答，到下一步调查决策</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B8C36371-8B93-43B5-8DE9-58BE9DBC9CCB}"/>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dirty="0" err="1">
                <a:solidFill>
                  <a:srgbClr val="087D86"/>
                </a:solidFill>
                <a:latin typeface="Arial Unicode MS"/>
                <a:ea typeface="Arial Unicode MS"/>
                <a:cs typeface="Arial Unicode MS"/>
              </a:rPr>
              <a:t>每轮回答先</a:t>
            </a:r>
            <a:r>
              <a:rPr lang="zh-CN" altLang="en-US" sz="2025" b="0" dirty="0">
                <a:solidFill>
                  <a:srgbClr val="087D86"/>
                </a:solidFill>
                <a:latin typeface="Arial Unicode MS"/>
                <a:ea typeface="Arial Unicode MS"/>
                <a:cs typeface="Arial Unicode MS"/>
              </a:rPr>
              <a:t>通过一系列</a:t>
            </a:r>
            <a:r>
              <a:rPr sz="2025" b="0" dirty="0" err="1">
                <a:solidFill>
                  <a:srgbClr val="087D86"/>
                </a:solidFill>
                <a:latin typeface="Arial Unicode MS"/>
                <a:ea typeface="Arial Unicode MS"/>
                <a:cs typeface="Arial Unicode MS"/>
              </a:rPr>
              <a:t>证据处理流程，再用于生成下一轮调查决策</a:t>
            </a:r>
            <a:endParaRPr sz="2025" b="0" dirty="0">
              <a:solidFill>
                <a:srgbClr val="087D86"/>
              </a:solidFill>
              <a:latin typeface="Arial Unicode MS"/>
              <a:ea typeface="Arial Unicode MS"/>
              <a:cs typeface="Arial Unicode MS"/>
            </a:endParaRPr>
          </a:p>
        </p:txBody>
      </p:sp>
      <p:sp>
        <p:nvSpPr>
          <p:cNvPr id="3" name="矩形 2">
            <a:extLst>
              <a:ext uri="{FF2B5EF4-FFF2-40B4-BE49-F238E27FC236}">
                <a16:creationId xmlns:a16="http://schemas.microsoft.com/office/drawing/2014/main" id="{E813AB0C-915C-40C5-BDC8-7600CF12C7BF}"/>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工具校验失败后返回具体错误，模型可修正参数后重试。</a:t>
            </a:r>
          </a:p>
        </p:txBody>
      </p:sp>
      <p:sp>
        <p:nvSpPr>
          <p:cNvPr id="4" name="矩形 3">
            <a:extLst>
              <a:ext uri="{FF2B5EF4-FFF2-40B4-BE49-F238E27FC236}">
                <a16:creationId xmlns:a16="http://schemas.microsoft.com/office/drawing/2014/main" id="{04D6B1FF-C988-4688-9551-87BBFAD1B5D1}"/>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10</a:t>
            </a:r>
          </a:p>
        </p:txBody>
      </p:sp>
      <p:sp>
        <p:nvSpPr>
          <p:cNvPr id="5" name="矩形 4">
            <a:extLst>
              <a:ext uri="{FF2B5EF4-FFF2-40B4-BE49-F238E27FC236}">
                <a16:creationId xmlns:a16="http://schemas.microsoft.com/office/drawing/2014/main" id="{BB75379C-B203-4EB4-AD51-57D39A65C404}"/>
              </a:ext>
            </a:extLst>
          </p:cNvPr>
          <p:cNvSpPr>
            <a:spLocks noGrp="1"/>
          </p:cNvSpPr>
          <p:nvPr/>
        </p:nvSpPr>
        <p:spPr>
          <a:xfrm>
            <a:off x="704850" y="2095500"/>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01</a:t>
            </a:r>
          </a:p>
        </p:txBody>
      </p:sp>
      <p:sp>
        <p:nvSpPr>
          <p:cNvPr id="6" name="矩形 5">
            <a:extLst>
              <a:ext uri="{FF2B5EF4-FFF2-40B4-BE49-F238E27FC236}">
                <a16:creationId xmlns:a16="http://schemas.microsoft.com/office/drawing/2014/main" id="{3277B38B-676E-4CA3-AE18-906702413DBA}"/>
              </a:ext>
            </a:extLst>
          </p:cNvPr>
          <p:cNvSpPr>
            <a:spLocks noGrp="1"/>
          </p:cNvSpPr>
          <p:nvPr/>
        </p:nvSpPr>
        <p:spPr>
          <a:xfrm>
            <a:off x="1714500" y="2124075"/>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回答持久化</a:t>
            </a:r>
          </a:p>
        </p:txBody>
      </p:sp>
      <p:sp>
        <p:nvSpPr>
          <p:cNvPr id="7" name="矩形 6">
            <a:extLst>
              <a:ext uri="{FF2B5EF4-FFF2-40B4-BE49-F238E27FC236}">
                <a16:creationId xmlns:a16="http://schemas.microsoft.com/office/drawing/2014/main" id="{2BF5C2BB-2644-41A8-8E84-A8587D456872}"/>
              </a:ext>
            </a:extLst>
          </p:cNvPr>
          <p:cNvSpPr>
            <a:spLocks noGrp="1"/>
          </p:cNvSpPr>
          <p:nvPr/>
        </p:nvSpPr>
        <p:spPr>
          <a:xfrm>
            <a:off x="4429125" y="2124075"/>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dirty="0">
                <a:solidFill>
                  <a:srgbClr val="16313C"/>
                </a:solidFill>
                <a:latin typeface="Arial Unicode MS"/>
                <a:ea typeface="Arial Unicode MS"/>
                <a:cs typeface="Arial Unicode MS"/>
              </a:rPr>
              <a:t>API </a:t>
            </a:r>
            <a:r>
              <a:rPr sz="1875" b="0" dirty="0" err="1">
                <a:solidFill>
                  <a:srgbClr val="16313C"/>
                </a:solidFill>
                <a:latin typeface="Arial Unicode MS"/>
                <a:ea typeface="Arial Unicode MS"/>
                <a:cs typeface="Arial Unicode MS"/>
              </a:rPr>
              <a:t>在模型调用前保存回答命令，失败重试沿用同一命令</a:t>
            </a:r>
            <a:r>
              <a:rPr sz="1875" b="0" dirty="0">
                <a:solidFill>
                  <a:srgbClr val="16313C"/>
                </a:solidFill>
                <a:latin typeface="Arial Unicode MS"/>
                <a:ea typeface="Arial Unicode MS"/>
                <a:cs typeface="Arial Unicode MS"/>
              </a:rPr>
              <a:t>。</a:t>
            </a:r>
          </a:p>
        </p:txBody>
      </p:sp>
      <p:sp>
        <p:nvSpPr>
          <p:cNvPr id="8" name="矩形 7">
            <a:extLst>
              <a:ext uri="{FF2B5EF4-FFF2-40B4-BE49-F238E27FC236}">
                <a16:creationId xmlns:a16="http://schemas.microsoft.com/office/drawing/2014/main" id="{D8172B5F-6F89-4B9F-8753-F35721980ED3}"/>
              </a:ext>
            </a:extLst>
          </p:cNvPr>
          <p:cNvSpPr>
            <a:spLocks noGrp="1"/>
          </p:cNvSpPr>
          <p:nvPr/>
        </p:nvSpPr>
        <p:spPr>
          <a:xfrm>
            <a:off x="704850" y="3038475"/>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02</a:t>
            </a:r>
          </a:p>
        </p:txBody>
      </p:sp>
      <p:sp>
        <p:nvSpPr>
          <p:cNvPr id="9" name="矩形 8">
            <a:extLst>
              <a:ext uri="{FF2B5EF4-FFF2-40B4-BE49-F238E27FC236}">
                <a16:creationId xmlns:a16="http://schemas.microsoft.com/office/drawing/2014/main" id="{8790938E-0536-4ADF-91DA-7666FAF9CE26}"/>
              </a:ext>
            </a:extLst>
          </p:cNvPr>
          <p:cNvSpPr>
            <a:spLocks noGrp="1"/>
          </p:cNvSpPr>
          <p:nvPr/>
        </p:nvSpPr>
        <p:spPr>
          <a:xfrm>
            <a:off x="1714500" y="3067050"/>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证据更新</a:t>
            </a:r>
          </a:p>
        </p:txBody>
      </p:sp>
      <p:sp>
        <p:nvSpPr>
          <p:cNvPr id="10" name="矩形 9">
            <a:extLst>
              <a:ext uri="{FF2B5EF4-FFF2-40B4-BE49-F238E27FC236}">
                <a16:creationId xmlns:a16="http://schemas.microsoft.com/office/drawing/2014/main" id="{62F16263-9A98-4AA2-BE81-4FAF013A2AFF}"/>
              </a:ext>
            </a:extLst>
          </p:cNvPr>
          <p:cNvSpPr>
            <a:spLocks noGrp="1"/>
          </p:cNvSpPr>
          <p:nvPr/>
        </p:nvSpPr>
        <p:spPr>
          <a:xfrm>
            <a:off x="4429125" y="3067050"/>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dirty="0">
                <a:solidFill>
                  <a:srgbClr val="16313C"/>
                </a:solidFill>
                <a:latin typeface="Arial Unicode MS"/>
                <a:ea typeface="Arial Unicode MS"/>
                <a:cs typeface="Arial Unicode MS"/>
              </a:rPr>
              <a:t>Report Agent </a:t>
            </a:r>
            <a:r>
              <a:rPr sz="1875" b="0" dirty="0" err="1">
                <a:solidFill>
                  <a:srgbClr val="16313C"/>
                </a:solidFill>
                <a:latin typeface="Arial Unicode MS"/>
                <a:ea typeface="Arial Unicode MS"/>
                <a:cs typeface="Arial Unicode MS"/>
              </a:rPr>
              <a:t>从回答中提取证据</a:t>
            </a:r>
            <a:r>
              <a:rPr sz="1875" b="0" dirty="0">
                <a:solidFill>
                  <a:srgbClr val="16313C"/>
                </a:solidFill>
                <a:latin typeface="Arial Unicode MS"/>
                <a:ea typeface="Arial Unicode MS"/>
                <a:cs typeface="Arial Unicode MS"/>
              </a:rPr>
              <a:t>，</a:t>
            </a:r>
          </a:p>
          <a:p>
            <a:pPr algn="l">
              <a:defRPr sz="1875" b="0">
                <a:solidFill>
                  <a:srgbClr val="16313C"/>
                </a:solidFill>
                <a:latin typeface="Arial Unicode MS"/>
                <a:ea typeface="Arial Unicode MS"/>
                <a:cs typeface="Arial Unicode MS"/>
              </a:defRPr>
            </a:pPr>
            <a:r>
              <a:rPr sz="1875" b="0" dirty="0">
                <a:solidFill>
                  <a:srgbClr val="16313C"/>
                </a:solidFill>
                <a:latin typeface="Arial Unicode MS"/>
                <a:ea typeface="Arial Unicode MS"/>
                <a:cs typeface="Arial Unicode MS"/>
              </a:rPr>
              <a:t>Core </a:t>
            </a:r>
            <a:r>
              <a:rPr sz="1875" b="0" dirty="0" err="1">
                <a:solidFill>
                  <a:srgbClr val="16313C"/>
                </a:solidFill>
                <a:latin typeface="Arial Unicode MS"/>
                <a:ea typeface="Arial Unicode MS"/>
                <a:cs typeface="Arial Unicode MS"/>
              </a:rPr>
              <a:t>检查原话、项目归属与深度</a:t>
            </a:r>
            <a:r>
              <a:rPr sz="1875" b="0" dirty="0">
                <a:solidFill>
                  <a:srgbClr val="16313C"/>
                </a:solidFill>
                <a:latin typeface="Arial Unicode MS"/>
                <a:ea typeface="Arial Unicode MS"/>
                <a:cs typeface="Arial Unicode MS"/>
              </a:rPr>
              <a:t>。</a:t>
            </a:r>
          </a:p>
        </p:txBody>
      </p:sp>
      <p:sp>
        <p:nvSpPr>
          <p:cNvPr id="11" name="矩形 10">
            <a:extLst>
              <a:ext uri="{FF2B5EF4-FFF2-40B4-BE49-F238E27FC236}">
                <a16:creationId xmlns:a16="http://schemas.microsoft.com/office/drawing/2014/main" id="{DC8D2CA9-28DD-42E6-8041-D6FB420DB1A5}"/>
              </a:ext>
            </a:extLst>
          </p:cNvPr>
          <p:cNvSpPr>
            <a:spLocks noGrp="1"/>
          </p:cNvSpPr>
          <p:nvPr/>
        </p:nvSpPr>
        <p:spPr>
          <a:xfrm>
            <a:off x="704850" y="3981450"/>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03</a:t>
            </a:r>
          </a:p>
        </p:txBody>
      </p:sp>
      <p:sp>
        <p:nvSpPr>
          <p:cNvPr id="12" name="矩形 11">
            <a:extLst>
              <a:ext uri="{FF2B5EF4-FFF2-40B4-BE49-F238E27FC236}">
                <a16:creationId xmlns:a16="http://schemas.microsoft.com/office/drawing/2014/main" id="{12DFE8E1-2FB2-42E2-A3E1-388BD67DE59D}"/>
              </a:ext>
            </a:extLst>
          </p:cNvPr>
          <p:cNvSpPr>
            <a:spLocks noGrp="1"/>
          </p:cNvSpPr>
          <p:nvPr/>
        </p:nvSpPr>
        <p:spPr>
          <a:xfrm>
            <a:off x="1714500" y="4010025"/>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调查方向选择</a:t>
            </a:r>
          </a:p>
        </p:txBody>
      </p:sp>
      <p:sp>
        <p:nvSpPr>
          <p:cNvPr id="13" name="矩形 12">
            <a:extLst>
              <a:ext uri="{FF2B5EF4-FFF2-40B4-BE49-F238E27FC236}">
                <a16:creationId xmlns:a16="http://schemas.microsoft.com/office/drawing/2014/main" id="{80FEA309-DAC5-4F74-8523-676D69C2812F}"/>
              </a:ext>
            </a:extLst>
          </p:cNvPr>
          <p:cNvSpPr>
            <a:spLocks noGrp="1"/>
          </p:cNvSpPr>
          <p:nvPr/>
        </p:nvSpPr>
        <p:spPr>
          <a:xfrm>
            <a:off x="4429125" y="4010025"/>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Interview Agent 读取更新后的报告，</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结合检索与召回结果决定下一步。</a:t>
            </a:r>
          </a:p>
        </p:txBody>
      </p:sp>
      <p:sp>
        <p:nvSpPr>
          <p:cNvPr id="14" name="矩形 13">
            <a:extLst>
              <a:ext uri="{FF2B5EF4-FFF2-40B4-BE49-F238E27FC236}">
                <a16:creationId xmlns:a16="http://schemas.microsoft.com/office/drawing/2014/main" id="{F7736EB3-C09B-456C-9FD8-391AF2A2F62D}"/>
              </a:ext>
            </a:extLst>
          </p:cNvPr>
          <p:cNvSpPr>
            <a:spLocks noGrp="1"/>
          </p:cNvSpPr>
          <p:nvPr/>
        </p:nvSpPr>
        <p:spPr>
          <a:xfrm>
            <a:off x="704850" y="4924425"/>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04</a:t>
            </a:r>
          </a:p>
        </p:txBody>
      </p:sp>
      <p:sp>
        <p:nvSpPr>
          <p:cNvPr id="15" name="矩形 14">
            <a:extLst>
              <a:ext uri="{FF2B5EF4-FFF2-40B4-BE49-F238E27FC236}">
                <a16:creationId xmlns:a16="http://schemas.microsoft.com/office/drawing/2014/main" id="{6CC3D7F9-CB23-4F20-9C7F-8CB4D234A1DF}"/>
              </a:ext>
            </a:extLst>
          </p:cNvPr>
          <p:cNvSpPr>
            <a:spLocks noGrp="1"/>
          </p:cNvSpPr>
          <p:nvPr/>
        </p:nvSpPr>
        <p:spPr>
          <a:xfrm>
            <a:off x="1714500" y="4953000"/>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结果提交</a:t>
            </a:r>
          </a:p>
        </p:txBody>
      </p:sp>
      <p:sp>
        <p:nvSpPr>
          <p:cNvPr id="16" name="矩形 15">
            <a:extLst>
              <a:ext uri="{FF2B5EF4-FFF2-40B4-BE49-F238E27FC236}">
                <a16:creationId xmlns:a16="http://schemas.microsoft.com/office/drawing/2014/main" id="{6652B1A9-5D13-4D6E-BB01-743135341B6D}"/>
              </a:ext>
            </a:extLst>
          </p:cNvPr>
          <p:cNvSpPr>
            <a:spLocks noGrp="1"/>
          </p:cNvSpPr>
          <p:nvPr/>
        </p:nvSpPr>
        <p:spPr>
          <a:xfrm>
            <a:off x="4429125" y="4953000"/>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报告与下一决策在同一事务中提交，</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前端同步展示结果与执行记录。</a:t>
            </a:r>
          </a:p>
        </p:txBody>
      </p:sp>
    </p:spTree>
    <p:extLst>
      <p:ext uri="{BB962C8B-B14F-4D97-AF65-F5344CB8AC3E}">
        <p14:creationId xmlns:p14="http://schemas.microsoft.com/office/powerpoint/2010/main" val="2195842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0DEDFC8-9BC7-47A1-992B-69C830571A07}"/>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动态路径优化：沿着证据缺口深入追问</a:t>
            </a:r>
          </a:p>
        </p:txBody>
      </p:sp>
      <p:sp>
        <p:nvSpPr>
          <p:cNvPr id="2" name="矩形 1">
            <a:extLst>
              <a:ext uri="{FF2B5EF4-FFF2-40B4-BE49-F238E27FC236}">
                <a16:creationId xmlns:a16="http://schemas.microsoft.com/office/drawing/2014/main" id="{2D6B1053-706E-460A-BD2C-521E848764A9}"/>
              </a:ext>
            </a:extLst>
          </p:cNvPr>
          <p:cNvSpPr>
            <a:spLocks noGrp="1"/>
          </p:cNvSpPr>
          <p:nvPr/>
        </p:nvSpPr>
        <p:spPr>
          <a:xfrm>
            <a:off x="647700" y="1209675"/>
            <a:ext cx="10839450" cy="504825"/>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lang="en-US" altLang="zh-CN" sz="2025" b="0" dirty="0" err="1">
                <a:solidFill>
                  <a:srgbClr val="087D86"/>
                </a:solidFill>
                <a:latin typeface="Arial Unicode MS"/>
                <a:ea typeface="Arial Unicode MS"/>
                <a:cs typeface="Arial Unicode MS"/>
              </a:rPr>
              <a:t>agent</a:t>
            </a:r>
            <a:r>
              <a:rPr sz="2025" b="0" dirty="0" err="1">
                <a:solidFill>
                  <a:srgbClr val="087D86"/>
                </a:solidFill>
                <a:latin typeface="Arial Unicode MS"/>
                <a:ea typeface="Arial Unicode MS"/>
                <a:cs typeface="Arial Unicode MS"/>
              </a:rPr>
              <a:t>持续识别新线索、定位证据缺口，在深入核验、切换项目与结束调查之间动态决策</a:t>
            </a:r>
            <a:endParaRPr sz="2025" b="0" dirty="0">
              <a:solidFill>
                <a:srgbClr val="087D86"/>
              </a:solidFill>
              <a:latin typeface="Arial Unicode MS"/>
              <a:ea typeface="Arial Unicode MS"/>
              <a:cs typeface="Arial Unicode MS"/>
            </a:endParaRPr>
          </a:p>
        </p:txBody>
      </p:sp>
      <p:sp>
        <p:nvSpPr>
          <p:cNvPr id="3" name="矩形 2">
            <a:extLst>
              <a:ext uri="{FF2B5EF4-FFF2-40B4-BE49-F238E27FC236}">
                <a16:creationId xmlns:a16="http://schemas.microsoft.com/office/drawing/2014/main" id="{B070E519-B1C2-45AF-B7CA-DDE7C5C3FF2F}"/>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每轮回答都会更新调查依据，工具校验结果也会反馈给模型。</a:t>
            </a:r>
          </a:p>
        </p:txBody>
      </p:sp>
      <p:sp>
        <p:nvSpPr>
          <p:cNvPr id="4" name="矩形 3">
            <a:extLst>
              <a:ext uri="{FF2B5EF4-FFF2-40B4-BE49-F238E27FC236}">
                <a16:creationId xmlns:a16="http://schemas.microsoft.com/office/drawing/2014/main" id="{24886292-5108-4013-A185-7AC160073678}"/>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11</a:t>
            </a:r>
          </a:p>
        </p:txBody>
      </p:sp>
      <p:graphicFrame>
        <p:nvGraphicFramePr>
          <p:cNvPr id="10" name="表格 9"/>
          <p:cNvGraphicFramePr/>
          <p:nvPr/>
        </p:nvGraphicFramePr>
        <p:xfrm>
          <a:off x="685800" y="1876425"/>
          <a:ext cx="10668000" cy="4114800"/>
        </p:xfrm>
        <a:graphic>
          <a:graphicData uri="http://schemas.openxmlformats.org/drawingml/2006/table">
            <a:tbl>
              <a:tblPr/>
              <a:tblGrid>
                <a:gridCol w="3095625">
                  <a:extLst>
                    <a:ext uri="{9D8B030D-6E8A-4147-A177-3AD203B41FA5}">
                      <a16:colId xmlns:a16="http://schemas.microsoft.com/office/drawing/2014/main" val="20000"/>
                    </a:ext>
                  </a:extLst>
                </a:gridCol>
                <a:gridCol w="3486150">
                  <a:extLst>
                    <a:ext uri="{9D8B030D-6E8A-4147-A177-3AD203B41FA5}">
                      <a16:colId xmlns:a16="http://schemas.microsoft.com/office/drawing/2014/main" val="20001"/>
                    </a:ext>
                  </a:extLst>
                </a:gridCol>
                <a:gridCol w="4086225">
                  <a:extLst>
                    <a:ext uri="{9D8B030D-6E8A-4147-A177-3AD203B41FA5}">
                      <a16:colId xmlns:a16="http://schemas.microsoft.com/office/drawing/2014/main" val="20002"/>
                    </a:ext>
                  </a:extLst>
                </a:gridCol>
              </a:tblGrid>
              <a:tr h="685800">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当前观察</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模型的响应策略</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程序约束或执行记录</a:t>
                      </a:r>
                    </a:p>
                  </a:txBody>
                  <a:tcPr anchor="ctr">
                    <a:solidFill>
                      <a:srgbClr val="16313C"/>
                    </a:solidFill>
                  </a:tcPr>
                </a:tc>
                <a:extLst>
                  <a:ext uri="{0D108BD9-81ED-4DB2-BD59-A6C34878D82A}">
                    <a16:rowId xmlns:a16="http://schemas.microsoft.com/office/drawing/2014/main" val="10000"/>
                  </a:ext>
                </a:extLst>
              </a:tr>
              <a:tr h="685800">
                <a:tc>
                  <a:txBody>
                    <a:bodyPr/>
                    <a:lstStyle/>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回答出现具体方法或约束</a:t>
                      </a:r>
                      <a:endParaRPr sz="1800" b="0" dirty="0">
                        <a:solidFill>
                          <a:srgbClr val="16313C"/>
                        </a:solidFill>
                        <a:latin typeface="Arial Unicode MS"/>
                        <a:ea typeface="Arial Unicode MS"/>
                        <a:cs typeface="Arial Unicode MS"/>
                      </a:endParaRP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模型沿新线索继续核验</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线索关联原话，跟进引用不可重复</a:t>
                      </a:r>
                    </a:p>
                  </a:txBody>
                  <a:tcPr anchor="ctr">
                    <a:solidFill>
                      <a:srgbClr val="F5F8F7"/>
                    </a:solidFill>
                  </a:tcPr>
                </a:tc>
                <a:extLst>
                  <a:ext uri="{0D108BD9-81ED-4DB2-BD59-A6C34878D82A}">
                    <a16:rowId xmlns:a16="http://schemas.microsoft.com/office/drawing/2014/main" val="10001"/>
                  </a:ext>
                </a:extLst>
              </a:tr>
              <a:tr h="68580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做法明确，选择依据不足</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模型核验依据、取舍与边界</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targetDepth 记录目标深度</a:t>
                      </a:r>
                    </a:p>
                  </a:txBody>
                  <a:tcPr anchor="ctr">
                    <a:solidFill>
                      <a:srgbClr val="FFFFFF"/>
                    </a:solidFill>
                  </a:tcPr>
                </a:tc>
                <a:extLst>
                  <a:ext uri="{0D108BD9-81ED-4DB2-BD59-A6C34878D82A}">
                    <a16:rowId xmlns:a16="http://schemas.microsoft.com/office/drawing/2014/main" val="10002"/>
                  </a:ext>
                </a:extLst>
              </a:tr>
              <a:tr h="68580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准备换项目，但调查尚未</a:t>
                      </a:r>
                    </a:p>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完成</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模型补充调查或解释转换依据</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校验反馈尚未完成的调查项</a:t>
                      </a:r>
                    </a:p>
                  </a:txBody>
                  <a:tcPr anchor="ctr">
                    <a:solidFill>
                      <a:srgbClr val="F5F8F7"/>
                    </a:solidFill>
                  </a:tcPr>
                </a:tc>
                <a:extLst>
                  <a:ext uri="{0D108BD9-81ED-4DB2-BD59-A6C34878D82A}">
                    <a16:rowId xmlns:a16="http://schemas.microsoft.com/office/drawing/2014/main" val="10003"/>
                  </a:ext>
                </a:extLst>
              </a:tr>
              <a:tr h="68580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候选人要求换题或持续无</a:t>
                      </a:r>
                    </a:p>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新信息</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系统暂停项目，保留未核验项</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暂停项目不再进入下一轮调查</a:t>
                      </a:r>
                    </a:p>
                  </a:txBody>
                  <a:tcPr anchor="ctr">
                    <a:solidFill>
                      <a:srgbClr val="FFFFFF"/>
                    </a:solidFill>
                  </a:tcPr>
                </a:tc>
                <a:extLst>
                  <a:ext uri="{0D108BD9-81ED-4DB2-BD59-A6C34878D82A}">
                    <a16:rowId xmlns:a16="http://schemas.microsoft.com/office/drawing/2014/main" val="10004"/>
                  </a:ext>
                </a:extLst>
              </a:tr>
              <a:tr h="68580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模型认为可以结束</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模型发起结束请求</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校验通过后，系统邀请候选人补充</a:t>
                      </a:r>
                      <a:endParaRPr sz="1800" b="0" dirty="0">
                        <a:solidFill>
                          <a:srgbClr val="16313C"/>
                        </a:solidFill>
                        <a:latin typeface="Arial Unicode MS"/>
                        <a:ea typeface="Arial Unicode MS"/>
                        <a:cs typeface="Arial Unicode MS"/>
                      </a:endParaRPr>
                    </a:p>
                  </a:txBody>
                  <a:tcPr anchor="ctr">
                    <a:solidFill>
                      <a:srgbClr val="F5F8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13972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A4ED18B2-F5D5-4470-8918-219F071F2F60}"/>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五层能力核验：从“做过”问到“能迁移”</a:t>
            </a:r>
          </a:p>
        </p:txBody>
      </p:sp>
      <p:sp>
        <p:nvSpPr>
          <p:cNvPr id="2" name="矩形 1">
            <a:extLst>
              <a:ext uri="{FF2B5EF4-FFF2-40B4-BE49-F238E27FC236}">
                <a16:creationId xmlns:a16="http://schemas.microsoft.com/office/drawing/2014/main" id="{AA850C65-5830-417D-BC07-42B71B88421D}"/>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系统以陈述、细节、依据、取舍和迁移区分回答深度，逐轮核验</a:t>
            </a:r>
          </a:p>
        </p:txBody>
      </p:sp>
      <p:sp>
        <p:nvSpPr>
          <p:cNvPr id="3" name="矩形 2">
            <a:extLst>
              <a:ext uri="{FF2B5EF4-FFF2-40B4-BE49-F238E27FC236}">
                <a16:creationId xmlns:a16="http://schemas.microsoft.com/office/drawing/2014/main" id="{AF1F8D0B-43FD-471C-9209-4ECCF02D39B9}"/>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dirty="0" err="1">
                <a:solidFill>
                  <a:srgbClr val="526874"/>
                </a:solidFill>
                <a:latin typeface="Arial Unicode MS"/>
                <a:ea typeface="Arial Unicode MS"/>
                <a:cs typeface="Arial Unicode MS"/>
              </a:rPr>
              <a:t>连续含糊、跳过或重复回答时，系统可暂停该项目</a:t>
            </a:r>
            <a:r>
              <a:rPr sz="1350" b="0" dirty="0">
                <a:solidFill>
                  <a:srgbClr val="526874"/>
                </a:solidFill>
                <a:latin typeface="Arial Unicode MS"/>
                <a:ea typeface="Arial Unicode MS"/>
                <a:cs typeface="Arial Unicode MS"/>
              </a:rPr>
              <a:t>。</a:t>
            </a:r>
          </a:p>
        </p:txBody>
      </p:sp>
      <p:sp>
        <p:nvSpPr>
          <p:cNvPr id="4" name="矩形 3">
            <a:extLst>
              <a:ext uri="{FF2B5EF4-FFF2-40B4-BE49-F238E27FC236}">
                <a16:creationId xmlns:a16="http://schemas.microsoft.com/office/drawing/2014/main" id="{AAE10EE4-4421-4D8C-9AE4-ED727868F10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12</a:t>
            </a:r>
          </a:p>
        </p:txBody>
      </p:sp>
      <p:sp>
        <p:nvSpPr>
          <p:cNvPr id="5" name="矩形 4">
            <a:extLst>
              <a:ext uri="{FF2B5EF4-FFF2-40B4-BE49-F238E27FC236}">
                <a16:creationId xmlns:a16="http://schemas.microsoft.com/office/drawing/2014/main" id="{82CC929E-6F41-4A6D-A91F-C4DAC6ACD219}"/>
              </a:ext>
            </a:extLst>
          </p:cNvPr>
          <p:cNvSpPr>
            <a:spLocks noGrp="1"/>
          </p:cNvSpPr>
          <p:nvPr/>
        </p:nvSpPr>
        <p:spPr>
          <a:xfrm>
            <a:off x="723900" y="1914525"/>
            <a:ext cx="476250" cy="514350"/>
          </a:xfrm>
          <a:prstGeom prst="rect">
            <a:avLst/>
          </a:prstGeom>
          <a:noFill/>
          <a:ln w="0">
            <a:noFill/>
          </a:ln>
        </p:spPr>
        <p:txBody>
          <a:bodyPr wrap="none" lIns="0" tIns="0" rIns="0" bIns="0" anchor="t">
            <a:noAutofit/>
          </a:bodyPr>
          <a:lstStyle/>
          <a:p>
            <a:pPr algn="l">
              <a:defRPr sz="2775" b="0">
                <a:solidFill>
                  <a:srgbClr val="087D86"/>
                </a:solidFill>
                <a:latin typeface="Arial Unicode MS"/>
                <a:ea typeface="Arial Unicode MS"/>
                <a:cs typeface="Arial Unicode MS"/>
              </a:defRPr>
            </a:pPr>
            <a:r>
              <a:rPr sz="2775" b="0">
                <a:solidFill>
                  <a:srgbClr val="087D86"/>
                </a:solidFill>
                <a:latin typeface="Arial Unicode MS"/>
                <a:ea typeface="Arial Unicode MS"/>
                <a:cs typeface="Arial Unicode MS"/>
              </a:rPr>
              <a:t>1</a:t>
            </a:r>
          </a:p>
        </p:txBody>
      </p:sp>
      <p:sp>
        <p:nvSpPr>
          <p:cNvPr id="6" name="矩形 5">
            <a:extLst>
              <a:ext uri="{FF2B5EF4-FFF2-40B4-BE49-F238E27FC236}">
                <a16:creationId xmlns:a16="http://schemas.microsoft.com/office/drawing/2014/main" id="{53F62B8C-E8F6-4D68-8B6F-49B78BBDA4C5}"/>
              </a:ext>
            </a:extLst>
          </p:cNvPr>
          <p:cNvSpPr>
            <a:spLocks noGrp="1"/>
          </p:cNvSpPr>
          <p:nvPr/>
        </p:nvSpPr>
        <p:spPr>
          <a:xfrm>
            <a:off x="1323975" y="1933575"/>
            <a:ext cx="1000125" cy="44767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陈述</a:t>
            </a:r>
          </a:p>
        </p:txBody>
      </p:sp>
      <p:sp>
        <p:nvSpPr>
          <p:cNvPr id="7" name="矩形 6">
            <a:extLst>
              <a:ext uri="{FF2B5EF4-FFF2-40B4-BE49-F238E27FC236}">
                <a16:creationId xmlns:a16="http://schemas.microsoft.com/office/drawing/2014/main" id="{3F3248C6-7966-40C9-B634-73DCA785049D}"/>
              </a:ext>
            </a:extLst>
          </p:cNvPr>
          <p:cNvSpPr>
            <a:spLocks noGrp="1"/>
          </p:cNvSpPr>
          <p:nvPr/>
        </p:nvSpPr>
        <p:spPr>
          <a:xfrm>
            <a:off x="2476500" y="1924050"/>
            <a:ext cx="3429000" cy="352425"/>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做了什么</a:t>
            </a:r>
          </a:p>
        </p:txBody>
      </p:sp>
      <p:sp>
        <p:nvSpPr>
          <p:cNvPr id="8" name="矩形 7">
            <a:extLst>
              <a:ext uri="{FF2B5EF4-FFF2-40B4-BE49-F238E27FC236}">
                <a16:creationId xmlns:a16="http://schemas.microsoft.com/office/drawing/2014/main" id="{D3298053-0562-4F00-9D28-B8C2122D71BA}"/>
              </a:ext>
            </a:extLst>
          </p:cNvPr>
          <p:cNvSpPr>
            <a:spLocks noGrp="1"/>
          </p:cNvSpPr>
          <p:nvPr/>
        </p:nvSpPr>
        <p:spPr>
          <a:xfrm>
            <a:off x="2476500" y="2228850"/>
            <a:ext cx="4391025" cy="41910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“使用了混合检索”</a:t>
            </a:r>
          </a:p>
        </p:txBody>
      </p:sp>
      <p:sp>
        <p:nvSpPr>
          <p:cNvPr id="9" name="矩形 8">
            <a:extLst>
              <a:ext uri="{FF2B5EF4-FFF2-40B4-BE49-F238E27FC236}">
                <a16:creationId xmlns:a16="http://schemas.microsoft.com/office/drawing/2014/main" id="{F37A3CC7-ACF4-47B8-965E-641A22C7FB43}"/>
              </a:ext>
            </a:extLst>
          </p:cNvPr>
          <p:cNvSpPr>
            <a:spLocks noGrp="1"/>
          </p:cNvSpPr>
          <p:nvPr/>
        </p:nvSpPr>
        <p:spPr>
          <a:xfrm>
            <a:off x="723900" y="2676525"/>
            <a:ext cx="476250" cy="514350"/>
          </a:xfrm>
          <a:prstGeom prst="rect">
            <a:avLst/>
          </a:prstGeom>
          <a:noFill/>
          <a:ln w="0">
            <a:noFill/>
          </a:ln>
        </p:spPr>
        <p:txBody>
          <a:bodyPr wrap="none" lIns="0" tIns="0" rIns="0" bIns="0" anchor="t">
            <a:noAutofit/>
          </a:bodyPr>
          <a:lstStyle/>
          <a:p>
            <a:pPr algn="l">
              <a:defRPr sz="2775" b="0">
                <a:solidFill>
                  <a:srgbClr val="087D86"/>
                </a:solidFill>
                <a:latin typeface="Arial Unicode MS"/>
                <a:ea typeface="Arial Unicode MS"/>
                <a:cs typeface="Arial Unicode MS"/>
              </a:defRPr>
            </a:pPr>
            <a:r>
              <a:rPr sz="2775" b="0">
                <a:solidFill>
                  <a:srgbClr val="087D86"/>
                </a:solidFill>
                <a:latin typeface="Arial Unicode MS"/>
                <a:ea typeface="Arial Unicode MS"/>
                <a:cs typeface="Arial Unicode MS"/>
              </a:rPr>
              <a:t>2</a:t>
            </a:r>
          </a:p>
        </p:txBody>
      </p:sp>
      <p:sp>
        <p:nvSpPr>
          <p:cNvPr id="10" name="矩形 9">
            <a:extLst>
              <a:ext uri="{FF2B5EF4-FFF2-40B4-BE49-F238E27FC236}">
                <a16:creationId xmlns:a16="http://schemas.microsoft.com/office/drawing/2014/main" id="{20FA1FB2-D0A0-4965-8822-F5C7DCA6CED1}"/>
              </a:ext>
            </a:extLst>
          </p:cNvPr>
          <p:cNvSpPr>
            <a:spLocks noGrp="1"/>
          </p:cNvSpPr>
          <p:nvPr/>
        </p:nvSpPr>
        <p:spPr>
          <a:xfrm>
            <a:off x="1323975" y="2695575"/>
            <a:ext cx="1000125" cy="44767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细节</a:t>
            </a:r>
          </a:p>
        </p:txBody>
      </p:sp>
      <p:sp>
        <p:nvSpPr>
          <p:cNvPr id="11" name="矩形 10">
            <a:extLst>
              <a:ext uri="{FF2B5EF4-FFF2-40B4-BE49-F238E27FC236}">
                <a16:creationId xmlns:a16="http://schemas.microsoft.com/office/drawing/2014/main" id="{A9E3F3F4-69DE-42A2-ACEC-AEAF14F9EE6E}"/>
              </a:ext>
            </a:extLst>
          </p:cNvPr>
          <p:cNvSpPr>
            <a:spLocks noGrp="1"/>
          </p:cNvSpPr>
          <p:nvPr/>
        </p:nvSpPr>
        <p:spPr>
          <a:xfrm>
            <a:off x="2476500" y="2686050"/>
            <a:ext cx="3429000" cy="352425"/>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具体步骤与参数</a:t>
            </a:r>
          </a:p>
        </p:txBody>
      </p:sp>
      <p:sp>
        <p:nvSpPr>
          <p:cNvPr id="12" name="矩形 11">
            <a:extLst>
              <a:ext uri="{FF2B5EF4-FFF2-40B4-BE49-F238E27FC236}">
                <a16:creationId xmlns:a16="http://schemas.microsoft.com/office/drawing/2014/main" id="{C8779ADD-0C08-46F6-909D-4EF6B0CBF459}"/>
              </a:ext>
            </a:extLst>
          </p:cNvPr>
          <p:cNvSpPr>
            <a:spLocks noGrp="1"/>
          </p:cNvSpPr>
          <p:nvPr/>
        </p:nvSpPr>
        <p:spPr>
          <a:xfrm>
            <a:off x="2476500" y="2990850"/>
            <a:ext cx="4391025" cy="41910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“两路各召回 50 条”</a:t>
            </a:r>
          </a:p>
        </p:txBody>
      </p:sp>
      <p:sp>
        <p:nvSpPr>
          <p:cNvPr id="13" name="矩形 12">
            <a:extLst>
              <a:ext uri="{FF2B5EF4-FFF2-40B4-BE49-F238E27FC236}">
                <a16:creationId xmlns:a16="http://schemas.microsoft.com/office/drawing/2014/main" id="{8959C338-D9F0-4B04-BD6C-2B2FE29A4624}"/>
              </a:ext>
            </a:extLst>
          </p:cNvPr>
          <p:cNvSpPr>
            <a:spLocks noGrp="1"/>
          </p:cNvSpPr>
          <p:nvPr/>
        </p:nvSpPr>
        <p:spPr>
          <a:xfrm>
            <a:off x="723900" y="3438525"/>
            <a:ext cx="476250" cy="514350"/>
          </a:xfrm>
          <a:prstGeom prst="rect">
            <a:avLst/>
          </a:prstGeom>
          <a:noFill/>
          <a:ln w="0">
            <a:noFill/>
          </a:ln>
        </p:spPr>
        <p:txBody>
          <a:bodyPr wrap="none" lIns="0" tIns="0" rIns="0" bIns="0" anchor="t">
            <a:noAutofit/>
          </a:bodyPr>
          <a:lstStyle/>
          <a:p>
            <a:pPr algn="l">
              <a:defRPr sz="2775" b="0">
                <a:solidFill>
                  <a:srgbClr val="087D86"/>
                </a:solidFill>
                <a:latin typeface="Arial Unicode MS"/>
                <a:ea typeface="Arial Unicode MS"/>
                <a:cs typeface="Arial Unicode MS"/>
              </a:defRPr>
            </a:pPr>
            <a:r>
              <a:rPr sz="2775" b="0">
                <a:solidFill>
                  <a:srgbClr val="087D86"/>
                </a:solidFill>
                <a:latin typeface="Arial Unicode MS"/>
                <a:ea typeface="Arial Unicode MS"/>
                <a:cs typeface="Arial Unicode MS"/>
              </a:rPr>
              <a:t>3</a:t>
            </a:r>
          </a:p>
        </p:txBody>
      </p:sp>
      <p:sp>
        <p:nvSpPr>
          <p:cNvPr id="14" name="矩形 13">
            <a:extLst>
              <a:ext uri="{FF2B5EF4-FFF2-40B4-BE49-F238E27FC236}">
                <a16:creationId xmlns:a16="http://schemas.microsoft.com/office/drawing/2014/main" id="{9F58A2A0-137A-4D50-BDD4-88A903CE6F51}"/>
              </a:ext>
            </a:extLst>
          </p:cNvPr>
          <p:cNvSpPr>
            <a:spLocks noGrp="1"/>
          </p:cNvSpPr>
          <p:nvPr/>
        </p:nvSpPr>
        <p:spPr>
          <a:xfrm>
            <a:off x="1323975" y="3457575"/>
            <a:ext cx="1000125" cy="44767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依据</a:t>
            </a:r>
          </a:p>
        </p:txBody>
      </p:sp>
      <p:sp>
        <p:nvSpPr>
          <p:cNvPr id="15" name="矩形 14">
            <a:extLst>
              <a:ext uri="{FF2B5EF4-FFF2-40B4-BE49-F238E27FC236}">
                <a16:creationId xmlns:a16="http://schemas.microsoft.com/office/drawing/2014/main" id="{8FA5BF6A-05CC-4632-96DE-3867247CFDF3}"/>
              </a:ext>
            </a:extLst>
          </p:cNvPr>
          <p:cNvSpPr>
            <a:spLocks noGrp="1"/>
          </p:cNvSpPr>
          <p:nvPr/>
        </p:nvSpPr>
        <p:spPr>
          <a:xfrm>
            <a:off x="2476500" y="3448050"/>
            <a:ext cx="3429000" cy="352425"/>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选择背后的观察</a:t>
            </a:r>
          </a:p>
        </p:txBody>
      </p:sp>
      <p:sp>
        <p:nvSpPr>
          <p:cNvPr id="16" name="矩形 15">
            <a:extLst>
              <a:ext uri="{FF2B5EF4-FFF2-40B4-BE49-F238E27FC236}">
                <a16:creationId xmlns:a16="http://schemas.microsoft.com/office/drawing/2014/main" id="{14F8B825-7BAA-438C-9DC9-0B2F9BE2C875}"/>
              </a:ext>
            </a:extLst>
          </p:cNvPr>
          <p:cNvSpPr>
            <a:spLocks noGrp="1"/>
          </p:cNvSpPr>
          <p:nvPr/>
        </p:nvSpPr>
        <p:spPr>
          <a:xfrm>
            <a:off x="2476500" y="3752850"/>
            <a:ext cx="4391025" cy="41910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为什么采用 RRF</a:t>
            </a:r>
          </a:p>
        </p:txBody>
      </p:sp>
      <p:sp>
        <p:nvSpPr>
          <p:cNvPr id="17" name="矩形 16">
            <a:extLst>
              <a:ext uri="{FF2B5EF4-FFF2-40B4-BE49-F238E27FC236}">
                <a16:creationId xmlns:a16="http://schemas.microsoft.com/office/drawing/2014/main" id="{2173448B-38E0-4BF0-86F4-C57C0F6F840B}"/>
              </a:ext>
            </a:extLst>
          </p:cNvPr>
          <p:cNvSpPr>
            <a:spLocks noGrp="1"/>
          </p:cNvSpPr>
          <p:nvPr/>
        </p:nvSpPr>
        <p:spPr>
          <a:xfrm>
            <a:off x="723900" y="4200525"/>
            <a:ext cx="476250" cy="514350"/>
          </a:xfrm>
          <a:prstGeom prst="rect">
            <a:avLst/>
          </a:prstGeom>
          <a:noFill/>
          <a:ln w="0">
            <a:noFill/>
          </a:ln>
        </p:spPr>
        <p:txBody>
          <a:bodyPr wrap="none" lIns="0" tIns="0" rIns="0" bIns="0" anchor="t">
            <a:noAutofit/>
          </a:bodyPr>
          <a:lstStyle/>
          <a:p>
            <a:pPr algn="l">
              <a:defRPr sz="2775" b="0">
                <a:solidFill>
                  <a:srgbClr val="087D86"/>
                </a:solidFill>
                <a:latin typeface="Arial Unicode MS"/>
                <a:ea typeface="Arial Unicode MS"/>
                <a:cs typeface="Arial Unicode MS"/>
              </a:defRPr>
            </a:pPr>
            <a:r>
              <a:rPr sz="2775" b="0">
                <a:solidFill>
                  <a:srgbClr val="087D86"/>
                </a:solidFill>
                <a:latin typeface="Arial Unicode MS"/>
                <a:ea typeface="Arial Unicode MS"/>
                <a:cs typeface="Arial Unicode MS"/>
              </a:rPr>
              <a:t>4</a:t>
            </a:r>
          </a:p>
        </p:txBody>
      </p:sp>
      <p:sp>
        <p:nvSpPr>
          <p:cNvPr id="18" name="矩形 17">
            <a:extLst>
              <a:ext uri="{FF2B5EF4-FFF2-40B4-BE49-F238E27FC236}">
                <a16:creationId xmlns:a16="http://schemas.microsoft.com/office/drawing/2014/main" id="{DE511E0B-1CAE-4C6D-85C2-678555EDC99D}"/>
              </a:ext>
            </a:extLst>
          </p:cNvPr>
          <p:cNvSpPr>
            <a:spLocks noGrp="1"/>
          </p:cNvSpPr>
          <p:nvPr/>
        </p:nvSpPr>
        <p:spPr>
          <a:xfrm>
            <a:off x="1323975" y="4219575"/>
            <a:ext cx="1000125" cy="44767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取舍</a:t>
            </a:r>
          </a:p>
        </p:txBody>
      </p:sp>
      <p:sp>
        <p:nvSpPr>
          <p:cNvPr id="19" name="矩形 18">
            <a:extLst>
              <a:ext uri="{FF2B5EF4-FFF2-40B4-BE49-F238E27FC236}">
                <a16:creationId xmlns:a16="http://schemas.microsoft.com/office/drawing/2014/main" id="{A6B45EE7-A72A-4598-8968-7D89A8CADF91}"/>
              </a:ext>
            </a:extLst>
          </p:cNvPr>
          <p:cNvSpPr>
            <a:spLocks noGrp="1"/>
          </p:cNvSpPr>
          <p:nvPr/>
        </p:nvSpPr>
        <p:spPr>
          <a:xfrm>
            <a:off x="2476500" y="4210050"/>
            <a:ext cx="3429000" cy="352425"/>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替代方案与代价</a:t>
            </a:r>
          </a:p>
        </p:txBody>
      </p:sp>
      <p:sp>
        <p:nvSpPr>
          <p:cNvPr id="20" name="矩形 19">
            <a:extLst>
              <a:ext uri="{FF2B5EF4-FFF2-40B4-BE49-F238E27FC236}">
                <a16:creationId xmlns:a16="http://schemas.microsoft.com/office/drawing/2014/main" id="{4CC9523E-208B-486C-B893-24FDBEEE14AC}"/>
              </a:ext>
            </a:extLst>
          </p:cNvPr>
          <p:cNvSpPr>
            <a:spLocks noGrp="1"/>
          </p:cNvSpPr>
          <p:nvPr/>
        </p:nvSpPr>
        <p:spPr>
          <a:xfrm>
            <a:off x="2476500" y="4514850"/>
            <a:ext cx="4391025" cy="41910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重排效果与延迟怎样权衡</a:t>
            </a:r>
          </a:p>
        </p:txBody>
      </p:sp>
      <p:sp>
        <p:nvSpPr>
          <p:cNvPr id="21" name="矩形 20">
            <a:extLst>
              <a:ext uri="{FF2B5EF4-FFF2-40B4-BE49-F238E27FC236}">
                <a16:creationId xmlns:a16="http://schemas.microsoft.com/office/drawing/2014/main" id="{725F485D-CD19-408F-BF17-6ECF7E3A28D1}"/>
              </a:ext>
            </a:extLst>
          </p:cNvPr>
          <p:cNvSpPr>
            <a:spLocks noGrp="1"/>
          </p:cNvSpPr>
          <p:nvPr/>
        </p:nvSpPr>
        <p:spPr>
          <a:xfrm>
            <a:off x="723900" y="4962525"/>
            <a:ext cx="476250" cy="514350"/>
          </a:xfrm>
          <a:prstGeom prst="rect">
            <a:avLst/>
          </a:prstGeom>
          <a:noFill/>
          <a:ln w="0">
            <a:noFill/>
          </a:ln>
        </p:spPr>
        <p:txBody>
          <a:bodyPr wrap="none" lIns="0" tIns="0" rIns="0" bIns="0" anchor="t">
            <a:noAutofit/>
          </a:bodyPr>
          <a:lstStyle/>
          <a:p>
            <a:pPr algn="l">
              <a:defRPr sz="2775" b="0">
                <a:solidFill>
                  <a:srgbClr val="087D86"/>
                </a:solidFill>
                <a:latin typeface="Arial Unicode MS"/>
                <a:ea typeface="Arial Unicode MS"/>
                <a:cs typeface="Arial Unicode MS"/>
              </a:defRPr>
            </a:pPr>
            <a:r>
              <a:rPr sz="2775" b="0">
                <a:solidFill>
                  <a:srgbClr val="087D86"/>
                </a:solidFill>
                <a:latin typeface="Arial Unicode MS"/>
                <a:ea typeface="Arial Unicode MS"/>
                <a:cs typeface="Arial Unicode MS"/>
              </a:rPr>
              <a:t>5</a:t>
            </a:r>
          </a:p>
        </p:txBody>
      </p:sp>
      <p:sp>
        <p:nvSpPr>
          <p:cNvPr id="22" name="矩形 21">
            <a:extLst>
              <a:ext uri="{FF2B5EF4-FFF2-40B4-BE49-F238E27FC236}">
                <a16:creationId xmlns:a16="http://schemas.microsoft.com/office/drawing/2014/main" id="{A8D2CF8E-B60A-4C9D-96F1-C32BAF1C0E50}"/>
              </a:ext>
            </a:extLst>
          </p:cNvPr>
          <p:cNvSpPr>
            <a:spLocks noGrp="1"/>
          </p:cNvSpPr>
          <p:nvPr/>
        </p:nvSpPr>
        <p:spPr>
          <a:xfrm>
            <a:off x="1323975" y="4981575"/>
            <a:ext cx="1000125" cy="44767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迁移</a:t>
            </a:r>
          </a:p>
        </p:txBody>
      </p:sp>
      <p:sp>
        <p:nvSpPr>
          <p:cNvPr id="23" name="矩形 22">
            <a:extLst>
              <a:ext uri="{FF2B5EF4-FFF2-40B4-BE49-F238E27FC236}">
                <a16:creationId xmlns:a16="http://schemas.microsoft.com/office/drawing/2014/main" id="{0E4C24AC-3EAD-4EF1-877F-22D31AA62E72}"/>
              </a:ext>
            </a:extLst>
          </p:cNvPr>
          <p:cNvSpPr>
            <a:spLocks noGrp="1"/>
          </p:cNvSpPr>
          <p:nvPr/>
        </p:nvSpPr>
        <p:spPr>
          <a:xfrm>
            <a:off x="2476500" y="4972050"/>
            <a:ext cx="3429000" cy="352425"/>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新约束下的判断</a:t>
            </a:r>
          </a:p>
        </p:txBody>
      </p:sp>
      <p:sp>
        <p:nvSpPr>
          <p:cNvPr id="24" name="矩形 23">
            <a:extLst>
              <a:ext uri="{FF2B5EF4-FFF2-40B4-BE49-F238E27FC236}">
                <a16:creationId xmlns:a16="http://schemas.microsoft.com/office/drawing/2014/main" id="{3C38D204-33C7-438E-89FF-C3F253651241}"/>
              </a:ext>
            </a:extLst>
          </p:cNvPr>
          <p:cNvSpPr>
            <a:spLocks noGrp="1"/>
          </p:cNvSpPr>
          <p:nvPr/>
        </p:nvSpPr>
        <p:spPr>
          <a:xfrm>
            <a:off x="2476500" y="5276850"/>
            <a:ext cx="4391025" cy="41910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文档规模扩大后的瓶颈</a:t>
            </a:r>
          </a:p>
        </p:txBody>
      </p:sp>
      <p:sp>
        <p:nvSpPr>
          <p:cNvPr id="25" name="矩形 24">
            <a:extLst>
              <a:ext uri="{FF2B5EF4-FFF2-40B4-BE49-F238E27FC236}">
                <a16:creationId xmlns:a16="http://schemas.microsoft.com/office/drawing/2014/main" id="{D3138882-35EF-4490-9A72-6F756A4F1465}"/>
              </a:ext>
            </a:extLst>
          </p:cNvPr>
          <p:cNvSpPr>
            <a:spLocks noGrp="1"/>
          </p:cNvSpPr>
          <p:nvPr/>
        </p:nvSpPr>
        <p:spPr>
          <a:xfrm>
            <a:off x="7524750" y="2009775"/>
            <a:ext cx="4000500" cy="523875"/>
          </a:xfrm>
          <a:prstGeom prst="rect">
            <a:avLst/>
          </a:prstGeom>
          <a:noFill/>
          <a:ln w="0">
            <a:noFill/>
          </a:ln>
        </p:spPr>
        <p:txBody>
          <a:bodyPr wrap="none" lIns="0" tIns="0" rIns="0" bIns="0" anchor="t">
            <a:noAutofit/>
          </a:bodyPr>
          <a:lstStyle/>
          <a:p>
            <a:pPr algn="l">
              <a:defRPr sz="2325" b="1">
                <a:solidFill>
                  <a:srgbClr val="087D86"/>
                </a:solidFill>
                <a:latin typeface="Arial Unicode MS"/>
                <a:ea typeface="Arial Unicode MS"/>
                <a:cs typeface="Arial Unicode MS"/>
              </a:defRPr>
            </a:pPr>
            <a:r>
              <a:rPr sz="2325" b="1">
                <a:solidFill>
                  <a:srgbClr val="087D86"/>
                </a:solidFill>
                <a:latin typeface="Arial Unicode MS"/>
                <a:ea typeface="Arial Unicode MS"/>
                <a:cs typeface="Arial Unicode MS"/>
              </a:rPr>
              <a:t>报告中的边界说明</a:t>
            </a:r>
          </a:p>
        </p:txBody>
      </p:sp>
      <p:sp>
        <p:nvSpPr>
          <p:cNvPr id="26" name="矩形 25">
            <a:extLst>
              <a:ext uri="{FF2B5EF4-FFF2-40B4-BE49-F238E27FC236}">
                <a16:creationId xmlns:a16="http://schemas.microsoft.com/office/drawing/2014/main" id="{2FF923B0-E70E-49BF-93AC-99CD28231EF4}"/>
              </a:ext>
            </a:extLst>
          </p:cNvPr>
          <p:cNvSpPr>
            <a:spLocks noGrp="1"/>
          </p:cNvSpPr>
          <p:nvPr/>
        </p:nvSpPr>
        <p:spPr>
          <a:xfrm>
            <a:off x="7534275" y="2905125"/>
            <a:ext cx="3933825" cy="2895600"/>
          </a:xfrm>
          <a:prstGeom prst="rect">
            <a:avLst/>
          </a:prstGeom>
          <a:noFill/>
          <a:ln w="0">
            <a:noFill/>
          </a:ln>
        </p:spPr>
        <p:txBody>
          <a:bodyPr wrap="none" lIns="0" tIns="0" rIns="0" bIns="0" anchor="t">
            <a:noAutofit/>
          </a:bodyPr>
          <a:lstStyle/>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示例中，候选人已说明</a:t>
            </a:r>
          </a:p>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具体做法与参数，</a:t>
            </a:r>
          </a:p>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尚未解释选择依据。</a:t>
            </a:r>
          </a:p>
          <a:p>
            <a:endParaRPr sz="2100" b="0">
              <a:solidFill>
                <a:srgbClr val="16313C"/>
              </a:solidFill>
              <a:latin typeface="Arial Unicode MS"/>
              <a:ea typeface="Arial Unicode MS"/>
              <a:cs typeface="Arial Unicode MS"/>
            </a:endParaRPr>
          </a:p>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报告据此记录第 2 层支持，</a:t>
            </a:r>
          </a:p>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以及第 3 层的证据缺口。</a:t>
            </a:r>
          </a:p>
        </p:txBody>
      </p:sp>
    </p:spTree>
    <p:extLst>
      <p:ext uri="{BB962C8B-B14F-4D97-AF65-F5344CB8AC3E}">
        <p14:creationId xmlns:p14="http://schemas.microsoft.com/office/powerpoint/2010/main" val="2357144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267CA1F-2E1A-2FB3-C0D2-CF14889F310E}"/>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10EE8714-A49E-B0A1-966C-3B0393F5460A}"/>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目录</a:t>
            </a:r>
          </a:p>
        </p:txBody>
      </p:sp>
      <p:sp>
        <p:nvSpPr>
          <p:cNvPr id="2" name="矩形 1">
            <a:extLst>
              <a:ext uri="{FF2B5EF4-FFF2-40B4-BE49-F238E27FC236}">
                <a16:creationId xmlns:a16="http://schemas.microsoft.com/office/drawing/2014/main" id="{9F3EF8EF-BEF2-CB4A-AF75-DDA41D4C4A92}"/>
              </a:ext>
            </a:extLst>
          </p:cNvPr>
          <p:cNvSpPr>
            <a:spLocks noGrp="1"/>
          </p:cNvSpPr>
          <p:nvPr/>
        </p:nvSpPr>
        <p:spPr>
          <a:xfrm>
            <a:off x="3106700" y="16764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01</a:t>
            </a:r>
          </a:p>
        </p:txBody>
      </p:sp>
      <p:sp>
        <p:nvSpPr>
          <p:cNvPr id="3" name="矩形 2">
            <a:extLst>
              <a:ext uri="{FF2B5EF4-FFF2-40B4-BE49-F238E27FC236}">
                <a16:creationId xmlns:a16="http://schemas.microsoft.com/office/drawing/2014/main" id="{A5BC42BA-EEA5-4809-A2A8-E114C000F3A0}"/>
              </a:ext>
            </a:extLst>
          </p:cNvPr>
          <p:cNvSpPr>
            <a:spLocks noGrp="1"/>
          </p:cNvSpPr>
          <p:nvPr/>
        </p:nvSpPr>
        <p:spPr>
          <a:xfrm>
            <a:off x="5447635" y="1681162"/>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sz="2400" dirty="0" err="1">
                <a:solidFill>
                  <a:srgbClr val="16313C"/>
                </a:solidFill>
                <a:latin typeface="Arial Unicode MS"/>
                <a:ea typeface="Arial Unicode MS"/>
                <a:cs typeface="Arial Unicode MS"/>
              </a:rPr>
              <a:t>项目定位与使用流程</a:t>
            </a:r>
            <a:endParaRPr sz="2400" dirty="0">
              <a:solidFill>
                <a:srgbClr val="16313C"/>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F96A4BFA-6D45-7024-C874-EDACB97E24F1}"/>
              </a:ext>
            </a:extLst>
          </p:cNvPr>
          <p:cNvSpPr>
            <a:spLocks noGrp="1"/>
          </p:cNvSpPr>
          <p:nvPr/>
        </p:nvSpPr>
        <p:spPr>
          <a:xfrm>
            <a:off x="3106700" y="2681287"/>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02</a:t>
            </a:r>
          </a:p>
        </p:txBody>
      </p:sp>
      <p:sp>
        <p:nvSpPr>
          <p:cNvPr id="6" name="矩形 5">
            <a:extLst>
              <a:ext uri="{FF2B5EF4-FFF2-40B4-BE49-F238E27FC236}">
                <a16:creationId xmlns:a16="http://schemas.microsoft.com/office/drawing/2014/main" id="{8EB29EEE-1CFA-F9FC-4353-7E6759F2BDA5}"/>
              </a:ext>
            </a:extLst>
          </p:cNvPr>
          <p:cNvSpPr>
            <a:spLocks noGrp="1"/>
          </p:cNvSpPr>
          <p:nvPr/>
        </p:nvSpPr>
        <p:spPr>
          <a:xfrm>
            <a:off x="5447635" y="2681287"/>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面试架构与评估逻辑</a:t>
            </a:r>
            <a:endParaRPr sz="2400" b="0" dirty="0">
              <a:solidFill>
                <a:srgbClr val="16313C"/>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9A44419C-D886-23E0-D79B-7FAA1DF61A67}"/>
              </a:ext>
            </a:extLst>
          </p:cNvPr>
          <p:cNvSpPr>
            <a:spLocks noGrp="1"/>
          </p:cNvSpPr>
          <p:nvPr/>
        </p:nvSpPr>
        <p:spPr>
          <a:xfrm>
            <a:off x="3106700" y="3533776"/>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03</a:t>
            </a:r>
          </a:p>
        </p:txBody>
      </p:sp>
      <p:sp>
        <p:nvSpPr>
          <p:cNvPr id="9" name="矩形 8">
            <a:extLst>
              <a:ext uri="{FF2B5EF4-FFF2-40B4-BE49-F238E27FC236}">
                <a16:creationId xmlns:a16="http://schemas.microsoft.com/office/drawing/2014/main" id="{110C3EF7-8654-86BA-1CC2-50042951308F}"/>
              </a:ext>
            </a:extLst>
          </p:cNvPr>
          <p:cNvSpPr>
            <a:spLocks noGrp="1"/>
          </p:cNvSpPr>
          <p:nvPr/>
        </p:nvSpPr>
        <p:spPr>
          <a:xfrm>
            <a:off x="5060774" y="3433762"/>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3200" u="sng" dirty="0" err="1">
                <a:solidFill>
                  <a:srgbClr val="FF0000"/>
                </a:solidFill>
                <a:latin typeface="Arial Unicode MS"/>
                <a:ea typeface="Arial Unicode MS"/>
                <a:cs typeface="Arial Unicode MS"/>
              </a:rPr>
              <a:t>知识库与自适应</a:t>
            </a:r>
            <a:r>
              <a:rPr sz="3200" u="sng" dirty="0">
                <a:solidFill>
                  <a:srgbClr val="FF0000"/>
                </a:solidFill>
                <a:latin typeface="Arial Unicode MS"/>
                <a:ea typeface="Arial Unicode MS"/>
                <a:cs typeface="Arial Unicode MS"/>
              </a:rPr>
              <a:t> RAG</a:t>
            </a:r>
          </a:p>
        </p:txBody>
      </p:sp>
      <p:sp>
        <p:nvSpPr>
          <p:cNvPr id="11" name="矩形 10">
            <a:extLst>
              <a:ext uri="{FF2B5EF4-FFF2-40B4-BE49-F238E27FC236}">
                <a16:creationId xmlns:a16="http://schemas.microsoft.com/office/drawing/2014/main" id="{B3199ECA-8C1F-C1E9-52D1-7D0D52985850}"/>
              </a:ext>
            </a:extLst>
          </p:cNvPr>
          <p:cNvSpPr>
            <a:spLocks noGrp="1"/>
          </p:cNvSpPr>
          <p:nvPr/>
        </p:nvSpPr>
        <p:spPr>
          <a:xfrm>
            <a:off x="3106700" y="44577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04</a:t>
            </a:r>
          </a:p>
        </p:txBody>
      </p:sp>
      <p:sp>
        <p:nvSpPr>
          <p:cNvPr id="12" name="矩形 11">
            <a:extLst>
              <a:ext uri="{FF2B5EF4-FFF2-40B4-BE49-F238E27FC236}">
                <a16:creationId xmlns:a16="http://schemas.microsoft.com/office/drawing/2014/main" id="{BCF39D49-F70D-E81A-0C73-A67675A6B129}"/>
              </a:ext>
            </a:extLst>
          </p:cNvPr>
          <p:cNvSpPr>
            <a:spLocks noGrp="1"/>
          </p:cNvSpPr>
          <p:nvPr/>
        </p:nvSpPr>
        <p:spPr>
          <a:xfrm>
            <a:off x="5447635" y="445770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会话管理与运行保障</a:t>
            </a:r>
            <a:endParaRPr sz="2400" b="0" dirty="0">
              <a:solidFill>
                <a:srgbClr val="16313C"/>
              </a:solidFill>
              <a:latin typeface="Arial Unicode MS"/>
              <a:ea typeface="Arial Unicode MS"/>
              <a:cs typeface="Arial Unicode MS"/>
            </a:endParaRPr>
          </a:p>
        </p:txBody>
      </p:sp>
      <p:sp>
        <p:nvSpPr>
          <p:cNvPr id="17" name="矩形 16">
            <a:extLst>
              <a:ext uri="{FF2B5EF4-FFF2-40B4-BE49-F238E27FC236}">
                <a16:creationId xmlns:a16="http://schemas.microsoft.com/office/drawing/2014/main" id="{56D07896-2E44-BB82-3A38-E6C47FAF0B1E}"/>
              </a:ext>
            </a:extLst>
          </p:cNvPr>
          <p:cNvSpPr>
            <a:spLocks noGrp="1"/>
          </p:cNvSpPr>
          <p:nvPr/>
        </p:nvSpPr>
        <p:spPr>
          <a:xfrm>
            <a:off x="3106700" y="5248275"/>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06</a:t>
            </a:r>
          </a:p>
        </p:txBody>
      </p:sp>
      <p:sp>
        <p:nvSpPr>
          <p:cNvPr id="18" name="矩形 17">
            <a:extLst>
              <a:ext uri="{FF2B5EF4-FFF2-40B4-BE49-F238E27FC236}">
                <a16:creationId xmlns:a16="http://schemas.microsoft.com/office/drawing/2014/main" id="{CA1DACEF-9433-F6CF-3301-1A9DAF2BF0B2}"/>
              </a:ext>
            </a:extLst>
          </p:cNvPr>
          <p:cNvSpPr>
            <a:spLocks noGrp="1"/>
          </p:cNvSpPr>
          <p:nvPr/>
        </p:nvSpPr>
        <p:spPr>
          <a:xfrm>
            <a:off x="5447635" y="524827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lang="zh-CN" altLang="en-US" sz="2400" dirty="0">
                <a:solidFill>
                  <a:srgbClr val="16313C"/>
                </a:solidFill>
                <a:latin typeface="Arial Unicode MS"/>
                <a:ea typeface="Arial Unicode MS"/>
                <a:cs typeface="Arial Unicode MS"/>
              </a:rPr>
              <a:t>报告展示</a:t>
            </a:r>
            <a:r>
              <a:rPr sz="2400" b="0" dirty="0" err="1">
                <a:solidFill>
                  <a:srgbClr val="16313C"/>
                </a:solidFill>
                <a:latin typeface="Arial Unicode MS"/>
                <a:ea typeface="Arial Unicode MS"/>
                <a:cs typeface="Arial Unicode MS"/>
              </a:rPr>
              <a:t>与参赛信息</a:t>
            </a:r>
            <a:endParaRPr sz="2400" b="0" dirty="0">
              <a:solidFill>
                <a:srgbClr val="16313C"/>
              </a:solidFill>
              <a:latin typeface="Arial Unicode MS"/>
              <a:ea typeface="Arial Unicode MS"/>
              <a:cs typeface="Arial Unicode MS"/>
            </a:endParaRPr>
          </a:p>
        </p:txBody>
      </p:sp>
      <p:sp>
        <p:nvSpPr>
          <p:cNvPr id="20" name="矩形 19">
            <a:extLst>
              <a:ext uri="{FF2B5EF4-FFF2-40B4-BE49-F238E27FC236}">
                <a16:creationId xmlns:a16="http://schemas.microsoft.com/office/drawing/2014/main" id="{74D51DFA-AC2F-8DFB-9201-9230982794F1}"/>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13</a:t>
            </a:r>
          </a:p>
        </p:txBody>
      </p:sp>
    </p:spTree>
    <p:extLst>
      <p:ext uri="{BB962C8B-B14F-4D97-AF65-F5344CB8AC3E}">
        <p14:creationId xmlns:p14="http://schemas.microsoft.com/office/powerpoint/2010/main" val="2988500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554D891C-6840-422F-A4DB-1BC01DDFB352}"/>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知识工程：把面</a:t>
            </a:r>
            <a:r>
              <a:rPr lang="zh-CN" altLang="en-US" sz="3300" b="1" dirty="0">
                <a:solidFill>
                  <a:srgbClr val="16313C"/>
                </a:solidFill>
                <a:latin typeface="Arial Unicode MS"/>
                <a:ea typeface="Arial Unicode MS"/>
                <a:cs typeface="Arial Unicode MS"/>
              </a:rPr>
              <a:t>经</a:t>
            </a:r>
            <a:r>
              <a:rPr sz="3300" b="1" dirty="0" err="1">
                <a:solidFill>
                  <a:srgbClr val="16313C"/>
                </a:solidFill>
                <a:latin typeface="Arial Unicode MS"/>
                <a:ea typeface="Arial Unicode MS"/>
                <a:cs typeface="Arial Unicode MS"/>
              </a:rPr>
              <a:t>转化为追问能力</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2956E5B0-F2EA-4B0A-B9C8-5C53192B4AE9}"/>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我们构建了覆盖四类技术方向的知识处理流水线，为智能体提供可检索、可追溯的核验知识</a:t>
            </a:r>
          </a:p>
        </p:txBody>
      </p:sp>
      <p:sp>
        <p:nvSpPr>
          <p:cNvPr id="3" name="矩形 2">
            <a:extLst>
              <a:ext uri="{FF2B5EF4-FFF2-40B4-BE49-F238E27FC236}">
                <a16:creationId xmlns:a16="http://schemas.microsoft.com/office/drawing/2014/main" id="{8584C1DB-0C75-40A9-891D-E9D4906C07EF}"/>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defRPr sz="1350" b="0">
                <a:solidFill>
                  <a:srgbClr val="526874"/>
                </a:solidFill>
                <a:latin typeface="Arial Unicode MS"/>
                <a:ea typeface="Arial Unicode MS"/>
                <a:cs typeface="Arial Unicode MS"/>
              </a:defRPr>
            </a:pPr>
            <a:r>
              <a:rPr sz="1350" b="0" dirty="0" err="1">
                <a:solidFill>
                  <a:srgbClr val="526874"/>
                </a:solidFill>
                <a:latin typeface="Arial Unicode MS"/>
                <a:ea typeface="Arial Unicode MS"/>
                <a:cs typeface="Arial Unicode MS"/>
              </a:rPr>
              <a:t>知识素材来自</a:t>
            </a:r>
            <a:r>
              <a:rPr lang="en" altLang="zh-CN" dirty="0"/>
              <a:t>xyma2003/interview-</a:t>
            </a:r>
            <a:r>
              <a:rPr lang="en" altLang="zh-CN" dirty="0" err="1"/>
              <a:t>bagu</a:t>
            </a:r>
            <a:r>
              <a:rPr sz="1350" b="0" dirty="0">
                <a:solidFill>
                  <a:srgbClr val="526874"/>
                </a:solidFill>
                <a:latin typeface="Arial Unicode MS"/>
                <a:ea typeface="Arial Unicode MS"/>
                <a:cs typeface="Arial Unicode MS"/>
              </a:rPr>
              <a:t>，</a:t>
            </a:r>
            <a:r>
              <a:rPr sz="1350" b="0" dirty="0" err="1">
                <a:solidFill>
                  <a:srgbClr val="526874"/>
                </a:solidFill>
                <a:latin typeface="Arial Unicode MS"/>
                <a:ea typeface="Arial Unicode MS"/>
                <a:cs typeface="Arial Unicode MS"/>
              </a:rPr>
              <a:t>原题</a:t>
            </a:r>
            <a:r>
              <a:rPr lang="en-US" sz="1350" dirty="0" err="1">
                <a:solidFill>
                  <a:srgbClr val="526874"/>
                </a:solidFill>
                <a:latin typeface="Arial Unicode MS"/>
                <a:ea typeface="Arial Unicode MS"/>
                <a:cs typeface="Arial Unicode MS"/>
              </a:rPr>
              <a:t>与</a:t>
            </a:r>
            <a:r>
              <a:rPr sz="1350" b="0" dirty="0" err="1">
                <a:solidFill>
                  <a:srgbClr val="526874"/>
                </a:solidFill>
                <a:latin typeface="Arial Unicode MS"/>
                <a:ea typeface="Arial Unicode MS"/>
                <a:cs typeface="Arial Unicode MS"/>
              </a:rPr>
              <a:t>来源链接随项目保留</a:t>
            </a:r>
            <a:r>
              <a:rPr sz="1350" b="0" dirty="0">
                <a:solidFill>
                  <a:srgbClr val="526874"/>
                </a:solidFill>
                <a:latin typeface="Arial Unicode MS"/>
                <a:ea typeface="Arial Unicode MS"/>
                <a:cs typeface="Arial Unicode MS"/>
              </a:rPr>
              <a:t>。</a:t>
            </a:r>
          </a:p>
        </p:txBody>
      </p:sp>
      <p:sp>
        <p:nvSpPr>
          <p:cNvPr id="4" name="矩形 3">
            <a:extLst>
              <a:ext uri="{FF2B5EF4-FFF2-40B4-BE49-F238E27FC236}">
                <a16:creationId xmlns:a16="http://schemas.microsoft.com/office/drawing/2014/main" id="{7F6AA518-3E04-468B-928E-C4A3A745E8D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14</a:t>
            </a:r>
          </a:p>
        </p:txBody>
      </p:sp>
      <p:sp>
        <p:nvSpPr>
          <p:cNvPr id="5" name="矩形 4">
            <a:extLst>
              <a:ext uri="{FF2B5EF4-FFF2-40B4-BE49-F238E27FC236}">
                <a16:creationId xmlns:a16="http://schemas.microsoft.com/office/drawing/2014/main" id="{1FD35484-52B1-4438-954E-54FD3ABBBBFF}"/>
              </a:ext>
            </a:extLst>
          </p:cNvPr>
          <p:cNvSpPr>
            <a:spLocks noGrp="1"/>
          </p:cNvSpPr>
          <p:nvPr/>
        </p:nvSpPr>
        <p:spPr>
          <a:xfrm>
            <a:off x="685800" y="1762125"/>
            <a:ext cx="4333875" cy="1323975"/>
          </a:xfrm>
          <a:prstGeom prst="rect">
            <a:avLst/>
          </a:prstGeom>
          <a:noFill/>
          <a:ln w="0">
            <a:noFill/>
          </a:ln>
        </p:spPr>
        <p:txBody>
          <a:bodyPr wrap="none" lIns="0" tIns="0" rIns="0" bIns="0" anchor="t">
            <a:noAutofit/>
          </a:bodyPr>
          <a:lstStyle/>
          <a:p>
            <a:pPr algn="l">
              <a:defRPr sz="7800" b="1">
                <a:solidFill>
                  <a:srgbClr val="087D86"/>
                </a:solidFill>
                <a:latin typeface="Arial Unicode MS"/>
                <a:ea typeface="Arial Unicode MS"/>
                <a:cs typeface="Arial Unicode MS"/>
              </a:defRPr>
            </a:pPr>
            <a:r>
              <a:rPr sz="7800" b="1">
                <a:solidFill>
                  <a:srgbClr val="087D86"/>
                </a:solidFill>
                <a:latin typeface="Arial Unicode MS"/>
                <a:ea typeface="Arial Unicode MS"/>
                <a:cs typeface="Arial Unicode MS"/>
              </a:rPr>
              <a:t>338</a:t>
            </a:r>
          </a:p>
        </p:txBody>
      </p:sp>
      <p:sp>
        <p:nvSpPr>
          <p:cNvPr id="6" name="矩形 5">
            <a:extLst>
              <a:ext uri="{FF2B5EF4-FFF2-40B4-BE49-F238E27FC236}">
                <a16:creationId xmlns:a16="http://schemas.microsoft.com/office/drawing/2014/main" id="{60AD2D41-FB74-47F3-BF56-8918863E0458}"/>
              </a:ext>
            </a:extLst>
          </p:cNvPr>
          <p:cNvSpPr>
            <a:spLocks noGrp="1"/>
          </p:cNvSpPr>
          <p:nvPr/>
        </p:nvSpPr>
        <p:spPr>
          <a:xfrm>
            <a:off x="762000" y="3133725"/>
            <a:ext cx="3619500" cy="476250"/>
          </a:xfrm>
          <a:prstGeom prst="rect">
            <a:avLst/>
          </a:prstGeom>
          <a:noFill/>
          <a:ln w="0">
            <a:noFill/>
          </a:ln>
        </p:spPr>
        <p:txBody>
          <a:bodyPr wrap="none" lIns="0" tIns="0" rIns="0" bIns="0" anchor="t">
            <a:noAutofit/>
          </a:bodyPr>
          <a:lstStyle/>
          <a:p>
            <a:pPr algn="l">
              <a:defRPr sz="2175" b="0">
                <a:solidFill>
                  <a:srgbClr val="16313C"/>
                </a:solidFill>
                <a:latin typeface="Arial Unicode MS"/>
                <a:ea typeface="Arial Unicode MS"/>
                <a:cs typeface="Arial Unicode MS"/>
              </a:defRPr>
            </a:pPr>
            <a:r>
              <a:rPr sz="2175" b="0">
                <a:solidFill>
                  <a:srgbClr val="16313C"/>
                </a:solidFill>
                <a:latin typeface="Arial Unicode MS"/>
                <a:ea typeface="Arial Unicode MS"/>
                <a:cs typeface="Arial Unicode MS"/>
              </a:rPr>
              <a:t>张核验卡</a:t>
            </a:r>
          </a:p>
        </p:txBody>
      </p:sp>
      <p:sp>
        <p:nvSpPr>
          <p:cNvPr id="7" name="矩形 6">
            <a:extLst>
              <a:ext uri="{FF2B5EF4-FFF2-40B4-BE49-F238E27FC236}">
                <a16:creationId xmlns:a16="http://schemas.microsoft.com/office/drawing/2014/main" id="{7F0E56A0-2A75-46F8-BAD7-8BD599695D21}"/>
              </a:ext>
            </a:extLst>
          </p:cNvPr>
          <p:cNvSpPr>
            <a:spLocks noGrp="1"/>
          </p:cNvSpPr>
          <p:nvPr/>
        </p:nvSpPr>
        <p:spPr>
          <a:xfrm>
            <a:off x="762000" y="3933825"/>
            <a:ext cx="1905000" cy="381000"/>
          </a:xfrm>
          <a:prstGeom prst="rect">
            <a:avLst/>
          </a:prstGeom>
          <a:noFill/>
          <a:ln w="0">
            <a:noFill/>
          </a:ln>
        </p:spPr>
        <p:txBody>
          <a:bodyPr wrap="none" lIns="0" tIns="0" rIns="0" bIns="0" anchor="t">
            <a:noAutofit/>
          </a:bodyPr>
          <a:lstStyle/>
          <a:p>
            <a:pPr algn="l">
              <a:defRPr sz="2025" b="0">
                <a:solidFill>
                  <a:srgbClr val="526874"/>
                </a:solidFill>
                <a:latin typeface="Arial Unicode MS"/>
                <a:ea typeface="Arial Unicode MS"/>
                <a:cs typeface="Arial Unicode MS"/>
              </a:defRPr>
            </a:pPr>
            <a:r>
              <a:rPr sz="2025" b="0">
                <a:solidFill>
                  <a:srgbClr val="526874"/>
                </a:solidFill>
                <a:latin typeface="Arial Unicode MS"/>
                <a:ea typeface="Arial Unicode MS"/>
                <a:cs typeface="Arial Unicode MS"/>
              </a:rPr>
              <a:t>AI / Agent</a:t>
            </a:r>
          </a:p>
        </p:txBody>
      </p:sp>
      <p:sp>
        <p:nvSpPr>
          <p:cNvPr id="8" name="矩形 7">
            <a:extLst>
              <a:ext uri="{FF2B5EF4-FFF2-40B4-BE49-F238E27FC236}">
                <a16:creationId xmlns:a16="http://schemas.microsoft.com/office/drawing/2014/main" id="{CA64BC3A-E89E-4517-B36A-57C691D4E5B8}"/>
              </a:ext>
            </a:extLst>
          </p:cNvPr>
          <p:cNvSpPr>
            <a:spLocks noGrp="1"/>
          </p:cNvSpPr>
          <p:nvPr/>
        </p:nvSpPr>
        <p:spPr>
          <a:xfrm>
            <a:off x="3000375" y="3933825"/>
            <a:ext cx="1238250" cy="381000"/>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106</a:t>
            </a:r>
          </a:p>
        </p:txBody>
      </p:sp>
      <p:sp>
        <p:nvSpPr>
          <p:cNvPr id="9" name="矩形 8">
            <a:extLst>
              <a:ext uri="{FF2B5EF4-FFF2-40B4-BE49-F238E27FC236}">
                <a16:creationId xmlns:a16="http://schemas.microsoft.com/office/drawing/2014/main" id="{C8C84BE9-DFD2-4C7E-9B07-CB6C37E176CA}"/>
              </a:ext>
            </a:extLst>
          </p:cNvPr>
          <p:cNvSpPr>
            <a:spLocks noGrp="1"/>
          </p:cNvSpPr>
          <p:nvPr/>
        </p:nvSpPr>
        <p:spPr>
          <a:xfrm>
            <a:off x="762000" y="4400550"/>
            <a:ext cx="1905000" cy="381000"/>
          </a:xfrm>
          <a:prstGeom prst="rect">
            <a:avLst/>
          </a:prstGeom>
          <a:noFill/>
          <a:ln w="0">
            <a:noFill/>
          </a:ln>
        </p:spPr>
        <p:txBody>
          <a:bodyPr wrap="none" lIns="0" tIns="0" rIns="0" bIns="0" anchor="t">
            <a:noAutofit/>
          </a:bodyPr>
          <a:lstStyle/>
          <a:p>
            <a:pPr algn="l">
              <a:defRPr sz="2025" b="0">
                <a:solidFill>
                  <a:srgbClr val="526874"/>
                </a:solidFill>
                <a:latin typeface="Arial Unicode MS"/>
                <a:ea typeface="Arial Unicode MS"/>
                <a:cs typeface="Arial Unicode MS"/>
              </a:defRPr>
            </a:pPr>
            <a:r>
              <a:rPr sz="2025" b="0">
                <a:solidFill>
                  <a:srgbClr val="526874"/>
                </a:solidFill>
                <a:latin typeface="Arial Unicode MS"/>
                <a:ea typeface="Arial Unicode MS"/>
                <a:cs typeface="Arial Unicode MS"/>
              </a:rPr>
              <a:t>前端</a:t>
            </a:r>
          </a:p>
        </p:txBody>
      </p:sp>
      <p:sp>
        <p:nvSpPr>
          <p:cNvPr id="10" name="矩形 9">
            <a:extLst>
              <a:ext uri="{FF2B5EF4-FFF2-40B4-BE49-F238E27FC236}">
                <a16:creationId xmlns:a16="http://schemas.microsoft.com/office/drawing/2014/main" id="{66A39E21-31B6-4C93-900A-51293DE88771}"/>
              </a:ext>
            </a:extLst>
          </p:cNvPr>
          <p:cNvSpPr>
            <a:spLocks noGrp="1"/>
          </p:cNvSpPr>
          <p:nvPr/>
        </p:nvSpPr>
        <p:spPr>
          <a:xfrm>
            <a:off x="3000375" y="4400550"/>
            <a:ext cx="1238250" cy="381000"/>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68</a:t>
            </a:r>
          </a:p>
        </p:txBody>
      </p:sp>
      <p:sp>
        <p:nvSpPr>
          <p:cNvPr id="11" name="矩形 10">
            <a:extLst>
              <a:ext uri="{FF2B5EF4-FFF2-40B4-BE49-F238E27FC236}">
                <a16:creationId xmlns:a16="http://schemas.microsoft.com/office/drawing/2014/main" id="{F30F100B-1FB0-4320-9136-4FCE8F4D35C6}"/>
              </a:ext>
            </a:extLst>
          </p:cNvPr>
          <p:cNvSpPr>
            <a:spLocks noGrp="1"/>
          </p:cNvSpPr>
          <p:nvPr/>
        </p:nvSpPr>
        <p:spPr>
          <a:xfrm>
            <a:off x="762000" y="4867275"/>
            <a:ext cx="1905000" cy="381000"/>
          </a:xfrm>
          <a:prstGeom prst="rect">
            <a:avLst/>
          </a:prstGeom>
          <a:noFill/>
          <a:ln w="0">
            <a:noFill/>
          </a:ln>
        </p:spPr>
        <p:txBody>
          <a:bodyPr wrap="none" lIns="0" tIns="0" rIns="0" bIns="0" anchor="t">
            <a:noAutofit/>
          </a:bodyPr>
          <a:lstStyle/>
          <a:p>
            <a:pPr algn="l">
              <a:defRPr sz="2025" b="0">
                <a:solidFill>
                  <a:srgbClr val="526874"/>
                </a:solidFill>
                <a:latin typeface="Arial Unicode MS"/>
                <a:ea typeface="Arial Unicode MS"/>
                <a:cs typeface="Arial Unicode MS"/>
              </a:defRPr>
            </a:pPr>
            <a:r>
              <a:rPr sz="2025" b="0">
                <a:solidFill>
                  <a:srgbClr val="526874"/>
                </a:solidFill>
                <a:latin typeface="Arial Unicode MS"/>
                <a:ea typeface="Arial Unicode MS"/>
                <a:cs typeface="Arial Unicode MS"/>
              </a:rPr>
              <a:t>后端</a:t>
            </a:r>
          </a:p>
        </p:txBody>
      </p:sp>
      <p:sp>
        <p:nvSpPr>
          <p:cNvPr id="12" name="矩形 11">
            <a:extLst>
              <a:ext uri="{FF2B5EF4-FFF2-40B4-BE49-F238E27FC236}">
                <a16:creationId xmlns:a16="http://schemas.microsoft.com/office/drawing/2014/main" id="{9A703774-641F-4CEE-82D1-C4EE461D0078}"/>
              </a:ext>
            </a:extLst>
          </p:cNvPr>
          <p:cNvSpPr>
            <a:spLocks noGrp="1"/>
          </p:cNvSpPr>
          <p:nvPr/>
        </p:nvSpPr>
        <p:spPr>
          <a:xfrm>
            <a:off x="3000375" y="4867275"/>
            <a:ext cx="1238250" cy="381000"/>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64</a:t>
            </a:r>
          </a:p>
        </p:txBody>
      </p:sp>
      <p:sp>
        <p:nvSpPr>
          <p:cNvPr id="13" name="矩形 12">
            <a:extLst>
              <a:ext uri="{FF2B5EF4-FFF2-40B4-BE49-F238E27FC236}">
                <a16:creationId xmlns:a16="http://schemas.microsoft.com/office/drawing/2014/main" id="{A9F78E25-C1D8-45A7-8E79-34A55D73CAC0}"/>
              </a:ext>
            </a:extLst>
          </p:cNvPr>
          <p:cNvSpPr>
            <a:spLocks noGrp="1"/>
          </p:cNvSpPr>
          <p:nvPr/>
        </p:nvSpPr>
        <p:spPr>
          <a:xfrm>
            <a:off x="762000" y="5334000"/>
            <a:ext cx="1905000" cy="381000"/>
          </a:xfrm>
          <a:prstGeom prst="rect">
            <a:avLst/>
          </a:prstGeom>
          <a:noFill/>
          <a:ln w="0">
            <a:noFill/>
          </a:ln>
        </p:spPr>
        <p:txBody>
          <a:bodyPr wrap="none" lIns="0" tIns="0" rIns="0" bIns="0" anchor="t">
            <a:noAutofit/>
          </a:bodyPr>
          <a:lstStyle/>
          <a:p>
            <a:pPr algn="l">
              <a:defRPr sz="2025" b="0">
                <a:solidFill>
                  <a:srgbClr val="526874"/>
                </a:solidFill>
                <a:latin typeface="Arial Unicode MS"/>
                <a:ea typeface="Arial Unicode MS"/>
                <a:cs typeface="Arial Unicode MS"/>
              </a:defRPr>
            </a:pPr>
            <a:r>
              <a:rPr sz="2025" b="0">
                <a:solidFill>
                  <a:srgbClr val="526874"/>
                </a:solidFill>
                <a:latin typeface="Arial Unicode MS"/>
                <a:ea typeface="Arial Unicode MS"/>
                <a:cs typeface="Arial Unicode MS"/>
              </a:rPr>
              <a:t>算法</a:t>
            </a:r>
          </a:p>
        </p:txBody>
      </p:sp>
      <p:sp>
        <p:nvSpPr>
          <p:cNvPr id="14" name="矩形 13">
            <a:extLst>
              <a:ext uri="{FF2B5EF4-FFF2-40B4-BE49-F238E27FC236}">
                <a16:creationId xmlns:a16="http://schemas.microsoft.com/office/drawing/2014/main" id="{4BE266C4-44DD-4477-A859-0D7D3310F4ED}"/>
              </a:ext>
            </a:extLst>
          </p:cNvPr>
          <p:cNvSpPr>
            <a:spLocks noGrp="1"/>
          </p:cNvSpPr>
          <p:nvPr/>
        </p:nvSpPr>
        <p:spPr>
          <a:xfrm>
            <a:off x="3000375" y="5334000"/>
            <a:ext cx="1238250" cy="381000"/>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100</a:t>
            </a:r>
          </a:p>
        </p:txBody>
      </p:sp>
      <p:sp>
        <p:nvSpPr>
          <p:cNvPr id="15" name="矩形 14">
            <a:extLst>
              <a:ext uri="{FF2B5EF4-FFF2-40B4-BE49-F238E27FC236}">
                <a16:creationId xmlns:a16="http://schemas.microsoft.com/office/drawing/2014/main" id="{E020BCB9-D466-49AE-8D78-252673F9B3EF}"/>
              </a:ext>
            </a:extLst>
          </p:cNvPr>
          <p:cNvSpPr>
            <a:spLocks noGrp="1"/>
          </p:cNvSpPr>
          <p:nvPr/>
        </p:nvSpPr>
        <p:spPr>
          <a:xfrm>
            <a:off x="5524500" y="1819275"/>
            <a:ext cx="5876925" cy="409575"/>
          </a:xfrm>
          <a:prstGeom prst="rect">
            <a:avLst/>
          </a:prstGeom>
          <a:noFill/>
          <a:ln w="0">
            <a:noFill/>
          </a:ln>
        </p:spPr>
        <p:txBody>
          <a:bodyPr wrap="none" lIns="0" tIns="0" rIns="0" bIns="0" anchor="t">
            <a:noAutofit/>
          </a:bodyPr>
          <a:lstStyle/>
          <a:p>
            <a:pPr algn="l">
              <a:defRPr sz="2250" b="1">
                <a:solidFill>
                  <a:srgbClr val="087D86"/>
                </a:solidFill>
                <a:latin typeface="Arial Unicode MS"/>
                <a:ea typeface="Arial Unicode MS"/>
                <a:cs typeface="Arial Unicode MS"/>
              </a:defRPr>
            </a:pPr>
            <a:r>
              <a:rPr sz="2250" b="1">
                <a:solidFill>
                  <a:srgbClr val="087D86"/>
                </a:solidFill>
                <a:latin typeface="Arial Unicode MS"/>
                <a:ea typeface="Arial Unicode MS"/>
                <a:cs typeface="Arial Unicode MS"/>
              </a:rPr>
              <a:t>题目识别与归并</a:t>
            </a:r>
          </a:p>
        </p:txBody>
      </p:sp>
      <p:sp>
        <p:nvSpPr>
          <p:cNvPr id="16" name="矩形 15">
            <a:extLst>
              <a:ext uri="{FF2B5EF4-FFF2-40B4-BE49-F238E27FC236}">
                <a16:creationId xmlns:a16="http://schemas.microsoft.com/office/drawing/2014/main" id="{E4099366-08F6-4934-8405-71A1B8C2CFEB}"/>
              </a:ext>
            </a:extLst>
          </p:cNvPr>
          <p:cNvSpPr>
            <a:spLocks noGrp="1"/>
          </p:cNvSpPr>
          <p:nvPr/>
        </p:nvSpPr>
        <p:spPr>
          <a:xfrm>
            <a:off x="5534025" y="2324100"/>
            <a:ext cx="5781675" cy="904875"/>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导入流程从原始文档中识别题目，</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按方向和题号归并，形成去重后的题目集合。</a:t>
            </a:r>
          </a:p>
        </p:txBody>
      </p:sp>
      <p:sp>
        <p:nvSpPr>
          <p:cNvPr id="17" name="矩形 16">
            <a:extLst>
              <a:ext uri="{FF2B5EF4-FFF2-40B4-BE49-F238E27FC236}">
                <a16:creationId xmlns:a16="http://schemas.microsoft.com/office/drawing/2014/main" id="{B546A490-4A71-49DE-A98B-52FE80D25C05}"/>
              </a:ext>
            </a:extLst>
          </p:cNvPr>
          <p:cNvSpPr>
            <a:spLocks noGrp="1"/>
          </p:cNvSpPr>
          <p:nvPr/>
        </p:nvSpPr>
        <p:spPr>
          <a:xfrm>
            <a:off x="5524500" y="3200400"/>
            <a:ext cx="5876925" cy="409575"/>
          </a:xfrm>
          <a:prstGeom prst="rect">
            <a:avLst/>
          </a:prstGeom>
          <a:noFill/>
          <a:ln w="0">
            <a:noFill/>
          </a:ln>
        </p:spPr>
        <p:txBody>
          <a:bodyPr wrap="none" lIns="0" tIns="0" rIns="0" bIns="0" anchor="t">
            <a:noAutofit/>
          </a:bodyPr>
          <a:lstStyle/>
          <a:p>
            <a:pPr algn="l">
              <a:defRPr sz="2250" b="1">
                <a:solidFill>
                  <a:srgbClr val="087D86"/>
                </a:solidFill>
                <a:latin typeface="Arial Unicode MS"/>
                <a:ea typeface="Arial Unicode MS"/>
                <a:cs typeface="Arial Unicode MS"/>
              </a:defRPr>
            </a:pPr>
            <a:r>
              <a:rPr sz="2250" b="1">
                <a:solidFill>
                  <a:srgbClr val="087D86"/>
                </a:solidFill>
                <a:latin typeface="Arial Unicode MS"/>
                <a:ea typeface="Arial Unicode MS"/>
                <a:cs typeface="Arial Unicode MS"/>
              </a:rPr>
              <a:t>核验知识卡整理</a:t>
            </a:r>
          </a:p>
        </p:txBody>
      </p:sp>
      <p:sp>
        <p:nvSpPr>
          <p:cNvPr id="18" name="矩形 17">
            <a:extLst>
              <a:ext uri="{FF2B5EF4-FFF2-40B4-BE49-F238E27FC236}">
                <a16:creationId xmlns:a16="http://schemas.microsoft.com/office/drawing/2014/main" id="{0BAC44A3-76E0-40C3-B7C9-47FB79472E27}"/>
              </a:ext>
            </a:extLst>
          </p:cNvPr>
          <p:cNvSpPr>
            <a:spLocks noGrp="1"/>
          </p:cNvSpPr>
          <p:nvPr/>
        </p:nvSpPr>
        <p:spPr>
          <a:xfrm>
            <a:off x="5534025" y="3705225"/>
            <a:ext cx="5781675" cy="904875"/>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我们将题干、考察点和出处组织为知识卡，</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并补充核验场景与追问方向。</a:t>
            </a:r>
          </a:p>
        </p:txBody>
      </p:sp>
      <p:sp>
        <p:nvSpPr>
          <p:cNvPr id="19" name="矩形 18">
            <a:extLst>
              <a:ext uri="{FF2B5EF4-FFF2-40B4-BE49-F238E27FC236}">
                <a16:creationId xmlns:a16="http://schemas.microsoft.com/office/drawing/2014/main" id="{3178A330-9BA1-45EE-AC9A-C79C2D6B585D}"/>
              </a:ext>
            </a:extLst>
          </p:cNvPr>
          <p:cNvSpPr>
            <a:spLocks noGrp="1"/>
          </p:cNvSpPr>
          <p:nvPr/>
        </p:nvSpPr>
        <p:spPr>
          <a:xfrm>
            <a:off x="5524500" y="4581525"/>
            <a:ext cx="5876925" cy="409575"/>
          </a:xfrm>
          <a:prstGeom prst="rect">
            <a:avLst/>
          </a:prstGeom>
          <a:noFill/>
          <a:ln w="0">
            <a:noFill/>
          </a:ln>
        </p:spPr>
        <p:txBody>
          <a:bodyPr wrap="none" lIns="0" tIns="0" rIns="0" bIns="0" anchor="t">
            <a:noAutofit/>
          </a:bodyPr>
          <a:lstStyle/>
          <a:p>
            <a:pPr algn="l">
              <a:defRPr sz="2250" b="1">
                <a:solidFill>
                  <a:srgbClr val="087D86"/>
                </a:solidFill>
                <a:latin typeface="Arial Unicode MS"/>
                <a:ea typeface="Arial Unicode MS"/>
                <a:cs typeface="Arial Unicode MS"/>
              </a:defRPr>
            </a:pPr>
            <a:r>
              <a:rPr sz="2250" b="1">
                <a:solidFill>
                  <a:srgbClr val="087D86"/>
                </a:solidFill>
                <a:latin typeface="Arial Unicode MS"/>
                <a:ea typeface="Arial Unicode MS"/>
                <a:cs typeface="Arial Unicode MS"/>
              </a:rPr>
              <a:t>向量索引构建</a:t>
            </a:r>
          </a:p>
        </p:txBody>
      </p:sp>
      <p:sp>
        <p:nvSpPr>
          <p:cNvPr id="20" name="矩形 19">
            <a:extLst>
              <a:ext uri="{FF2B5EF4-FFF2-40B4-BE49-F238E27FC236}">
                <a16:creationId xmlns:a16="http://schemas.microsoft.com/office/drawing/2014/main" id="{0CCE7C90-2863-4A00-A834-7B4A82C58375}"/>
              </a:ext>
            </a:extLst>
          </p:cNvPr>
          <p:cNvSpPr>
            <a:spLocks noGrp="1"/>
          </p:cNvSpPr>
          <p:nvPr/>
        </p:nvSpPr>
        <p:spPr>
          <a:xfrm>
            <a:off x="5534025" y="5086350"/>
            <a:ext cx="5781675" cy="904875"/>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索引流程将知识卡编码为向量，</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并结合字段与深度标签支持定向检索。</a:t>
            </a:r>
          </a:p>
        </p:txBody>
      </p:sp>
    </p:spTree>
    <p:extLst>
      <p:ext uri="{BB962C8B-B14F-4D97-AF65-F5344CB8AC3E}">
        <p14:creationId xmlns:p14="http://schemas.microsoft.com/office/powerpoint/2010/main" val="2026867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09838F83-AE55-4FC8-9004-6EA12D8DDCBE}"/>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一张知识卡，如何问出工程能力的分水岭</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B1BAA91C-F304-4F31-941A-7BF248DE324B}"/>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Q17 将状态一致性与幂等性问题细化为可在面试中核验的故障场景。</a:t>
            </a:r>
          </a:p>
        </p:txBody>
      </p:sp>
      <p:sp>
        <p:nvSpPr>
          <p:cNvPr id="3" name="矩形 2">
            <a:extLst>
              <a:ext uri="{FF2B5EF4-FFF2-40B4-BE49-F238E27FC236}">
                <a16:creationId xmlns:a16="http://schemas.microsoft.com/office/drawing/2014/main" id="{AE370340-A5C1-4CF9-A146-5C9FC5876D0C}"/>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15</a:t>
            </a:r>
          </a:p>
        </p:txBody>
      </p:sp>
      <p:sp>
        <p:nvSpPr>
          <p:cNvPr id="4" name="矩形 3">
            <a:extLst>
              <a:ext uri="{FF2B5EF4-FFF2-40B4-BE49-F238E27FC236}">
                <a16:creationId xmlns:a16="http://schemas.microsoft.com/office/drawing/2014/main" id="{FEC0CCC8-CA6C-4486-8A7A-671424B1F5C0}"/>
              </a:ext>
            </a:extLst>
          </p:cNvPr>
          <p:cNvSpPr>
            <a:spLocks noGrp="1"/>
          </p:cNvSpPr>
          <p:nvPr/>
        </p:nvSpPr>
        <p:spPr>
          <a:xfrm>
            <a:off x="704850" y="1590675"/>
            <a:ext cx="4476750" cy="457200"/>
          </a:xfrm>
          <a:prstGeom prst="rect">
            <a:avLst/>
          </a:prstGeom>
          <a:noFill/>
          <a:ln w="0">
            <a:noFill/>
          </a:ln>
        </p:spPr>
        <p:txBody>
          <a:bodyPr wrap="none" lIns="0" tIns="0" rIns="0" bIns="0" anchor="t">
            <a:noAutofit/>
          </a:bodyPr>
          <a:lstStyle/>
          <a:p>
            <a:pPr algn="l">
              <a:defRPr sz="2250" b="1">
                <a:solidFill>
                  <a:srgbClr val="087D86"/>
                </a:solidFill>
                <a:latin typeface="Arial Unicode MS"/>
                <a:ea typeface="Arial Unicode MS"/>
                <a:cs typeface="Arial Unicode MS"/>
              </a:defRPr>
            </a:pPr>
            <a:r>
              <a:rPr sz="2250" b="1">
                <a:solidFill>
                  <a:srgbClr val="087D86"/>
                </a:solidFill>
                <a:latin typeface="Arial Unicode MS"/>
                <a:ea typeface="Arial Unicode MS"/>
                <a:cs typeface="Arial Unicode MS"/>
              </a:rPr>
              <a:t>原始题目 Q17</a:t>
            </a:r>
          </a:p>
        </p:txBody>
      </p:sp>
      <p:sp>
        <p:nvSpPr>
          <p:cNvPr id="5" name="矩形 4">
            <a:extLst>
              <a:ext uri="{FF2B5EF4-FFF2-40B4-BE49-F238E27FC236}">
                <a16:creationId xmlns:a16="http://schemas.microsoft.com/office/drawing/2014/main" id="{BF873EF8-F511-4695-A32F-416DDF109FEB}"/>
              </a:ext>
            </a:extLst>
          </p:cNvPr>
          <p:cNvSpPr>
            <a:spLocks noGrp="1"/>
          </p:cNvSpPr>
          <p:nvPr/>
        </p:nvSpPr>
        <p:spPr>
          <a:xfrm>
            <a:off x="733425" y="2247900"/>
            <a:ext cx="4162425" cy="1428750"/>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a:solidFill>
                  <a:srgbClr val="16313C"/>
                </a:solidFill>
                <a:latin typeface="Arial Unicode MS"/>
                <a:ea typeface="Arial Unicode MS"/>
                <a:cs typeface="Arial Unicode MS"/>
              </a:rPr>
              <a:t>在多 Agent 系统中如何处理状</a:t>
            </a:r>
          </a:p>
          <a:p>
            <a:pPr algn="l">
              <a:defRPr sz="2400" b="0">
                <a:solidFill>
                  <a:srgbClr val="16313C"/>
                </a:solidFill>
                <a:latin typeface="Arial Unicode MS"/>
                <a:ea typeface="Arial Unicode MS"/>
                <a:cs typeface="Arial Unicode MS"/>
              </a:defRPr>
            </a:pPr>
            <a:r>
              <a:rPr sz="2400" b="0">
                <a:solidFill>
                  <a:srgbClr val="16313C"/>
                </a:solidFill>
                <a:latin typeface="Arial Unicode MS"/>
                <a:ea typeface="Arial Unicode MS"/>
                <a:cs typeface="Arial Unicode MS"/>
              </a:rPr>
              <a:t>态一致性和任务幂等性问题？</a:t>
            </a:r>
          </a:p>
        </p:txBody>
      </p:sp>
      <p:sp>
        <p:nvSpPr>
          <p:cNvPr id="6" name="矩形 5">
            <a:extLst>
              <a:ext uri="{FF2B5EF4-FFF2-40B4-BE49-F238E27FC236}">
                <a16:creationId xmlns:a16="http://schemas.microsoft.com/office/drawing/2014/main" id="{289D02BE-8330-4D31-BDCA-9188254B8AF6}"/>
              </a:ext>
            </a:extLst>
          </p:cNvPr>
          <p:cNvSpPr>
            <a:spLocks noGrp="1"/>
          </p:cNvSpPr>
          <p:nvPr/>
        </p:nvSpPr>
        <p:spPr>
          <a:xfrm>
            <a:off x="752475" y="4124325"/>
            <a:ext cx="4114800" cy="1504950"/>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适用字段：机制、职责、故障</a:t>
            </a:r>
          </a:p>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适用深度：2–5</a:t>
            </a:r>
          </a:p>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原题与核验正文关联保存</a:t>
            </a:r>
          </a:p>
        </p:txBody>
      </p:sp>
      <p:sp>
        <p:nvSpPr>
          <p:cNvPr id="7" name="矩形 6">
            <a:extLst>
              <a:ext uri="{FF2B5EF4-FFF2-40B4-BE49-F238E27FC236}">
                <a16:creationId xmlns:a16="http://schemas.microsoft.com/office/drawing/2014/main" id="{AEA1F980-9641-4D83-B8C9-4E62B1D1410E}"/>
              </a:ext>
            </a:extLst>
          </p:cNvPr>
          <p:cNvSpPr>
            <a:spLocks noGrp="1"/>
          </p:cNvSpPr>
          <p:nvPr/>
        </p:nvSpPr>
        <p:spPr>
          <a:xfrm>
            <a:off x="5724525" y="1590675"/>
            <a:ext cx="5648325" cy="400050"/>
          </a:xfrm>
          <a:prstGeom prst="rect">
            <a:avLst/>
          </a:prstGeom>
          <a:noFill/>
          <a:ln w="0">
            <a:noFill/>
          </a:ln>
        </p:spPr>
        <p:txBody>
          <a:bodyPr wrap="none" lIns="0" tIns="0" rIns="0" bIns="0" anchor="t">
            <a:noAutofit/>
          </a:bodyPr>
          <a:lstStyle/>
          <a:p>
            <a:pPr algn="l">
              <a:defRPr sz="2025" b="1">
                <a:solidFill>
                  <a:srgbClr val="087D86"/>
                </a:solidFill>
                <a:latin typeface="Arial Unicode MS"/>
                <a:ea typeface="Arial Unicode MS"/>
                <a:cs typeface="Arial Unicode MS"/>
              </a:defRPr>
            </a:pPr>
            <a:r>
              <a:rPr sz="2025" b="1">
                <a:solidFill>
                  <a:srgbClr val="087D86"/>
                </a:solidFill>
                <a:latin typeface="Arial Unicode MS"/>
                <a:ea typeface="Arial Unicode MS"/>
                <a:cs typeface="Arial Unicode MS"/>
              </a:rPr>
              <a:t>场景匹配</a:t>
            </a:r>
          </a:p>
        </p:txBody>
      </p:sp>
      <p:sp>
        <p:nvSpPr>
          <p:cNvPr id="8" name="矩形 7">
            <a:extLst>
              <a:ext uri="{FF2B5EF4-FFF2-40B4-BE49-F238E27FC236}">
                <a16:creationId xmlns:a16="http://schemas.microsoft.com/office/drawing/2014/main" id="{DFDA900C-2142-4534-8C73-3ED79DA4CFA2}"/>
              </a:ext>
            </a:extLst>
          </p:cNvPr>
          <p:cNvSpPr>
            <a:spLocks noGrp="1"/>
          </p:cNvSpPr>
          <p:nvPr/>
        </p:nvSpPr>
        <p:spPr>
          <a:xfrm>
            <a:off x="5734050" y="2038350"/>
            <a:ext cx="5600700" cy="7429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dirty="0" err="1">
                <a:solidFill>
                  <a:srgbClr val="16313C"/>
                </a:solidFill>
                <a:latin typeface="Arial Unicode MS"/>
                <a:ea typeface="Arial Unicode MS"/>
                <a:cs typeface="Arial Unicode MS"/>
              </a:rPr>
              <a:t>候选人提及幂等、重试或状态恢复时</a:t>
            </a:r>
            <a:r>
              <a:rPr sz="1950" b="0" dirty="0">
                <a:solidFill>
                  <a:srgbClr val="16313C"/>
                </a:solidFill>
                <a:latin typeface="Arial Unicode MS"/>
                <a:ea typeface="Arial Unicode MS"/>
                <a:cs typeface="Arial Unicode MS"/>
              </a:rPr>
              <a:t>，</a:t>
            </a:r>
          </a:p>
          <a:p>
            <a:pPr algn="l">
              <a:defRPr sz="1950" b="0">
                <a:solidFill>
                  <a:srgbClr val="16313C"/>
                </a:solidFill>
                <a:latin typeface="Arial Unicode MS"/>
                <a:ea typeface="Arial Unicode MS"/>
                <a:cs typeface="Arial Unicode MS"/>
              </a:defRPr>
            </a:pPr>
            <a:r>
              <a:rPr sz="1950" b="0" dirty="0" err="1">
                <a:solidFill>
                  <a:srgbClr val="16313C"/>
                </a:solidFill>
                <a:latin typeface="Arial Unicode MS"/>
                <a:ea typeface="Arial Unicode MS"/>
                <a:cs typeface="Arial Unicode MS"/>
              </a:rPr>
              <a:t>该卡可作为追问参考</a:t>
            </a:r>
            <a:r>
              <a:rPr sz="1950" b="0" dirty="0">
                <a:solidFill>
                  <a:srgbClr val="16313C"/>
                </a:solidFill>
                <a:latin typeface="Arial Unicode MS"/>
                <a:ea typeface="Arial Unicode MS"/>
                <a:cs typeface="Arial Unicode MS"/>
              </a:rPr>
              <a:t>。</a:t>
            </a:r>
          </a:p>
        </p:txBody>
      </p:sp>
      <p:sp>
        <p:nvSpPr>
          <p:cNvPr id="9" name="矩形 8">
            <a:extLst>
              <a:ext uri="{FF2B5EF4-FFF2-40B4-BE49-F238E27FC236}">
                <a16:creationId xmlns:a16="http://schemas.microsoft.com/office/drawing/2014/main" id="{DA10475F-9EA9-43F2-A95B-CFB1ED3C1BDB}"/>
              </a:ext>
            </a:extLst>
          </p:cNvPr>
          <p:cNvSpPr>
            <a:spLocks noGrp="1"/>
          </p:cNvSpPr>
          <p:nvPr/>
        </p:nvSpPr>
        <p:spPr>
          <a:xfrm>
            <a:off x="5724525" y="2695575"/>
            <a:ext cx="5648325" cy="400050"/>
          </a:xfrm>
          <a:prstGeom prst="rect">
            <a:avLst/>
          </a:prstGeom>
          <a:noFill/>
          <a:ln w="0">
            <a:noFill/>
          </a:ln>
        </p:spPr>
        <p:txBody>
          <a:bodyPr wrap="none" lIns="0" tIns="0" rIns="0" bIns="0" anchor="t">
            <a:noAutofit/>
          </a:bodyPr>
          <a:lstStyle/>
          <a:p>
            <a:pPr algn="l">
              <a:defRPr sz="2025" b="1">
                <a:solidFill>
                  <a:srgbClr val="087D86"/>
                </a:solidFill>
                <a:latin typeface="Arial Unicode MS"/>
                <a:ea typeface="Arial Unicode MS"/>
                <a:cs typeface="Arial Unicode MS"/>
              </a:defRPr>
            </a:pPr>
            <a:r>
              <a:rPr sz="2025" b="1">
                <a:solidFill>
                  <a:srgbClr val="087D86"/>
                </a:solidFill>
                <a:latin typeface="Arial Unicode MS"/>
                <a:ea typeface="Arial Unicode MS"/>
                <a:cs typeface="Arial Unicode MS"/>
              </a:rPr>
              <a:t>核验焦点</a:t>
            </a:r>
          </a:p>
        </p:txBody>
      </p:sp>
      <p:sp>
        <p:nvSpPr>
          <p:cNvPr id="10" name="矩形 9">
            <a:extLst>
              <a:ext uri="{FF2B5EF4-FFF2-40B4-BE49-F238E27FC236}">
                <a16:creationId xmlns:a16="http://schemas.microsoft.com/office/drawing/2014/main" id="{4EAC0C23-8584-427D-83E9-4641809BADCB}"/>
              </a:ext>
            </a:extLst>
          </p:cNvPr>
          <p:cNvSpPr>
            <a:spLocks noGrp="1"/>
          </p:cNvSpPr>
          <p:nvPr/>
        </p:nvSpPr>
        <p:spPr>
          <a:xfrm>
            <a:off x="5734050" y="3143250"/>
            <a:ext cx="5600700" cy="7429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知识卡区分去重键、执行结果，</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以及 checkpoint 的提交时机。</a:t>
            </a:r>
          </a:p>
        </p:txBody>
      </p:sp>
      <p:sp>
        <p:nvSpPr>
          <p:cNvPr id="11" name="矩形 10">
            <a:extLst>
              <a:ext uri="{FF2B5EF4-FFF2-40B4-BE49-F238E27FC236}">
                <a16:creationId xmlns:a16="http://schemas.microsoft.com/office/drawing/2014/main" id="{1E50882E-8FC0-428E-98FD-2AB6589B52DA}"/>
              </a:ext>
            </a:extLst>
          </p:cNvPr>
          <p:cNvSpPr>
            <a:spLocks noGrp="1"/>
          </p:cNvSpPr>
          <p:nvPr/>
        </p:nvSpPr>
        <p:spPr>
          <a:xfrm>
            <a:off x="5724525" y="3800475"/>
            <a:ext cx="5648325" cy="400050"/>
          </a:xfrm>
          <a:prstGeom prst="rect">
            <a:avLst/>
          </a:prstGeom>
          <a:noFill/>
          <a:ln w="0">
            <a:noFill/>
          </a:ln>
        </p:spPr>
        <p:txBody>
          <a:bodyPr wrap="none" lIns="0" tIns="0" rIns="0" bIns="0" anchor="t">
            <a:noAutofit/>
          </a:bodyPr>
          <a:lstStyle/>
          <a:p>
            <a:pPr algn="l">
              <a:defRPr sz="2025" b="1">
                <a:solidFill>
                  <a:srgbClr val="087D86"/>
                </a:solidFill>
                <a:latin typeface="Arial Unicode MS"/>
                <a:ea typeface="Arial Unicode MS"/>
                <a:cs typeface="Arial Unicode MS"/>
              </a:defRPr>
            </a:pPr>
            <a:r>
              <a:rPr sz="2025" b="1">
                <a:solidFill>
                  <a:srgbClr val="087D86"/>
                </a:solidFill>
                <a:latin typeface="Arial Unicode MS"/>
                <a:ea typeface="Arial Unicode MS"/>
                <a:cs typeface="Arial Unicode MS"/>
              </a:rPr>
              <a:t>具体追问</a:t>
            </a:r>
          </a:p>
        </p:txBody>
      </p:sp>
      <p:sp>
        <p:nvSpPr>
          <p:cNvPr id="12" name="矩形 11">
            <a:extLst>
              <a:ext uri="{FF2B5EF4-FFF2-40B4-BE49-F238E27FC236}">
                <a16:creationId xmlns:a16="http://schemas.microsoft.com/office/drawing/2014/main" id="{770BECC5-91F4-433F-B40B-AA9F3B56DCCA}"/>
              </a:ext>
            </a:extLst>
          </p:cNvPr>
          <p:cNvSpPr>
            <a:spLocks noGrp="1"/>
          </p:cNvSpPr>
          <p:nvPr/>
        </p:nvSpPr>
        <p:spPr>
          <a:xfrm>
            <a:off x="5734050" y="4248150"/>
            <a:ext cx="5600700" cy="7429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问题聚焦外部操作成功后，</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checkpoint 写入前的故障恢复。</a:t>
            </a:r>
          </a:p>
        </p:txBody>
      </p:sp>
      <p:sp>
        <p:nvSpPr>
          <p:cNvPr id="13" name="矩形 12">
            <a:extLst>
              <a:ext uri="{FF2B5EF4-FFF2-40B4-BE49-F238E27FC236}">
                <a16:creationId xmlns:a16="http://schemas.microsoft.com/office/drawing/2014/main" id="{391E5D58-4A32-4055-A3FA-A7DD7433574E}"/>
              </a:ext>
            </a:extLst>
          </p:cNvPr>
          <p:cNvSpPr>
            <a:spLocks noGrp="1"/>
          </p:cNvSpPr>
          <p:nvPr/>
        </p:nvSpPr>
        <p:spPr>
          <a:xfrm>
            <a:off x="5724525" y="4905375"/>
            <a:ext cx="5648325" cy="400050"/>
          </a:xfrm>
          <a:prstGeom prst="rect">
            <a:avLst/>
          </a:prstGeom>
          <a:noFill/>
          <a:ln w="0">
            <a:noFill/>
          </a:ln>
        </p:spPr>
        <p:txBody>
          <a:bodyPr wrap="none" lIns="0" tIns="0" rIns="0" bIns="0" anchor="t">
            <a:noAutofit/>
          </a:bodyPr>
          <a:lstStyle/>
          <a:p>
            <a:pPr algn="l">
              <a:defRPr sz="2025" b="1">
                <a:solidFill>
                  <a:srgbClr val="087D86"/>
                </a:solidFill>
                <a:latin typeface="Arial Unicode MS"/>
                <a:ea typeface="Arial Unicode MS"/>
                <a:cs typeface="Arial Unicode MS"/>
              </a:defRPr>
            </a:pPr>
            <a:r>
              <a:rPr sz="2025" b="1">
                <a:solidFill>
                  <a:srgbClr val="087D86"/>
                </a:solidFill>
                <a:latin typeface="Arial Unicode MS"/>
                <a:ea typeface="Arial Unicode MS"/>
                <a:cs typeface="Arial Unicode MS"/>
              </a:rPr>
              <a:t>问题生成约束</a:t>
            </a:r>
          </a:p>
        </p:txBody>
      </p:sp>
      <p:sp>
        <p:nvSpPr>
          <p:cNvPr id="14" name="矩形 13">
            <a:extLst>
              <a:ext uri="{FF2B5EF4-FFF2-40B4-BE49-F238E27FC236}">
                <a16:creationId xmlns:a16="http://schemas.microsoft.com/office/drawing/2014/main" id="{28DA310D-140A-4311-B843-6F897FB62185}"/>
              </a:ext>
            </a:extLst>
          </p:cNvPr>
          <p:cNvSpPr>
            <a:spLocks noGrp="1"/>
          </p:cNvSpPr>
          <p:nvPr/>
        </p:nvSpPr>
        <p:spPr>
          <a:xfrm>
            <a:off x="5734050" y="5353050"/>
            <a:ext cx="5600700" cy="7429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问题依据候选人已描述的机制展开，</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不预设外部接口支持事务。</a:t>
            </a:r>
          </a:p>
        </p:txBody>
      </p:sp>
    </p:spTree>
    <p:extLst>
      <p:ext uri="{BB962C8B-B14F-4D97-AF65-F5344CB8AC3E}">
        <p14:creationId xmlns:p14="http://schemas.microsoft.com/office/powerpoint/2010/main" val="2165497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2DD7E948-018D-4BBF-B571-8BC24DC9B0D6}"/>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知识卡</a:t>
            </a:r>
            <a:r>
              <a:rPr lang="zh-CN" altLang="en-US" sz="3300" b="1" dirty="0">
                <a:solidFill>
                  <a:srgbClr val="16313C"/>
                </a:solidFill>
                <a:latin typeface="Arial Unicode MS"/>
                <a:ea typeface="Arial Unicode MS"/>
                <a:cs typeface="Arial Unicode MS"/>
              </a:rPr>
              <a:t>使</a:t>
            </a:r>
            <a:r>
              <a:rPr sz="3300" b="1" dirty="0" err="1">
                <a:solidFill>
                  <a:srgbClr val="16313C"/>
                </a:solidFill>
                <a:latin typeface="Arial Unicode MS"/>
                <a:ea typeface="Arial Unicode MS"/>
                <a:cs typeface="Arial Unicode MS"/>
              </a:rPr>
              <a:t>追问角度</a:t>
            </a:r>
            <a:r>
              <a:rPr lang="zh-CN" altLang="en-US" sz="3300" b="1" dirty="0">
                <a:solidFill>
                  <a:srgbClr val="16313C"/>
                </a:solidFill>
                <a:latin typeface="Arial Unicode MS"/>
                <a:ea typeface="Arial Unicode MS"/>
                <a:cs typeface="Arial Unicode MS"/>
              </a:rPr>
              <a:t>更落地</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C865FB11-087E-4B7F-A7B4-488D1006988B}"/>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同一段关于幂等键与 checkpoint 的合成回答</a:t>
            </a:r>
          </a:p>
        </p:txBody>
      </p:sp>
      <p:sp>
        <p:nvSpPr>
          <p:cNvPr id="3" name="矩形 2">
            <a:extLst>
              <a:ext uri="{FF2B5EF4-FFF2-40B4-BE49-F238E27FC236}">
                <a16:creationId xmlns:a16="http://schemas.microsoft.com/office/drawing/2014/main" id="{6A7050B5-E35E-44D2-A747-5C27AF6B56DB}"/>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2026-09-06，旧版检索的单次合成案例，展示知识卡参与提问的方式。</a:t>
            </a:r>
          </a:p>
        </p:txBody>
      </p:sp>
      <p:sp>
        <p:nvSpPr>
          <p:cNvPr id="4" name="矩形 3">
            <a:extLst>
              <a:ext uri="{FF2B5EF4-FFF2-40B4-BE49-F238E27FC236}">
                <a16:creationId xmlns:a16="http://schemas.microsoft.com/office/drawing/2014/main" id="{91010946-329A-41BB-B76E-7010E982616F}"/>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16</a:t>
            </a:r>
          </a:p>
        </p:txBody>
      </p:sp>
      <p:sp>
        <p:nvSpPr>
          <p:cNvPr id="5" name="矩形 4">
            <a:extLst>
              <a:ext uri="{FF2B5EF4-FFF2-40B4-BE49-F238E27FC236}">
                <a16:creationId xmlns:a16="http://schemas.microsoft.com/office/drawing/2014/main" id="{025ECA47-7D5D-4266-830B-23066D975B15}"/>
              </a:ext>
            </a:extLst>
          </p:cNvPr>
          <p:cNvSpPr>
            <a:spLocks noGrp="1"/>
          </p:cNvSpPr>
          <p:nvPr/>
        </p:nvSpPr>
        <p:spPr>
          <a:xfrm>
            <a:off x="733425" y="1695450"/>
            <a:ext cx="4800600" cy="447675"/>
          </a:xfrm>
          <a:prstGeom prst="rect">
            <a:avLst/>
          </a:prstGeom>
          <a:noFill/>
          <a:ln w="0">
            <a:noFill/>
          </a:ln>
        </p:spPr>
        <p:txBody>
          <a:bodyPr wrap="none" lIns="0" tIns="0" rIns="0" bIns="0" anchor="t">
            <a:noAutofit/>
          </a:bodyPr>
          <a:lstStyle/>
          <a:p>
            <a:pPr algn="l">
              <a:defRPr sz="2175" b="1">
                <a:solidFill>
                  <a:srgbClr val="087D86"/>
                </a:solidFill>
                <a:latin typeface="Arial Unicode MS"/>
                <a:ea typeface="Arial Unicode MS"/>
                <a:cs typeface="Arial Unicode MS"/>
              </a:defRPr>
            </a:pPr>
            <a:r>
              <a:rPr sz="2175" b="1">
                <a:solidFill>
                  <a:srgbClr val="087D86"/>
                </a:solidFill>
                <a:latin typeface="Arial Unicode MS"/>
                <a:ea typeface="Arial Unicode MS"/>
                <a:cs typeface="Arial Unicode MS"/>
              </a:rPr>
              <a:t>无检索</a:t>
            </a:r>
          </a:p>
        </p:txBody>
      </p:sp>
      <p:sp>
        <p:nvSpPr>
          <p:cNvPr id="6" name="矩形 5">
            <a:extLst>
              <a:ext uri="{FF2B5EF4-FFF2-40B4-BE49-F238E27FC236}">
                <a16:creationId xmlns:a16="http://schemas.microsoft.com/office/drawing/2014/main" id="{442FBCDD-80E1-4ED3-B915-92F1CE924D28}"/>
              </a:ext>
            </a:extLst>
          </p:cNvPr>
          <p:cNvSpPr>
            <a:spLocks noGrp="1"/>
          </p:cNvSpPr>
          <p:nvPr/>
        </p:nvSpPr>
        <p:spPr>
          <a:xfrm>
            <a:off x="742950" y="2457450"/>
            <a:ext cx="4829175" cy="2038350"/>
          </a:xfrm>
          <a:prstGeom prst="rect">
            <a:avLst/>
          </a:prstGeom>
          <a:noFill/>
          <a:ln w="0">
            <a:noFill/>
          </a:ln>
        </p:spPr>
        <p:txBody>
          <a:bodyPr wrap="none" lIns="0" tIns="0" rIns="0" bIns="0" anchor="t">
            <a:noAutofit/>
          </a:bodyPr>
          <a:lstStyle/>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进程重启后，系统具体如何判定一</a:t>
            </a:r>
          </a:p>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次工具调用应直接跳过还是重新执</a:t>
            </a:r>
          </a:p>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行？</a:t>
            </a:r>
          </a:p>
        </p:txBody>
      </p:sp>
      <p:sp>
        <p:nvSpPr>
          <p:cNvPr id="7" name="矩形 6">
            <a:extLst>
              <a:ext uri="{FF2B5EF4-FFF2-40B4-BE49-F238E27FC236}">
                <a16:creationId xmlns:a16="http://schemas.microsoft.com/office/drawing/2014/main" id="{0EDD1DC6-7778-4D96-A780-A201B1378BF2}"/>
              </a:ext>
            </a:extLst>
          </p:cNvPr>
          <p:cNvSpPr>
            <a:spLocks noGrp="1"/>
          </p:cNvSpPr>
          <p:nvPr/>
        </p:nvSpPr>
        <p:spPr>
          <a:xfrm>
            <a:off x="6543675" y="1695450"/>
            <a:ext cx="4800600" cy="447675"/>
          </a:xfrm>
          <a:prstGeom prst="rect">
            <a:avLst/>
          </a:prstGeom>
          <a:noFill/>
          <a:ln w="0">
            <a:noFill/>
          </a:ln>
        </p:spPr>
        <p:txBody>
          <a:bodyPr wrap="none" lIns="0" tIns="0" rIns="0" bIns="0" anchor="t">
            <a:noAutofit/>
          </a:bodyPr>
          <a:lstStyle/>
          <a:p>
            <a:pPr algn="l">
              <a:defRPr sz="2175" b="1">
                <a:solidFill>
                  <a:srgbClr val="087D86"/>
                </a:solidFill>
                <a:latin typeface="Arial Unicode MS"/>
                <a:ea typeface="Arial Unicode MS"/>
                <a:cs typeface="Arial Unicode MS"/>
              </a:defRPr>
            </a:pPr>
            <a:r>
              <a:rPr sz="2175" b="1">
                <a:solidFill>
                  <a:srgbClr val="087D86"/>
                </a:solidFill>
                <a:latin typeface="Arial Unicode MS"/>
                <a:ea typeface="Arial Unicode MS"/>
                <a:cs typeface="Arial Unicode MS"/>
              </a:rPr>
              <a:t>引用 Q17 核验卡</a:t>
            </a:r>
          </a:p>
        </p:txBody>
      </p:sp>
      <p:sp>
        <p:nvSpPr>
          <p:cNvPr id="8" name="矩形 7">
            <a:extLst>
              <a:ext uri="{FF2B5EF4-FFF2-40B4-BE49-F238E27FC236}">
                <a16:creationId xmlns:a16="http://schemas.microsoft.com/office/drawing/2014/main" id="{71955751-6A91-4B87-937C-CA2FD7A8544A}"/>
              </a:ext>
            </a:extLst>
          </p:cNvPr>
          <p:cNvSpPr>
            <a:spLocks noGrp="1"/>
          </p:cNvSpPr>
          <p:nvPr/>
        </p:nvSpPr>
        <p:spPr>
          <a:xfrm>
            <a:off x="6543675" y="2457450"/>
            <a:ext cx="4781550" cy="2647950"/>
          </a:xfrm>
          <a:prstGeom prst="rect">
            <a:avLst/>
          </a:prstGeom>
          <a:noFill/>
          <a:ln w="0">
            <a:noFill/>
          </a:ln>
        </p:spPr>
        <p:txBody>
          <a:bodyPr wrap="none" lIns="0" tIns="0" rIns="0" bIns="0" anchor="t">
            <a:noAutofit/>
          </a:bodyPr>
          <a:lstStyle/>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如果订单接口已经成功、但 </a:t>
            </a:r>
          </a:p>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checkpoint 写入前进程崩溃，你</a:t>
            </a:r>
          </a:p>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们恢复时用什么方法判断这次订</a:t>
            </a:r>
          </a:p>
          <a:p>
            <a:pPr algn="l">
              <a:defRPr sz="2475" b="0">
                <a:solidFill>
                  <a:srgbClr val="16313C"/>
                </a:solidFill>
                <a:latin typeface="Arial Unicode MS"/>
                <a:ea typeface="Arial Unicode MS"/>
                <a:cs typeface="Arial Unicode MS"/>
              </a:defRPr>
            </a:pPr>
            <a:r>
              <a:rPr sz="2475" b="0">
                <a:solidFill>
                  <a:srgbClr val="16313C"/>
                </a:solidFill>
                <a:latin typeface="Arial Unicode MS"/>
                <a:ea typeface="Arial Unicode MS"/>
                <a:cs typeface="Arial Unicode MS"/>
              </a:rPr>
              <a:t>单是否需要重放？</a:t>
            </a:r>
          </a:p>
        </p:txBody>
      </p:sp>
      <p:sp>
        <p:nvSpPr>
          <p:cNvPr id="9" name="矩形 8">
            <a:extLst>
              <a:ext uri="{FF2B5EF4-FFF2-40B4-BE49-F238E27FC236}">
                <a16:creationId xmlns:a16="http://schemas.microsoft.com/office/drawing/2014/main" id="{0AF86590-EB9A-4636-BE43-F7D7B2BC02B9}"/>
              </a:ext>
            </a:extLst>
          </p:cNvPr>
          <p:cNvSpPr>
            <a:spLocks noGrp="1"/>
          </p:cNvSpPr>
          <p:nvPr/>
        </p:nvSpPr>
        <p:spPr>
          <a:xfrm>
            <a:off x="752475" y="5314950"/>
            <a:ext cx="10553700" cy="638175"/>
          </a:xfrm>
          <a:prstGeom prst="rect">
            <a:avLst/>
          </a:prstGeom>
          <a:noFill/>
          <a:ln w="0">
            <a:noFill/>
          </a:ln>
        </p:spPr>
        <p:txBody>
          <a:bodyPr wrap="none" lIns="0" tIns="0" rIns="0" bIns="0" anchor="t">
            <a:noAutofit/>
          </a:bodyPr>
          <a:lstStyle/>
          <a:p>
            <a:pPr algn="l">
              <a:defRPr sz="1800" b="0">
                <a:solidFill>
                  <a:srgbClr val="526874"/>
                </a:solidFill>
                <a:latin typeface="Arial Unicode MS"/>
                <a:ea typeface="Arial Unicode MS"/>
                <a:cs typeface="Arial Unicode MS"/>
              </a:defRPr>
            </a:pPr>
            <a:r>
              <a:rPr sz="1800" b="0">
                <a:solidFill>
                  <a:srgbClr val="526874"/>
                </a:solidFill>
                <a:latin typeface="Arial Unicode MS"/>
                <a:ea typeface="Arial Unicode MS"/>
                <a:cs typeface="Arial Unicode MS"/>
              </a:rPr>
              <a:t>工具校验在两组运行中均返回过深度错误，模型修正参数后完成提交。</a:t>
            </a:r>
          </a:p>
        </p:txBody>
      </p:sp>
    </p:spTree>
    <p:extLst>
      <p:ext uri="{BB962C8B-B14F-4D97-AF65-F5344CB8AC3E}">
        <p14:creationId xmlns:p14="http://schemas.microsoft.com/office/powerpoint/2010/main" val="2540220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E9D9034-0296-4562-BE6B-8FBB77F1A5BF}"/>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增量索引：知识更新精确到卡片</a:t>
            </a:r>
          </a:p>
        </p:txBody>
      </p:sp>
      <p:sp>
        <p:nvSpPr>
          <p:cNvPr id="2" name="矩形 1">
            <a:extLst>
              <a:ext uri="{FF2B5EF4-FFF2-40B4-BE49-F238E27FC236}">
                <a16:creationId xmlns:a16="http://schemas.microsoft.com/office/drawing/2014/main" id="{82BC4E47-35C7-4E00-AC64-7C322CA50E0F}"/>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索引流程分别处理语义内容与来源信息，仅在语义变化时更新向量</a:t>
            </a:r>
          </a:p>
        </p:txBody>
      </p:sp>
      <p:sp>
        <p:nvSpPr>
          <p:cNvPr id="3" name="矩形 2">
            <a:extLst>
              <a:ext uri="{FF2B5EF4-FFF2-40B4-BE49-F238E27FC236}">
                <a16:creationId xmlns:a16="http://schemas.microsoft.com/office/drawing/2014/main" id="{D3D9529C-8B13-4B32-9779-F6401C4BD4B5}"/>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新向量全部准备完成后，SQLite 事务统一发布索引，保证更新完整性。</a:t>
            </a:r>
          </a:p>
        </p:txBody>
      </p:sp>
      <p:sp>
        <p:nvSpPr>
          <p:cNvPr id="4" name="矩形 3">
            <a:extLst>
              <a:ext uri="{FF2B5EF4-FFF2-40B4-BE49-F238E27FC236}">
                <a16:creationId xmlns:a16="http://schemas.microsoft.com/office/drawing/2014/main" id="{B010C5F1-A439-408D-B92A-C950B45AE99D}"/>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17</a:t>
            </a:r>
          </a:p>
        </p:txBody>
      </p:sp>
      <p:sp>
        <p:nvSpPr>
          <p:cNvPr id="5" name="矩形 4">
            <a:extLst>
              <a:ext uri="{FF2B5EF4-FFF2-40B4-BE49-F238E27FC236}">
                <a16:creationId xmlns:a16="http://schemas.microsoft.com/office/drawing/2014/main" id="{393957B9-7F06-466F-AA49-DF456B10A11F}"/>
              </a:ext>
            </a:extLst>
          </p:cNvPr>
          <p:cNvSpPr>
            <a:spLocks noGrp="1"/>
          </p:cNvSpPr>
          <p:nvPr/>
        </p:nvSpPr>
        <p:spPr>
          <a:xfrm>
            <a:off x="723900" y="1876425"/>
            <a:ext cx="4924425" cy="390525"/>
          </a:xfrm>
          <a:prstGeom prst="rect">
            <a:avLst/>
          </a:prstGeom>
          <a:noFill/>
          <a:ln w="0">
            <a:noFill/>
          </a:ln>
        </p:spPr>
        <p:txBody>
          <a:bodyPr wrap="none" lIns="0" tIns="0" rIns="0" bIns="0" anchor="t">
            <a:noAutofit/>
          </a:bodyPr>
          <a:lstStyle/>
          <a:p>
            <a:pPr algn="l">
              <a:defRPr sz="2025" b="1">
                <a:solidFill>
                  <a:srgbClr val="087D86"/>
                </a:solidFill>
                <a:latin typeface="Arial Unicode MS"/>
                <a:ea typeface="Arial Unicode MS"/>
                <a:cs typeface="Arial Unicode MS"/>
              </a:defRPr>
            </a:pPr>
            <a:r>
              <a:rPr sz="2025" b="1">
                <a:solidFill>
                  <a:srgbClr val="087D86"/>
                </a:solidFill>
                <a:latin typeface="Arial Unicode MS"/>
                <a:ea typeface="Arial Unicode MS"/>
                <a:cs typeface="Arial Unicode MS"/>
              </a:rPr>
              <a:t>语义编码内容</a:t>
            </a:r>
          </a:p>
        </p:txBody>
      </p:sp>
      <p:sp>
        <p:nvSpPr>
          <p:cNvPr id="6" name="矩形 5">
            <a:extLst>
              <a:ext uri="{FF2B5EF4-FFF2-40B4-BE49-F238E27FC236}">
                <a16:creationId xmlns:a16="http://schemas.microsoft.com/office/drawing/2014/main" id="{F539231A-203B-458B-BD4A-5AFD94E75DC0}"/>
              </a:ext>
            </a:extLst>
          </p:cNvPr>
          <p:cNvSpPr>
            <a:spLocks noGrp="1"/>
          </p:cNvSpPr>
          <p:nvPr/>
        </p:nvSpPr>
        <p:spPr>
          <a:xfrm>
            <a:off x="733425" y="2333625"/>
            <a:ext cx="4953000" cy="11334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领域、字段与原题</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源题考察点</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完整核验正文</a:t>
            </a:r>
          </a:p>
        </p:txBody>
      </p:sp>
      <p:sp>
        <p:nvSpPr>
          <p:cNvPr id="7" name="矩形 6">
            <a:extLst>
              <a:ext uri="{FF2B5EF4-FFF2-40B4-BE49-F238E27FC236}">
                <a16:creationId xmlns:a16="http://schemas.microsoft.com/office/drawing/2014/main" id="{92357925-BA9B-4739-BDFE-89150CED917D}"/>
              </a:ext>
            </a:extLst>
          </p:cNvPr>
          <p:cNvSpPr>
            <a:spLocks noGrp="1"/>
          </p:cNvSpPr>
          <p:nvPr/>
        </p:nvSpPr>
        <p:spPr>
          <a:xfrm>
            <a:off x="6505575" y="2038350"/>
            <a:ext cx="4819650" cy="1257300"/>
          </a:xfrm>
          <a:prstGeom prst="rect">
            <a:avLst/>
          </a:prstGeom>
          <a:noFill/>
          <a:ln w="0">
            <a:noFill/>
          </a:ln>
        </p:spPr>
        <p:txBody>
          <a:bodyPr wrap="none" lIns="0" tIns="0" rIns="0" bIns="0" anchor="t">
            <a:noAutofit/>
          </a:bodyPr>
          <a:lstStyle/>
          <a:p>
            <a:pPr algn="l">
              <a:defRPr sz="1875" b="0">
                <a:solidFill>
                  <a:srgbClr val="526874"/>
                </a:solidFill>
                <a:latin typeface="Arial Unicode MS"/>
                <a:ea typeface="Arial Unicode MS"/>
                <a:cs typeface="Arial Unicode MS"/>
              </a:defRPr>
            </a:pPr>
            <a:r>
              <a:rPr sz="1875" b="0">
                <a:solidFill>
                  <a:srgbClr val="526874"/>
                </a:solidFill>
                <a:latin typeface="Arial Unicode MS"/>
                <a:ea typeface="Arial Unicode MS"/>
                <a:cs typeface="Arial Unicode MS"/>
              </a:rPr>
              <a:t>来源链接与记录标识作为元数据保存。</a:t>
            </a:r>
          </a:p>
          <a:p>
            <a:pPr algn="l">
              <a:defRPr sz="1875" b="0">
                <a:solidFill>
                  <a:srgbClr val="526874"/>
                </a:solidFill>
                <a:latin typeface="Arial Unicode MS"/>
                <a:ea typeface="Arial Unicode MS"/>
                <a:cs typeface="Arial Unicode MS"/>
              </a:defRPr>
            </a:pPr>
            <a:r>
              <a:rPr sz="1875" b="0">
                <a:solidFill>
                  <a:srgbClr val="526874"/>
                </a:solidFill>
                <a:latin typeface="Arial Unicode MS"/>
                <a:ea typeface="Arial Unicode MS"/>
                <a:cs typeface="Arial Unicode MS"/>
              </a:rPr>
              <a:t>深度标签参与检索前的范围筛选。</a:t>
            </a:r>
          </a:p>
        </p:txBody>
      </p:sp>
      <p:graphicFrame>
        <p:nvGraphicFramePr>
          <p:cNvPr id="16" name="表格 15"/>
          <p:cNvGraphicFramePr/>
          <p:nvPr/>
        </p:nvGraphicFramePr>
        <p:xfrm>
          <a:off x="704850" y="3695700"/>
          <a:ext cx="10668000" cy="2209800"/>
        </p:xfrm>
        <a:graphic>
          <a:graphicData uri="http://schemas.openxmlformats.org/drawingml/2006/table">
            <a:tbl>
              <a:tblPr/>
              <a:tblGrid>
                <a:gridCol w="5991225">
                  <a:extLst>
                    <a:ext uri="{9D8B030D-6E8A-4147-A177-3AD203B41FA5}">
                      <a16:colId xmlns:a16="http://schemas.microsoft.com/office/drawing/2014/main" val="20000"/>
                    </a:ext>
                  </a:extLst>
                </a:gridCol>
                <a:gridCol w="4676775">
                  <a:extLst>
                    <a:ext uri="{9D8B030D-6E8A-4147-A177-3AD203B41FA5}">
                      <a16:colId xmlns:a16="http://schemas.microsoft.com/office/drawing/2014/main" val="20001"/>
                    </a:ext>
                  </a:extLst>
                </a:gridCol>
              </a:tblGrid>
              <a:tr h="552450">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知识卡的变化</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索引处理</a:t>
                      </a:r>
                    </a:p>
                  </a:txBody>
                  <a:tcPr anchor="ctr">
                    <a:solidFill>
                      <a:srgbClr val="16313C"/>
                    </a:solidFill>
                  </a:tcPr>
                </a:tc>
                <a:extLst>
                  <a:ext uri="{0D108BD9-81ED-4DB2-BD59-A6C34878D82A}">
                    <a16:rowId xmlns:a16="http://schemas.microsoft.com/office/drawing/2014/main" val="10000"/>
                  </a:ext>
                </a:extLst>
              </a:tr>
              <a:tr h="5524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来源链接或适用深度变化</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系统更新元数据并复用已有向量</a:t>
                      </a:r>
                    </a:p>
                  </a:txBody>
                  <a:tcPr anchor="ctr">
                    <a:solidFill>
                      <a:srgbClr val="F5F8F7"/>
                    </a:solidFill>
                  </a:tcPr>
                </a:tc>
                <a:extLst>
                  <a:ext uri="{0D108BD9-81ED-4DB2-BD59-A6C34878D82A}">
                    <a16:rowId xmlns:a16="http://schemas.microsoft.com/office/drawing/2014/main" val="10001"/>
                  </a:ext>
                </a:extLst>
              </a:tr>
              <a:tr h="5524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正文、原题或语义标签变化</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索引流程仅重算受影响的知识卡</a:t>
                      </a:r>
                    </a:p>
                  </a:txBody>
                  <a:tcPr anchor="ctr">
                    <a:solidFill>
                      <a:srgbClr val="FFFFFF"/>
                    </a:solidFill>
                  </a:tcPr>
                </a:tc>
                <a:extLst>
                  <a:ext uri="{0D108BD9-81ED-4DB2-BD59-A6C34878D82A}">
                    <a16:rowId xmlns:a16="http://schemas.microsoft.com/office/drawing/2014/main" val="10002"/>
                  </a:ext>
                </a:extLst>
              </a:tr>
              <a:tr h="5524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删除卡片或更换 embedding 配置</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索引同步清理或重新生成向量</a:t>
                      </a:r>
                    </a:p>
                  </a:txBody>
                  <a:tcPr anchor="ctr">
                    <a:solidFill>
                      <a:srgbClr val="F5F8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70088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2CE1BB4A-9AEF-4BE7-89C4-7D05B66E3BD3}"/>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混合检索：从回答线索找到核验切口</a:t>
            </a:r>
          </a:p>
        </p:txBody>
      </p:sp>
      <p:sp>
        <p:nvSpPr>
          <p:cNvPr id="2" name="矩形 1">
            <a:extLst>
              <a:ext uri="{FF2B5EF4-FFF2-40B4-BE49-F238E27FC236}">
                <a16:creationId xmlns:a16="http://schemas.microsoft.com/office/drawing/2014/main" id="{8557B7D4-E862-4623-A16C-AAEC21DFCDE9}"/>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Interview Agent 将回答中的具体机制与当前调查目标转化为检索查询</a:t>
            </a:r>
          </a:p>
        </p:txBody>
      </p:sp>
      <p:sp>
        <p:nvSpPr>
          <p:cNvPr id="3" name="矩形 2">
            <a:extLst>
              <a:ext uri="{FF2B5EF4-FFF2-40B4-BE49-F238E27FC236}">
                <a16:creationId xmlns:a16="http://schemas.microsoft.com/office/drawing/2014/main" id="{CF2719DE-FC43-40C1-81E9-A93D7AC7CBC4}"/>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Report Agent 只依据候选人证据。知识卡为 Interview Agent 提供追问素材。</a:t>
            </a:r>
          </a:p>
        </p:txBody>
      </p:sp>
      <p:sp>
        <p:nvSpPr>
          <p:cNvPr id="4" name="矩形 3">
            <a:extLst>
              <a:ext uri="{FF2B5EF4-FFF2-40B4-BE49-F238E27FC236}">
                <a16:creationId xmlns:a16="http://schemas.microsoft.com/office/drawing/2014/main" id="{BF493F30-50AC-4D79-8DEA-F0201B9142EE}"/>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18</a:t>
            </a:r>
          </a:p>
        </p:txBody>
      </p:sp>
      <p:sp>
        <p:nvSpPr>
          <p:cNvPr id="5" name="矩形 4">
            <a:extLst>
              <a:ext uri="{FF2B5EF4-FFF2-40B4-BE49-F238E27FC236}">
                <a16:creationId xmlns:a16="http://schemas.microsoft.com/office/drawing/2014/main" id="{C0E0A09C-D05E-4C6D-846A-D96A0C0E67EE}"/>
              </a:ext>
            </a:extLst>
          </p:cNvPr>
          <p:cNvSpPr>
            <a:spLocks noGrp="1"/>
          </p:cNvSpPr>
          <p:nvPr/>
        </p:nvSpPr>
        <p:spPr>
          <a:xfrm>
            <a:off x="704850" y="2095500"/>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01</a:t>
            </a:r>
          </a:p>
        </p:txBody>
      </p:sp>
      <p:sp>
        <p:nvSpPr>
          <p:cNvPr id="6" name="矩形 5">
            <a:extLst>
              <a:ext uri="{FF2B5EF4-FFF2-40B4-BE49-F238E27FC236}">
                <a16:creationId xmlns:a16="http://schemas.microsoft.com/office/drawing/2014/main" id="{EC06927B-7014-43E0-8ABF-AA4E4FD78CFA}"/>
              </a:ext>
            </a:extLst>
          </p:cNvPr>
          <p:cNvSpPr>
            <a:spLocks noGrp="1"/>
          </p:cNvSpPr>
          <p:nvPr/>
        </p:nvSpPr>
        <p:spPr>
          <a:xfrm>
            <a:off x="1714500" y="2124075"/>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查询构造</a:t>
            </a:r>
          </a:p>
        </p:txBody>
      </p:sp>
      <p:sp>
        <p:nvSpPr>
          <p:cNvPr id="7" name="矩形 6">
            <a:extLst>
              <a:ext uri="{FF2B5EF4-FFF2-40B4-BE49-F238E27FC236}">
                <a16:creationId xmlns:a16="http://schemas.microsoft.com/office/drawing/2014/main" id="{29B348D0-C4D7-4630-A6E7-7031E75A66D1}"/>
              </a:ext>
            </a:extLst>
          </p:cNvPr>
          <p:cNvSpPr>
            <a:spLocks noGrp="1"/>
          </p:cNvSpPr>
          <p:nvPr/>
        </p:nvSpPr>
        <p:spPr>
          <a:xfrm>
            <a:off x="4429125" y="2124075"/>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Agent 读取报告后生成查询，</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并按调查需要附带字段与深度条件。</a:t>
            </a:r>
          </a:p>
        </p:txBody>
      </p:sp>
      <p:sp>
        <p:nvSpPr>
          <p:cNvPr id="8" name="矩形 7">
            <a:extLst>
              <a:ext uri="{FF2B5EF4-FFF2-40B4-BE49-F238E27FC236}">
                <a16:creationId xmlns:a16="http://schemas.microsoft.com/office/drawing/2014/main" id="{16E07636-ABF3-471C-BF9E-7EA01A697F04}"/>
              </a:ext>
            </a:extLst>
          </p:cNvPr>
          <p:cNvSpPr>
            <a:spLocks noGrp="1"/>
          </p:cNvSpPr>
          <p:nvPr/>
        </p:nvSpPr>
        <p:spPr>
          <a:xfrm>
            <a:off x="704850" y="3038475"/>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02</a:t>
            </a:r>
          </a:p>
        </p:txBody>
      </p:sp>
      <p:sp>
        <p:nvSpPr>
          <p:cNvPr id="9" name="矩形 8">
            <a:extLst>
              <a:ext uri="{FF2B5EF4-FFF2-40B4-BE49-F238E27FC236}">
                <a16:creationId xmlns:a16="http://schemas.microsoft.com/office/drawing/2014/main" id="{8B473188-1093-4003-AD30-0D7EE8C93B36}"/>
              </a:ext>
            </a:extLst>
          </p:cNvPr>
          <p:cNvSpPr>
            <a:spLocks noGrp="1"/>
          </p:cNvSpPr>
          <p:nvPr/>
        </p:nvSpPr>
        <p:spPr>
          <a:xfrm>
            <a:off x="1714500" y="3067050"/>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混合召回</a:t>
            </a:r>
          </a:p>
        </p:txBody>
      </p:sp>
      <p:sp>
        <p:nvSpPr>
          <p:cNvPr id="10" name="矩形 9">
            <a:extLst>
              <a:ext uri="{FF2B5EF4-FFF2-40B4-BE49-F238E27FC236}">
                <a16:creationId xmlns:a16="http://schemas.microsoft.com/office/drawing/2014/main" id="{8D9CCC39-8A48-461C-A543-9B363358BF3B}"/>
              </a:ext>
            </a:extLst>
          </p:cNvPr>
          <p:cNvSpPr>
            <a:spLocks noGrp="1"/>
          </p:cNvSpPr>
          <p:nvPr/>
        </p:nvSpPr>
        <p:spPr>
          <a:xfrm>
            <a:off x="4429125" y="3067050"/>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系统按字段与深度筛选，</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以 RRF 融合向量与 BM25 排名，形成 20 个候选。</a:t>
            </a:r>
          </a:p>
        </p:txBody>
      </p:sp>
      <p:sp>
        <p:nvSpPr>
          <p:cNvPr id="11" name="矩形 10">
            <a:extLst>
              <a:ext uri="{FF2B5EF4-FFF2-40B4-BE49-F238E27FC236}">
                <a16:creationId xmlns:a16="http://schemas.microsoft.com/office/drawing/2014/main" id="{12E94213-EE5E-482F-B8E8-02C7A8FCD834}"/>
              </a:ext>
            </a:extLst>
          </p:cNvPr>
          <p:cNvSpPr>
            <a:spLocks noGrp="1"/>
          </p:cNvSpPr>
          <p:nvPr/>
        </p:nvSpPr>
        <p:spPr>
          <a:xfrm>
            <a:off x="704850" y="3981450"/>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03</a:t>
            </a:r>
          </a:p>
        </p:txBody>
      </p:sp>
      <p:sp>
        <p:nvSpPr>
          <p:cNvPr id="12" name="矩形 11">
            <a:extLst>
              <a:ext uri="{FF2B5EF4-FFF2-40B4-BE49-F238E27FC236}">
                <a16:creationId xmlns:a16="http://schemas.microsoft.com/office/drawing/2014/main" id="{1B7EC33C-4C1B-4CBB-8320-84BF4D2F535B}"/>
              </a:ext>
            </a:extLst>
          </p:cNvPr>
          <p:cNvSpPr>
            <a:spLocks noGrp="1"/>
          </p:cNvSpPr>
          <p:nvPr/>
        </p:nvSpPr>
        <p:spPr>
          <a:xfrm>
            <a:off x="1714500" y="4010025"/>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重排分流</a:t>
            </a:r>
          </a:p>
        </p:txBody>
      </p:sp>
      <p:sp>
        <p:nvSpPr>
          <p:cNvPr id="13" name="矩形 12">
            <a:extLst>
              <a:ext uri="{FF2B5EF4-FFF2-40B4-BE49-F238E27FC236}">
                <a16:creationId xmlns:a16="http://schemas.microsoft.com/office/drawing/2014/main" id="{5851BC6D-1BD3-4A27-8337-BAE4FCA52AE0}"/>
              </a:ext>
            </a:extLst>
          </p:cNvPr>
          <p:cNvSpPr>
            <a:spLocks noGrp="1"/>
          </p:cNvSpPr>
          <p:nvPr/>
        </p:nvSpPr>
        <p:spPr>
          <a:xfrm>
            <a:off x="4429125" y="4010025"/>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系统根据两路一致性、向量分差与词覆盖率，</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选择相应的重排路径。</a:t>
            </a:r>
          </a:p>
        </p:txBody>
      </p:sp>
      <p:sp>
        <p:nvSpPr>
          <p:cNvPr id="14" name="矩形 13">
            <a:extLst>
              <a:ext uri="{FF2B5EF4-FFF2-40B4-BE49-F238E27FC236}">
                <a16:creationId xmlns:a16="http://schemas.microsoft.com/office/drawing/2014/main" id="{FD0C4A2E-A526-4FB8-9F7D-144DD98AF035}"/>
              </a:ext>
            </a:extLst>
          </p:cNvPr>
          <p:cNvSpPr>
            <a:spLocks noGrp="1"/>
          </p:cNvSpPr>
          <p:nvPr/>
        </p:nvSpPr>
        <p:spPr>
          <a:xfrm>
            <a:off x="704850" y="4924425"/>
            <a:ext cx="752475" cy="609600"/>
          </a:xfrm>
          <a:prstGeom prst="rect">
            <a:avLst/>
          </a:prstGeom>
          <a:noFill/>
          <a:ln w="0">
            <a:noFill/>
          </a:ln>
        </p:spPr>
        <p:txBody>
          <a:bodyPr wrap="none" lIns="0" tIns="0" rIns="0" bIns="0" anchor="t">
            <a:noAutofit/>
          </a:bodyPr>
          <a:lstStyle/>
          <a:p>
            <a:pPr algn="l">
              <a:defRPr sz="3300" b="0">
                <a:solidFill>
                  <a:srgbClr val="087D86"/>
                </a:solidFill>
                <a:latin typeface="Arial Unicode MS"/>
                <a:ea typeface="Arial Unicode MS"/>
                <a:cs typeface="Arial Unicode MS"/>
              </a:defRPr>
            </a:pPr>
            <a:r>
              <a:rPr sz="3300" b="0">
                <a:solidFill>
                  <a:srgbClr val="087D86"/>
                </a:solidFill>
                <a:latin typeface="Arial Unicode MS"/>
                <a:ea typeface="Arial Unicode MS"/>
                <a:cs typeface="Arial Unicode MS"/>
              </a:rPr>
              <a:t>04</a:t>
            </a:r>
          </a:p>
        </p:txBody>
      </p:sp>
      <p:sp>
        <p:nvSpPr>
          <p:cNvPr id="15" name="矩形 14">
            <a:extLst>
              <a:ext uri="{FF2B5EF4-FFF2-40B4-BE49-F238E27FC236}">
                <a16:creationId xmlns:a16="http://schemas.microsoft.com/office/drawing/2014/main" id="{EDF8AC15-BBE4-43C7-9E3C-363F71FBEA90}"/>
              </a:ext>
            </a:extLst>
          </p:cNvPr>
          <p:cNvSpPr>
            <a:spLocks noGrp="1"/>
          </p:cNvSpPr>
          <p:nvPr/>
        </p:nvSpPr>
        <p:spPr>
          <a:xfrm>
            <a:off x="1714500" y="4953000"/>
            <a:ext cx="2438400" cy="466725"/>
          </a:xfrm>
          <a:prstGeom prst="rect">
            <a:avLst/>
          </a:prstGeom>
          <a:noFill/>
          <a:ln w="0">
            <a:noFill/>
          </a:ln>
        </p:spPr>
        <p:txBody>
          <a:bodyPr wrap="none" lIns="0" tIns="0" rIns="0" bIns="0" anchor="t">
            <a:noAutofit/>
          </a:bodyPr>
          <a:lstStyle/>
          <a:p>
            <a:pPr algn="l">
              <a:defRPr sz="2175" b="1">
                <a:solidFill>
                  <a:srgbClr val="16313C"/>
                </a:solidFill>
                <a:latin typeface="Arial Unicode MS"/>
                <a:ea typeface="Arial Unicode MS"/>
                <a:cs typeface="Arial Unicode MS"/>
              </a:defRPr>
            </a:pPr>
            <a:r>
              <a:rPr sz="2175" b="1">
                <a:solidFill>
                  <a:srgbClr val="16313C"/>
                </a:solidFill>
                <a:latin typeface="Arial Unicode MS"/>
                <a:ea typeface="Arial Unicode MS"/>
                <a:cs typeface="Arial Unicode MS"/>
              </a:rPr>
              <a:t>问题生成</a:t>
            </a:r>
          </a:p>
        </p:txBody>
      </p:sp>
      <p:sp>
        <p:nvSpPr>
          <p:cNvPr id="16" name="矩形 15">
            <a:extLst>
              <a:ext uri="{FF2B5EF4-FFF2-40B4-BE49-F238E27FC236}">
                <a16:creationId xmlns:a16="http://schemas.microsoft.com/office/drawing/2014/main" id="{2008FB67-369C-4D6B-ACE1-3DC5D7CF6DA3}"/>
              </a:ext>
            </a:extLst>
          </p:cNvPr>
          <p:cNvSpPr>
            <a:spLocks noGrp="1"/>
          </p:cNvSpPr>
          <p:nvPr/>
        </p:nvSpPr>
        <p:spPr>
          <a:xfrm>
            <a:off x="4429125" y="4953000"/>
            <a:ext cx="6791325" cy="762000"/>
          </a:xfrm>
          <a:prstGeom prst="rect">
            <a:avLst/>
          </a:prstGeom>
          <a:noFill/>
          <a:ln w="0">
            <a:noFill/>
          </a:ln>
        </p:spPr>
        <p:txBody>
          <a:bodyPr wrap="none" lIns="0" tIns="0" rIns="0" bIns="0" anchor="t">
            <a:noAutofit/>
          </a:bodyPr>
          <a:lstStyle/>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Agent 结合回答与命中卡片生成问题，</a:t>
            </a:r>
          </a:p>
          <a:p>
            <a:pPr algn="l">
              <a:defRPr sz="1875" b="0">
                <a:solidFill>
                  <a:srgbClr val="16313C"/>
                </a:solidFill>
                <a:latin typeface="Arial Unicode MS"/>
                <a:ea typeface="Arial Unicode MS"/>
                <a:cs typeface="Arial Unicode MS"/>
              </a:defRPr>
            </a:pPr>
            <a:r>
              <a:rPr sz="1875" b="0">
                <a:solidFill>
                  <a:srgbClr val="16313C"/>
                </a:solidFill>
                <a:latin typeface="Arial Unicode MS"/>
                <a:ea typeface="Arial Unicode MS"/>
                <a:cs typeface="Arial Unicode MS"/>
              </a:rPr>
              <a:t>系统核对并记录实际引用。</a:t>
            </a:r>
          </a:p>
        </p:txBody>
      </p:sp>
    </p:spTree>
    <p:extLst>
      <p:ext uri="{BB962C8B-B14F-4D97-AF65-F5344CB8AC3E}">
        <p14:creationId xmlns:p14="http://schemas.microsoft.com/office/powerpoint/2010/main" val="1359556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4D15F78-3908-4D53-B225-F91A0059B280}"/>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自适应 RAG：把计算量用在难判断的查询上</a:t>
            </a:r>
          </a:p>
        </p:txBody>
      </p:sp>
      <p:sp>
        <p:nvSpPr>
          <p:cNvPr id="2" name="矩形 1">
            <a:extLst>
              <a:ext uri="{FF2B5EF4-FFF2-40B4-BE49-F238E27FC236}">
                <a16:creationId xmlns:a16="http://schemas.microsoft.com/office/drawing/2014/main" id="{84A90059-033B-4EAC-86D8-7FE0E6DA52CE}"/>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我们设计了三级检索分流，让明确查询快速直达，让复杂查询获得更充分的候选与重排</a:t>
            </a:r>
          </a:p>
        </p:txBody>
      </p:sp>
      <p:sp>
        <p:nvSpPr>
          <p:cNvPr id="3" name="矩形 2">
            <a:extLst>
              <a:ext uri="{FF2B5EF4-FFF2-40B4-BE49-F238E27FC236}">
                <a16:creationId xmlns:a16="http://schemas.microsoft.com/office/drawing/2014/main" id="{AB0B10AA-AC5A-4A58-AC4B-68A516138CFE}"/>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置信度由检索特征与规则阈值判定，用于选择重排路径。</a:t>
            </a:r>
          </a:p>
        </p:txBody>
      </p:sp>
      <p:sp>
        <p:nvSpPr>
          <p:cNvPr id="4" name="矩形 3">
            <a:extLst>
              <a:ext uri="{FF2B5EF4-FFF2-40B4-BE49-F238E27FC236}">
                <a16:creationId xmlns:a16="http://schemas.microsoft.com/office/drawing/2014/main" id="{37B6136E-0C08-49E0-A5EC-E1A9A505D4E4}"/>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19</a:t>
            </a:r>
          </a:p>
        </p:txBody>
      </p:sp>
      <p:graphicFrame>
        <p:nvGraphicFramePr>
          <p:cNvPr id="11" name="表格 10"/>
          <p:cNvGraphicFramePr/>
          <p:nvPr/>
        </p:nvGraphicFramePr>
        <p:xfrm>
          <a:off x="714375" y="1971675"/>
          <a:ext cx="10668000" cy="2971800"/>
        </p:xfrm>
        <a:graphic>
          <a:graphicData uri="http://schemas.openxmlformats.org/drawingml/2006/table">
            <a:tbl>
              <a:tblPr/>
              <a:tblGrid>
                <a:gridCol w="18097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42950">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本地判断</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系统处理</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判断条件</a:t>
                      </a:r>
                    </a:p>
                  </a:txBody>
                  <a:tcPr anchor="ctr">
                    <a:solidFill>
                      <a:srgbClr val="16313C"/>
                    </a:solidFill>
                  </a:tcPr>
                </a:tc>
                <a:extLst>
                  <a:ext uri="{0D108BD9-81ED-4DB2-BD59-A6C34878D82A}">
                    <a16:rowId xmlns:a16="http://schemas.microsoft.com/office/drawing/2014/main" val="10000"/>
                  </a:ext>
                </a:extLst>
              </a:tr>
              <a:tr h="7429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高置信度</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系统跳过</a:t>
                      </a:r>
                      <a:r>
                        <a:rPr lang="en-US" altLang="zh-CN" sz="1800" b="0" dirty="0" err="1">
                          <a:solidFill>
                            <a:srgbClr val="16313C"/>
                          </a:solidFill>
                          <a:latin typeface="Arial Unicode MS"/>
                          <a:ea typeface="Arial Unicode MS"/>
                          <a:cs typeface="Arial Unicode MS"/>
                        </a:rPr>
                        <a:t>rerank</a:t>
                      </a:r>
                      <a:r>
                        <a:rPr sz="1800" b="0" dirty="0" err="1">
                          <a:solidFill>
                            <a:srgbClr val="16313C"/>
                          </a:solidFill>
                          <a:latin typeface="Arial Unicode MS"/>
                          <a:ea typeface="Arial Unicode MS"/>
                          <a:cs typeface="Arial Unicode MS"/>
                        </a:rPr>
                        <a:t>，采用本地筛</a:t>
                      </a:r>
                      <a:endParaRPr sz="1800" b="0" dirty="0">
                        <a:solidFill>
                          <a:srgbClr val="16313C"/>
                        </a:solidFill>
                        <a:latin typeface="Arial Unicode MS"/>
                        <a:ea typeface="Arial Unicode MS"/>
                        <a:cs typeface="Arial Unicode MS"/>
                      </a:endParaRPr>
                    </a:p>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选</a:t>
                      </a:r>
                      <a:endParaRPr sz="1800" b="0" dirty="0">
                        <a:solidFill>
                          <a:srgbClr val="16313C"/>
                        </a:solidFill>
                        <a:latin typeface="Arial Unicode MS"/>
                        <a:ea typeface="Arial Unicode MS"/>
                        <a:cs typeface="Arial Unicode MS"/>
                      </a:endParaRP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两路首位一致，向量 ≥0.60</a:t>
                      </a:r>
                    </a:p>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词覆盖 ≥0.45，领先分差 ≥0.06</a:t>
                      </a:r>
                    </a:p>
                  </a:txBody>
                  <a:tcPr anchor="ctr">
                    <a:solidFill>
                      <a:srgbClr val="F5F8F7"/>
                    </a:solidFill>
                  </a:tcPr>
                </a:tc>
                <a:extLst>
                  <a:ext uri="{0D108BD9-81ED-4DB2-BD59-A6C34878D82A}">
                    <a16:rowId xmlns:a16="http://schemas.microsoft.com/office/drawing/2014/main" val="10001"/>
                  </a:ext>
                </a:extLst>
              </a:tr>
              <a:tr h="7429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中置信度</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lang="en-US" altLang="zh-CN" sz="1800" b="0" dirty="0" err="1">
                          <a:solidFill>
                            <a:srgbClr val="16313C"/>
                          </a:solidFill>
                          <a:latin typeface="Arial Unicode MS"/>
                          <a:ea typeface="Arial Unicode MS"/>
                          <a:cs typeface="Arial Unicode MS"/>
                        </a:rPr>
                        <a:t>rerank</a:t>
                      </a:r>
                      <a:r>
                        <a:rPr sz="1800" b="0" dirty="0">
                          <a:solidFill>
                            <a:srgbClr val="16313C"/>
                          </a:solidFill>
                          <a:latin typeface="Arial Unicode MS"/>
                          <a:ea typeface="Arial Unicode MS"/>
                          <a:cs typeface="Arial Unicode MS"/>
                        </a:rPr>
                        <a:t> </a:t>
                      </a:r>
                      <a:r>
                        <a:rPr sz="1800" b="0" dirty="0" err="1">
                          <a:solidFill>
                            <a:srgbClr val="16313C"/>
                          </a:solidFill>
                          <a:latin typeface="Arial Unicode MS"/>
                          <a:ea typeface="Arial Unicode MS"/>
                          <a:cs typeface="Arial Unicode MS"/>
                        </a:rPr>
                        <a:t>重排前</a:t>
                      </a:r>
                      <a:r>
                        <a:rPr sz="1800" b="0" dirty="0">
                          <a:solidFill>
                            <a:srgbClr val="16313C"/>
                          </a:solidFill>
                          <a:latin typeface="Arial Unicode MS"/>
                          <a:ea typeface="Arial Unicode MS"/>
                          <a:cs typeface="Arial Unicode MS"/>
                        </a:rPr>
                        <a:t> 20 </a:t>
                      </a:r>
                      <a:r>
                        <a:rPr sz="1800" b="0" dirty="0" err="1">
                          <a:solidFill>
                            <a:srgbClr val="16313C"/>
                          </a:solidFill>
                          <a:latin typeface="Arial Unicode MS"/>
                          <a:ea typeface="Arial Unicode MS"/>
                          <a:cs typeface="Arial Unicode MS"/>
                        </a:rPr>
                        <a:t>个候选</a:t>
                      </a:r>
                      <a:endParaRPr sz="1800" b="0" dirty="0">
                        <a:solidFill>
                          <a:srgbClr val="16313C"/>
                        </a:solidFill>
                        <a:latin typeface="Arial Unicode MS"/>
                        <a:ea typeface="Arial Unicode MS"/>
                        <a:cs typeface="Arial Unicode MS"/>
                      </a:endParaRP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其余查询满足任一条件：</a:t>
                      </a:r>
                    </a:p>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向量 ≥0.40 或词覆盖 ≥0.35</a:t>
                      </a:r>
                    </a:p>
                  </a:txBody>
                  <a:tcPr anchor="ctr">
                    <a:solidFill>
                      <a:srgbClr val="FFFFFF"/>
                    </a:solidFill>
                  </a:tcPr>
                </a:tc>
                <a:extLst>
                  <a:ext uri="{0D108BD9-81ED-4DB2-BD59-A6C34878D82A}">
                    <a16:rowId xmlns:a16="http://schemas.microsoft.com/office/drawing/2014/main" val="10002"/>
                  </a:ext>
                </a:extLst>
              </a:tr>
              <a:tr h="742950">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低置信度</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候选扩至 50 个后进入重排</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dirty="0" err="1">
                          <a:solidFill>
                            <a:srgbClr val="16313C"/>
                          </a:solidFill>
                          <a:latin typeface="Arial Unicode MS"/>
                          <a:ea typeface="Arial Unicode MS"/>
                          <a:cs typeface="Arial Unicode MS"/>
                        </a:rPr>
                        <a:t>其余情况</a:t>
                      </a:r>
                      <a:endParaRPr sz="1800" b="0" dirty="0">
                        <a:solidFill>
                          <a:srgbClr val="16313C"/>
                        </a:solidFill>
                        <a:latin typeface="Arial Unicode MS"/>
                        <a:ea typeface="Arial Unicode MS"/>
                        <a:cs typeface="Arial Unicode MS"/>
                      </a:endParaRPr>
                    </a:p>
                  </a:txBody>
                  <a:tcPr anchor="ctr">
                    <a:solidFill>
                      <a:srgbClr val="F5F8F7"/>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177917A4-800A-419B-A053-6BE51425A512}"/>
              </a:ext>
            </a:extLst>
          </p:cNvPr>
          <p:cNvSpPr>
            <a:spLocks noGrp="1"/>
          </p:cNvSpPr>
          <p:nvPr/>
        </p:nvSpPr>
        <p:spPr>
          <a:xfrm>
            <a:off x="752475" y="5238750"/>
            <a:ext cx="10572750" cy="7810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lang="en" sz="1950" b="0" dirty="0">
                <a:solidFill>
                  <a:srgbClr val="16313C"/>
                </a:solidFill>
                <a:latin typeface="Arial Unicode MS"/>
                <a:ea typeface="Arial Unicode MS"/>
                <a:cs typeface="Arial Unicode MS"/>
              </a:rPr>
              <a:t>M</a:t>
            </a:r>
            <a:r>
              <a:rPr sz="1950" b="0" dirty="0" err="1">
                <a:solidFill>
                  <a:srgbClr val="16313C"/>
                </a:solidFill>
                <a:latin typeface="Arial Unicode MS"/>
                <a:ea typeface="Arial Unicode MS"/>
                <a:cs typeface="Arial Unicode MS"/>
              </a:rPr>
              <a:t>ini</a:t>
            </a:r>
            <a:r>
              <a:rPr lang="zh-CN" altLang="en-US" sz="1950" b="0" dirty="0">
                <a:solidFill>
                  <a:srgbClr val="16313C"/>
                </a:solidFill>
                <a:latin typeface="Arial Unicode MS"/>
                <a:ea typeface="Arial Unicode MS"/>
                <a:cs typeface="Arial Unicode MS"/>
              </a:rPr>
              <a:t>模型</a:t>
            </a:r>
            <a:r>
              <a:rPr sz="1950" b="0" dirty="0">
                <a:solidFill>
                  <a:srgbClr val="16313C"/>
                </a:solidFill>
                <a:latin typeface="Arial Unicode MS"/>
                <a:ea typeface="Arial Unicode MS"/>
                <a:cs typeface="Arial Unicode MS"/>
              </a:rPr>
              <a:t> </a:t>
            </a:r>
            <a:r>
              <a:rPr sz="1950" b="0" dirty="0" err="1">
                <a:solidFill>
                  <a:srgbClr val="16313C"/>
                </a:solidFill>
                <a:latin typeface="Arial Unicode MS"/>
                <a:ea typeface="Arial Unicode MS"/>
                <a:cs typeface="Arial Unicode MS"/>
              </a:rPr>
              <a:t>读取候选卡的原题与考察点，一次返回全部候选的相关性分</a:t>
            </a:r>
            <a:r>
              <a:rPr sz="1950" b="0" dirty="0">
                <a:solidFill>
                  <a:srgbClr val="16313C"/>
                </a:solidFill>
                <a:latin typeface="Arial Unicode MS"/>
                <a:ea typeface="Arial Unicode MS"/>
                <a:cs typeface="Arial Unicode MS"/>
              </a:rPr>
              <a:t>。</a:t>
            </a:r>
          </a:p>
          <a:p>
            <a:pPr algn="l">
              <a:defRPr sz="1950" b="0">
                <a:solidFill>
                  <a:srgbClr val="16313C"/>
                </a:solidFill>
                <a:latin typeface="Arial Unicode MS"/>
                <a:ea typeface="Arial Unicode MS"/>
                <a:cs typeface="Arial Unicode MS"/>
              </a:defRPr>
            </a:pPr>
            <a:r>
              <a:rPr sz="1950" b="0" dirty="0" err="1">
                <a:solidFill>
                  <a:srgbClr val="16313C"/>
                </a:solidFill>
                <a:latin typeface="Arial Unicode MS"/>
                <a:ea typeface="Arial Unicode MS"/>
                <a:cs typeface="Arial Unicode MS"/>
              </a:rPr>
              <a:t>未启用</a:t>
            </a:r>
            <a:r>
              <a:rPr sz="1950" b="0" dirty="0">
                <a:solidFill>
                  <a:srgbClr val="16313C"/>
                </a:solidFill>
                <a:latin typeface="Arial Unicode MS"/>
                <a:ea typeface="Arial Unicode MS"/>
                <a:cs typeface="Arial Unicode MS"/>
              </a:rPr>
              <a:t> mini </a:t>
            </a:r>
            <a:r>
              <a:rPr lang="zh-CN" altLang="en-US" sz="1950" b="0" dirty="0">
                <a:solidFill>
                  <a:srgbClr val="16313C"/>
                </a:solidFill>
                <a:latin typeface="Arial Unicode MS"/>
                <a:ea typeface="Arial Unicode MS"/>
                <a:cs typeface="Arial Unicode MS"/>
              </a:rPr>
              <a:t>模型</a:t>
            </a:r>
            <a:r>
              <a:rPr sz="1950" b="0" dirty="0" err="1">
                <a:solidFill>
                  <a:srgbClr val="16313C"/>
                </a:solidFill>
                <a:latin typeface="Arial Unicode MS"/>
                <a:ea typeface="Arial Unicode MS"/>
                <a:cs typeface="Arial Unicode MS"/>
              </a:rPr>
              <a:t>或调用失败时，系统使用本地相关性分继续筛选</a:t>
            </a:r>
            <a:r>
              <a:rPr sz="1950" b="0" dirty="0">
                <a:solidFill>
                  <a:srgbClr val="16313C"/>
                </a:solidFill>
                <a:latin typeface="Arial Unicode MS"/>
                <a:ea typeface="Arial Unicode MS"/>
                <a:cs typeface="Arial Unicode MS"/>
              </a:rPr>
              <a:t>。</a:t>
            </a:r>
          </a:p>
        </p:txBody>
      </p:sp>
    </p:spTree>
    <p:extLst>
      <p:ext uri="{BB962C8B-B14F-4D97-AF65-F5344CB8AC3E}">
        <p14:creationId xmlns:p14="http://schemas.microsoft.com/office/powerpoint/2010/main" val="3877091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日程表&#10;&#10;AI 生成的内容可能不正确。">
            <a:extLst>
              <a:ext uri="{FF2B5EF4-FFF2-40B4-BE49-F238E27FC236}">
                <a16:creationId xmlns:a16="http://schemas.microsoft.com/office/drawing/2014/main" id="{2AA1F6BF-F5BA-385B-F704-1A340590F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3" y="0"/>
            <a:ext cx="12198487" cy="6858000"/>
          </a:xfrm>
          <a:prstGeom prst="rect">
            <a:avLst/>
          </a:prstGeom>
        </p:spPr>
      </p:pic>
    </p:spTree>
    <p:extLst>
      <p:ext uri="{BB962C8B-B14F-4D97-AF65-F5344CB8AC3E}">
        <p14:creationId xmlns:p14="http://schemas.microsoft.com/office/powerpoint/2010/main" val="1996535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8CB79C-31F2-BAB4-C2EC-CD4070EE5D9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BC6D7154-6453-AD5F-4EBF-04F19FDD87C0}"/>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目录</a:t>
            </a:r>
          </a:p>
        </p:txBody>
      </p:sp>
      <p:sp>
        <p:nvSpPr>
          <p:cNvPr id="2" name="矩形 1">
            <a:extLst>
              <a:ext uri="{FF2B5EF4-FFF2-40B4-BE49-F238E27FC236}">
                <a16:creationId xmlns:a16="http://schemas.microsoft.com/office/drawing/2014/main" id="{A14016FE-E16A-6417-848B-84A5B6B834B2}"/>
              </a:ext>
            </a:extLst>
          </p:cNvPr>
          <p:cNvSpPr>
            <a:spLocks noGrp="1"/>
          </p:cNvSpPr>
          <p:nvPr/>
        </p:nvSpPr>
        <p:spPr>
          <a:xfrm>
            <a:off x="3106700" y="16764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01</a:t>
            </a:r>
          </a:p>
        </p:txBody>
      </p:sp>
      <p:sp>
        <p:nvSpPr>
          <p:cNvPr id="3" name="矩形 2">
            <a:extLst>
              <a:ext uri="{FF2B5EF4-FFF2-40B4-BE49-F238E27FC236}">
                <a16:creationId xmlns:a16="http://schemas.microsoft.com/office/drawing/2014/main" id="{01C6CD75-DC71-3607-50CF-37531D6D55F0}"/>
              </a:ext>
            </a:extLst>
          </p:cNvPr>
          <p:cNvSpPr>
            <a:spLocks noGrp="1"/>
          </p:cNvSpPr>
          <p:nvPr/>
        </p:nvSpPr>
        <p:spPr>
          <a:xfrm>
            <a:off x="5447635" y="165735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dirty="0" err="1">
                <a:solidFill>
                  <a:srgbClr val="16313C"/>
                </a:solidFill>
                <a:latin typeface="Arial Unicode MS"/>
                <a:ea typeface="Arial Unicode MS"/>
                <a:cs typeface="Arial Unicode MS"/>
              </a:rPr>
              <a:t>项目定位与使用流程</a:t>
            </a:r>
            <a:endParaRPr sz="2400" dirty="0">
              <a:solidFill>
                <a:srgbClr val="16313C"/>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941B0A12-0998-87B9-433B-8B7D74617580}"/>
              </a:ext>
            </a:extLst>
          </p:cNvPr>
          <p:cNvSpPr>
            <a:spLocks noGrp="1"/>
          </p:cNvSpPr>
          <p:nvPr/>
        </p:nvSpPr>
        <p:spPr>
          <a:xfrm>
            <a:off x="3106700" y="2681287"/>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02</a:t>
            </a:r>
          </a:p>
        </p:txBody>
      </p:sp>
      <p:sp>
        <p:nvSpPr>
          <p:cNvPr id="6" name="矩形 5">
            <a:extLst>
              <a:ext uri="{FF2B5EF4-FFF2-40B4-BE49-F238E27FC236}">
                <a16:creationId xmlns:a16="http://schemas.microsoft.com/office/drawing/2014/main" id="{FD2F7CA4-16D5-060F-0288-E26755592747}"/>
              </a:ext>
            </a:extLst>
          </p:cNvPr>
          <p:cNvSpPr>
            <a:spLocks noGrp="1"/>
          </p:cNvSpPr>
          <p:nvPr/>
        </p:nvSpPr>
        <p:spPr>
          <a:xfrm>
            <a:off x="5447635" y="2681287"/>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面试架构与评估逻辑</a:t>
            </a:r>
            <a:endParaRPr sz="2400" b="0" dirty="0">
              <a:solidFill>
                <a:srgbClr val="16313C"/>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2F6C8B10-36F8-78D9-C891-5123F006F83B}"/>
              </a:ext>
            </a:extLst>
          </p:cNvPr>
          <p:cNvSpPr>
            <a:spLocks noGrp="1"/>
          </p:cNvSpPr>
          <p:nvPr/>
        </p:nvSpPr>
        <p:spPr>
          <a:xfrm>
            <a:off x="3106700" y="3533776"/>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03</a:t>
            </a:r>
          </a:p>
        </p:txBody>
      </p:sp>
      <p:sp>
        <p:nvSpPr>
          <p:cNvPr id="9" name="矩形 8">
            <a:extLst>
              <a:ext uri="{FF2B5EF4-FFF2-40B4-BE49-F238E27FC236}">
                <a16:creationId xmlns:a16="http://schemas.microsoft.com/office/drawing/2014/main" id="{670C12C5-F23B-5944-A982-EEF2843B2A52}"/>
              </a:ext>
            </a:extLst>
          </p:cNvPr>
          <p:cNvSpPr>
            <a:spLocks noGrp="1"/>
          </p:cNvSpPr>
          <p:nvPr/>
        </p:nvSpPr>
        <p:spPr>
          <a:xfrm>
            <a:off x="5447635" y="3533776"/>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知识库与自适应</a:t>
            </a:r>
            <a:r>
              <a:rPr sz="2400" b="0" dirty="0">
                <a:solidFill>
                  <a:srgbClr val="16313C"/>
                </a:solidFill>
                <a:latin typeface="Arial Unicode MS"/>
                <a:ea typeface="Arial Unicode MS"/>
                <a:cs typeface="Arial Unicode MS"/>
              </a:rPr>
              <a:t> RAG</a:t>
            </a:r>
          </a:p>
        </p:txBody>
      </p:sp>
      <p:sp>
        <p:nvSpPr>
          <p:cNvPr id="11" name="矩形 10">
            <a:extLst>
              <a:ext uri="{FF2B5EF4-FFF2-40B4-BE49-F238E27FC236}">
                <a16:creationId xmlns:a16="http://schemas.microsoft.com/office/drawing/2014/main" id="{E9DF6495-65FC-C915-DBA3-1667EE8162D1}"/>
              </a:ext>
            </a:extLst>
          </p:cNvPr>
          <p:cNvSpPr>
            <a:spLocks noGrp="1"/>
          </p:cNvSpPr>
          <p:nvPr/>
        </p:nvSpPr>
        <p:spPr>
          <a:xfrm>
            <a:off x="3106700" y="44577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04</a:t>
            </a:r>
          </a:p>
        </p:txBody>
      </p:sp>
      <p:sp>
        <p:nvSpPr>
          <p:cNvPr id="12" name="矩形 11">
            <a:extLst>
              <a:ext uri="{FF2B5EF4-FFF2-40B4-BE49-F238E27FC236}">
                <a16:creationId xmlns:a16="http://schemas.microsoft.com/office/drawing/2014/main" id="{8DD182D9-EE79-E71E-11D8-60918A71C11D}"/>
              </a:ext>
            </a:extLst>
          </p:cNvPr>
          <p:cNvSpPr>
            <a:spLocks noGrp="1"/>
          </p:cNvSpPr>
          <p:nvPr/>
        </p:nvSpPr>
        <p:spPr>
          <a:xfrm>
            <a:off x="5086128" y="4324351"/>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3200" u="sng" dirty="0" err="1">
                <a:solidFill>
                  <a:srgbClr val="FF0000"/>
                </a:solidFill>
                <a:latin typeface="Arial Unicode MS"/>
                <a:ea typeface="Arial Unicode MS"/>
                <a:cs typeface="Arial Unicode MS"/>
              </a:rPr>
              <a:t>会话管理与运行保障</a:t>
            </a:r>
            <a:endParaRPr sz="3200" u="sng" dirty="0">
              <a:solidFill>
                <a:srgbClr val="FF0000"/>
              </a:solidFill>
              <a:latin typeface="Arial Unicode MS"/>
              <a:ea typeface="Arial Unicode MS"/>
              <a:cs typeface="Arial Unicode MS"/>
            </a:endParaRPr>
          </a:p>
        </p:txBody>
      </p:sp>
      <p:sp>
        <p:nvSpPr>
          <p:cNvPr id="17" name="矩形 16">
            <a:extLst>
              <a:ext uri="{FF2B5EF4-FFF2-40B4-BE49-F238E27FC236}">
                <a16:creationId xmlns:a16="http://schemas.microsoft.com/office/drawing/2014/main" id="{009B2AFF-750B-A212-D2E1-398F1C90261C}"/>
              </a:ext>
            </a:extLst>
          </p:cNvPr>
          <p:cNvSpPr>
            <a:spLocks noGrp="1"/>
          </p:cNvSpPr>
          <p:nvPr/>
        </p:nvSpPr>
        <p:spPr>
          <a:xfrm>
            <a:off x="3106700" y="5248275"/>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06</a:t>
            </a:r>
          </a:p>
        </p:txBody>
      </p:sp>
      <p:sp>
        <p:nvSpPr>
          <p:cNvPr id="18" name="矩形 17">
            <a:extLst>
              <a:ext uri="{FF2B5EF4-FFF2-40B4-BE49-F238E27FC236}">
                <a16:creationId xmlns:a16="http://schemas.microsoft.com/office/drawing/2014/main" id="{E4109B52-9AA0-A016-8842-6B21F9BF91C4}"/>
              </a:ext>
            </a:extLst>
          </p:cNvPr>
          <p:cNvSpPr>
            <a:spLocks noGrp="1"/>
          </p:cNvSpPr>
          <p:nvPr/>
        </p:nvSpPr>
        <p:spPr>
          <a:xfrm>
            <a:off x="5447635" y="524827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lang="zh-CN" altLang="en-US" sz="2400" dirty="0">
                <a:solidFill>
                  <a:srgbClr val="16313C"/>
                </a:solidFill>
                <a:latin typeface="Arial Unicode MS"/>
                <a:ea typeface="Arial Unicode MS"/>
                <a:cs typeface="Arial Unicode MS"/>
              </a:rPr>
              <a:t>报告展示</a:t>
            </a:r>
            <a:r>
              <a:rPr sz="2400" b="0" dirty="0" err="1">
                <a:solidFill>
                  <a:srgbClr val="16313C"/>
                </a:solidFill>
                <a:latin typeface="Arial Unicode MS"/>
                <a:ea typeface="Arial Unicode MS"/>
                <a:cs typeface="Arial Unicode MS"/>
              </a:rPr>
              <a:t>与参赛信息</a:t>
            </a:r>
            <a:endParaRPr sz="2400" b="0" dirty="0">
              <a:solidFill>
                <a:srgbClr val="16313C"/>
              </a:solidFill>
              <a:latin typeface="Arial Unicode MS"/>
              <a:ea typeface="Arial Unicode MS"/>
              <a:cs typeface="Arial Unicode MS"/>
            </a:endParaRPr>
          </a:p>
        </p:txBody>
      </p:sp>
      <p:sp>
        <p:nvSpPr>
          <p:cNvPr id="20" name="矩形 19">
            <a:extLst>
              <a:ext uri="{FF2B5EF4-FFF2-40B4-BE49-F238E27FC236}">
                <a16:creationId xmlns:a16="http://schemas.microsoft.com/office/drawing/2014/main" id="{82C6207B-BDF6-C4D1-62C9-F4383CB28ADF}"/>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21</a:t>
            </a:r>
          </a:p>
        </p:txBody>
      </p:sp>
    </p:spTree>
    <p:extLst>
      <p:ext uri="{BB962C8B-B14F-4D97-AF65-F5344CB8AC3E}">
        <p14:creationId xmlns:p14="http://schemas.microsoft.com/office/powerpoint/2010/main" val="2265476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3284E33A-A96E-4D8D-A110-E03A6957C1B3}"/>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长对话记忆：跨项目找回关键证据</a:t>
            </a:r>
          </a:p>
        </p:txBody>
      </p:sp>
      <p:sp>
        <p:nvSpPr>
          <p:cNvPr id="2" name="矩形 1">
            <a:extLst>
              <a:ext uri="{FF2B5EF4-FFF2-40B4-BE49-F238E27FC236}">
                <a16:creationId xmlns:a16="http://schemas.microsoft.com/office/drawing/2014/main" id="{A8CFDDD9-990A-41DF-8826-A95467DAEFAF}"/>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摘要与召回围绕同一会话工作，支持跨项目查找早期回答与证据。</a:t>
            </a:r>
          </a:p>
        </p:txBody>
      </p:sp>
      <p:sp>
        <p:nvSpPr>
          <p:cNvPr id="3" name="矩形 2">
            <a:extLst>
              <a:ext uri="{FF2B5EF4-FFF2-40B4-BE49-F238E27FC236}">
                <a16:creationId xmlns:a16="http://schemas.microsoft.com/office/drawing/2014/main" id="{07F523B5-57DC-4AEC-A300-C1E6584AFFEF}"/>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22</a:t>
            </a:r>
          </a:p>
        </p:txBody>
      </p:sp>
      <p:sp>
        <p:nvSpPr>
          <p:cNvPr id="4" name="矩形 3">
            <a:extLst>
              <a:ext uri="{FF2B5EF4-FFF2-40B4-BE49-F238E27FC236}">
                <a16:creationId xmlns:a16="http://schemas.microsoft.com/office/drawing/2014/main" id="{8C1D3C79-700C-48CB-9B21-901DF55DEE25}"/>
              </a:ext>
            </a:extLst>
          </p:cNvPr>
          <p:cNvSpPr>
            <a:spLocks noGrp="1"/>
          </p:cNvSpPr>
          <p:nvPr/>
        </p:nvSpPr>
        <p:spPr>
          <a:xfrm>
            <a:off x="723900" y="1828800"/>
            <a:ext cx="3962400" cy="1485900"/>
          </a:xfrm>
          <a:prstGeom prst="rect">
            <a:avLst/>
          </a:prstGeom>
          <a:noFill/>
          <a:ln w="0">
            <a:noFill/>
          </a:ln>
        </p:spPr>
        <p:txBody>
          <a:bodyPr wrap="none" lIns="0" tIns="0" rIns="0" bIns="0" anchor="t">
            <a:noAutofit/>
          </a:bodyPr>
          <a:lstStyle/>
          <a:p>
            <a:pPr algn="l">
              <a:defRPr sz="4050" b="1">
                <a:solidFill>
                  <a:srgbClr val="087D86"/>
                </a:solidFill>
                <a:latin typeface="Arial Unicode MS"/>
                <a:ea typeface="Arial Unicode MS"/>
                <a:cs typeface="Arial Unicode MS"/>
              </a:defRPr>
            </a:pPr>
            <a:r>
              <a:rPr sz="4050" b="1">
                <a:solidFill>
                  <a:srgbClr val="087D86"/>
                </a:solidFill>
                <a:latin typeface="Arial Unicode MS"/>
                <a:ea typeface="Arial Unicode MS"/>
                <a:cs typeface="Arial Unicode MS"/>
              </a:rPr>
              <a:t>会话状态</a:t>
            </a:r>
          </a:p>
          <a:p>
            <a:pPr algn="l">
              <a:defRPr sz="4050" b="1">
                <a:solidFill>
                  <a:srgbClr val="087D86"/>
                </a:solidFill>
                <a:latin typeface="Arial Unicode MS"/>
                <a:ea typeface="Arial Unicode MS"/>
                <a:cs typeface="Arial Unicode MS"/>
              </a:defRPr>
            </a:pPr>
            <a:r>
              <a:rPr sz="4050" b="1">
                <a:solidFill>
                  <a:srgbClr val="087D86"/>
                </a:solidFill>
                <a:latin typeface="Arial Unicode MS"/>
                <a:ea typeface="Arial Unicode MS"/>
                <a:cs typeface="Arial Unicode MS"/>
              </a:rPr>
              <a:t>统一保存</a:t>
            </a:r>
          </a:p>
        </p:txBody>
      </p:sp>
      <p:sp>
        <p:nvSpPr>
          <p:cNvPr id="5" name="矩形 4">
            <a:extLst>
              <a:ext uri="{FF2B5EF4-FFF2-40B4-BE49-F238E27FC236}">
                <a16:creationId xmlns:a16="http://schemas.microsoft.com/office/drawing/2014/main" id="{B1A1D218-DEBC-42A5-BB38-1CDAB482915C}"/>
              </a:ext>
            </a:extLst>
          </p:cNvPr>
          <p:cNvSpPr>
            <a:spLocks noGrp="1"/>
          </p:cNvSpPr>
          <p:nvPr/>
        </p:nvSpPr>
        <p:spPr>
          <a:xfrm>
            <a:off x="742950" y="3895725"/>
            <a:ext cx="4191000" cy="1343025"/>
          </a:xfrm>
          <a:prstGeom prst="rect">
            <a:avLst/>
          </a:prstGeom>
          <a:noFill/>
          <a:ln w="0">
            <a:noFill/>
          </a:ln>
        </p:spPr>
        <p:txBody>
          <a:bodyPr wrap="none" lIns="0" tIns="0" rIns="0" bIns="0" anchor="t">
            <a:noAutofit/>
          </a:bodyPr>
          <a:lstStyle/>
          <a:p>
            <a:pPr algn="l">
              <a:defRPr sz="2325" b="0">
                <a:solidFill>
                  <a:srgbClr val="16313C"/>
                </a:solidFill>
                <a:latin typeface="Arial Unicode MS"/>
                <a:ea typeface="Arial Unicode MS"/>
                <a:cs typeface="Arial Unicode MS"/>
              </a:defRPr>
            </a:pPr>
            <a:r>
              <a:rPr sz="2325" b="0">
                <a:solidFill>
                  <a:srgbClr val="16313C"/>
                </a:solidFill>
                <a:latin typeface="Arial Unicode MS"/>
                <a:ea typeface="Arial Unicode MS"/>
                <a:cs typeface="Arial Unicode MS"/>
              </a:rPr>
              <a:t>摘要与检索结果</a:t>
            </a:r>
          </a:p>
          <a:p>
            <a:pPr algn="l">
              <a:defRPr sz="2325" b="0">
                <a:solidFill>
                  <a:srgbClr val="16313C"/>
                </a:solidFill>
                <a:latin typeface="Arial Unicode MS"/>
                <a:ea typeface="Arial Unicode MS"/>
                <a:cs typeface="Arial Unicode MS"/>
              </a:defRPr>
            </a:pPr>
            <a:r>
              <a:rPr sz="2325" b="0">
                <a:solidFill>
                  <a:srgbClr val="16313C"/>
                </a:solidFill>
                <a:latin typeface="Arial Unicode MS"/>
                <a:ea typeface="Arial Unicode MS"/>
                <a:cs typeface="Arial Unicode MS"/>
              </a:rPr>
              <a:t>都能指回回答或证据</a:t>
            </a:r>
          </a:p>
        </p:txBody>
      </p:sp>
      <p:sp>
        <p:nvSpPr>
          <p:cNvPr id="6" name="矩形 5">
            <a:extLst>
              <a:ext uri="{FF2B5EF4-FFF2-40B4-BE49-F238E27FC236}">
                <a16:creationId xmlns:a16="http://schemas.microsoft.com/office/drawing/2014/main" id="{A02B4A7D-A7FF-4811-851C-E2D5706EB7EB}"/>
              </a:ext>
            </a:extLst>
          </p:cNvPr>
          <p:cNvSpPr>
            <a:spLocks noGrp="1"/>
          </p:cNvSpPr>
          <p:nvPr/>
        </p:nvSpPr>
        <p:spPr>
          <a:xfrm>
            <a:off x="5676900" y="1714500"/>
            <a:ext cx="5715000" cy="419100"/>
          </a:xfrm>
          <a:prstGeom prst="rect">
            <a:avLst/>
          </a:prstGeom>
          <a:noFill/>
          <a:ln w="0">
            <a:noFill/>
          </a:ln>
        </p:spPr>
        <p:txBody>
          <a:bodyPr wrap="none" lIns="0" tIns="0" rIns="0" bIns="0" anchor="t">
            <a:noAutofit/>
          </a:bodyPr>
          <a:lstStyle/>
          <a:p>
            <a:pPr algn="l">
              <a:defRPr sz="2025" b="1">
                <a:solidFill>
                  <a:srgbClr val="16313C"/>
                </a:solidFill>
                <a:latin typeface="Arial Unicode MS"/>
                <a:ea typeface="Arial Unicode MS"/>
                <a:cs typeface="Arial Unicode MS"/>
              </a:defRPr>
            </a:pPr>
            <a:r>
              <a:rPr sz="2025" b="1">
                <a:solidFill>
                  <a:srgbClr val="16313C"/>
                </a:solidFill>
                <a:latin typeface="Arial Unicode MS"/>
                <a:ea typeface="Arial Unicode MS"/>
                <a:cs typeface="Arial Unicode MS"/>
              </a:rPr>
              <a:t>轻量摘要</a:t>
            </a:r>
          </a:p>
        </p:txBody>
      </p:sp>
      <p:sp>
        <p:nvSpPr>
          <p:cNvPr id="7" name="矩形 6">
            <a:extLst>
              <a:ext uri="{FF2B5EF4-FFF2-40B4-BE49-F238E27FC236}">
                <a16:creationId xmlns:a16="http://schemas.microsoft.com/office/drawing/2014/main" id="{C8137FA1-28D7-4CFA-A27A-BBAE134B6356}"/>
              </a:ext>
            </a:extLst>
          </p:cNvPr>
          <p:cNvSpPr>
            <a:spLocks noGrp="1"/>
          </p:cNvSpPr>
          <p:nvPr/>
        </p:nvSpPr>
        <p:spPr>
          <a:xfrm>
            <a:off x="5676900" y="2190750"/>
            <a:ext cx="5715000" cy="8953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系统每轮生成带有项目和证据来源的摘要，</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摘要长度控制在约 1500 字符以内。</a:t>
            </a:r>
          </a:p>
        </p:txBody>
      </p:sp>
      <p:sp>
        <p:nvSpPr>
          <p:cNvPr id="8" name="矩形 7">
            <a:extLst>
              <a:ext uri="{FF2B5EF4-FFF2-40B4-BE49-F238E27FC236}">
                <a16:creationId xmlns:a16="http://schemas.microsoft.com/office/drawing/2014/main" id="{6C0C8E4C-75F2-48D4-A008-355FDFF2BAAB}"/>
              </a:ext>
            </a:extLst>
          </p:cNvPr>
          <p:cNvSpPr>
            <a:spLocks noGrp="1"/>
          </p:cNvSpPr>
          <p:nvPr/>
        </p:nvSpPr>
        <p:spPr>
          <a:xfrm>
            <a:off x="5676900" y="3105150"/>
            <a:ext cx="5715000" cy="419100"/>
          </a:xfrm>
          <a:prstGeom prst="rect">
            <a:avLst/>
          </a:prstGeom>
          <a:noFill/>
          <a:ln w="0">
            <a:noFill/>
          </a:ln>
        </p:spPr>
        <p:txBody>
          <a:bodyPr wrap="none" lIns="0" tIns="0" rIns="0" bIns="0" anchor="t">
            <a:noAutofit/>
          </a:bodyPr>
          <a:lstStyle/>
          <a:p>
            <a:pPr algn="l">
              <a:defRPr sz="2025" b="1">
                <a:solidFill>
                  <a:srgbClr val="16313C"/>
                </a:solidFill>
                <a:latin typeface="Arial Unicode MS"/>
                <a:ea typeface="Arial Unicode MS"/>
                <a:cs typeface="Arial Unicode MS"/>
              </a:defRPr>
            </a:pPr>
            <a:r>
              <a:rPr sz="2025" b="1">
                <a:solidFill>
                  <a:srgbClr val="16313C"/>
                </a:solidFill>
                <a:latin typeface="Arial Unicode MS"/>
                <a:ea typeface="Arial Unicode MS"/>
                <a:cs typeface="Arial Unicode MS"/>
              </a:rPr>
              <a:t>按需召回</a:t>
            </a:r>
          </a:p>
        </p:txBody>
      </p:sp>
      <p:sp>
        <p:nvSpPr>
          <p:cNvPr id="9" name="矩形 8">
            <a:extLst>
              <a:ext uri="{FF2B5EF4-FFF2-40B4-BE49-F238E27FC236}">
                <a16:creationId xmlns:a16="http://schemas.microsoft.com/office/drawing/2014/main" id="{BD8A6624-FF12-4560-A592-6F54C265FBEF}"/>
              </a:ext>
            </a:extLst>
          </p:cNvPr>
          <p:cNvSpPr>
            <a:spLocks noGrp="1"/>
          </p:cNvSpPr>
          <p:nvPr/>
        </p:nvSpPr>
        <p:spPr>
          <a:xfrm>
            <a:off x="5676900" y="3581400"/>
            <a:ext cx="5715000" cy="8953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Agent 可按需检索早期回答和已接受证据，</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也可检索用户授权保存的简历全文。</a:t>
            </a:r>
          </a:p>
        </p:txBody>
      </p:sp>
      <p:sp>
        <p:nvSpPr>
          <p:cNvPr id="10" name="矩形 9">
            <a:extLst>
              <a:ext uri="{FF2B5EF4-FFF2-40B4-BE49-F238E27FC236}">
                <a16:creationId xmlns:a16="http://schemas.microsoft.com/office/drawing/2014/main" id="{58167410-C7AA-4755-AF10-586A676EC56F}"/>
              </a:ext>
            </a:extLst>
          </p:cNvPr>
          <p:cNvSpPr>
            <a:spLocks noGrp="1"/>
          </p:cNvSpPr>
          <p:nvPr/>
        </p:nvSpPr>
        <p:spPr>
          <a:xfrm>
            <a:off x="5676900" y="4495800"/>
            <a:ext cx="5715000" cy="419100"/>
          </a:xfrm>
          <a:prstGeom prst="rect">
            <a:avLst/>
          </a:prstGeom>
          <a:noFill/>
          <a:ln w="0">
            <a:noFill/>
          </a:ln>
        </p:spPr>
        <p:txBody>
          <a:bodyPr wrap="none" lIns="0" tIns="0" rIns="0" bIns="0" anchor="t">
            <a:noAutofit/>
          </a:bodyPr>
          <a:lstStyle/>
          <a:p>
            <a:pPr algn="l">
              <a:defRPr sz="2025" b="1">
                <a:solidFill>
                  <a:srgbClr val="16313C"/>
                </a:solidFill>
                <a:latin typeface="Arial Unicode MS"/>
                <a:ea typeface="Arial Unicode MS"/>
                <a:cs typeface="Arial Unicode MS"/>
              </a:defRPr>
            </a:pPr>
            <a:r>
              <a:rPr sz="2025" b="1">
                <a:solidFill>
                  <a:srgbClr val="16313C"/>
                </a:solidFill>
                <a:latin typeface="Arial Unicode MS"/>
                <a:ea typeface="Arial Unicode MS"/>
                <a:cs typeface="Arial Unicode MS"/>
              </a:rPr>
              <a:t>可重建的索引</a:t>
            </a:r>
          </a:p>
        </p:txBody>
      </p:sp>
      <p:sp>
        <p:nvSpPr>
          <p:cNvPr id="11" name="矩形 10">
            <a:extLst>
              <a:ext uri="{FF2B5EF4-FFF2-40B4-BE49-F238E27FC236}">
                <a16:creationId xmlns:a16="http://schemas.microsoft.com/office/drawing/2014/main" id="{813E4C58-AB0E-4D28-9D46-658ED5B8F2D5}"/>
              </a:ext>
            </a:extLst>
          </p:cNvPr>
          <p:cNvSpPr>
            <a:spLocks noGrp="1"/>
          </p:cNvSpPr>
          <p:nvPr/>
        </p:nvSpPr>
        <p:spPr>
          <a:xfrm>
            <a:off x="5676900" y="4972050"/>
            <a:ext cx="5715000" cy="89535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摘要与向量索引从会话事实派生，</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可随会话状态重新生成。</a:t>
            </a:r>
          </a:p>
        </p:txBody>
      </p:sp>
    </p:spTree>
    <p:extLst>
      <p:ext uri="{BB962C8B-B14F-4D97-AF65-F5344CB8AC3E}">
        <p14:creationId xmlns:p14="http://schemas.microsoft.com/office/powerpoint/2010/main" val="704705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形用户界面, 应用程序&#10;&#10;AI 生成的内容可能不正确。">
            <a:extLst>
              <a:ext uri="{FF2B5EF4-FFF2-40B4-BE49-F238E27FC236}">
                <a16:creationId xmlns:a16="http://schemas.microsoft.com/office/drawing/2014/main" id="{1C7FC36D-C29C-FAC6-7357-323787B28A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8487" cy="6858000"/>
          </a:xfrm>
          <a:prstGeom prst="rect">
            <a:avLst/>
          </a:prstGeom>
        </p:spPr>
      </p:pic>
    </p:spTree>
    <p:extLst>
      <p:ext uri="{BB962C8B-B14F-4D97-AF65-F5344CB8AC3E}">
        <p14:creationId xmlns:p14="http://schemas.microsoft.com/office/powerpoint/2010/main" val="114177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C2A2D774-1979-4DF3-8144-A3814F6E53CE}"/>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换题与开放交流</a:t>
            </a:r>
          </a:p>
        </p:txBody>
      </p:sp>
      <p:sp>
        <p:nvSpPr>
          <p:cNvPr id="2" name="矩形 1">
            <a:extLst>
              <a:ext uri="{FF2B5EF4-FFF2-40B4-BE49-F238E27FC236}">
                <a16:creationId xmlns:a16="http://schemas.microsoft.com/office/drawing/2014/main" id="{5A955FB5-3E80-4F02-B836-49F00562F959}"/>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候选人明确换题时停止当前项目，报告保留未核验内容。</a:t>
            </a:r>
          </a:p>
        </p:txBody>
      </p:sp>
      <p:sp>
        <p:nvSpPr>
          <p:cNvPr id="3" name="矩形 2">
            <a:extLst>
              <a:ext uri="{FF2B5EF4-FFF2-40B4-BE49-F238E27FC236}">
                <a16:creationId xmlns:a16="http://schemas.microsoft.com/office/drawing/2014/main" id="{8DE53003-BAA8-4224-AA11-4C5A2BFD5449}"/>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24</a:t>
            </a:r>
          </a:p>
        </p:txBody>
      </p:sp>
      <p:sp>
        <p:nvSpPr>
          <p:cNvPr id="4" name="矩形 3">
            <a:extLst>
              <a:ext uri="{FF2B5EF4-FFF2-40B4-BE49-F238E27FC236}">
                <a16:creationId xmlns:a16="http://schemas.microsoft.com/office/drawing/2014/main" id="{5133C090-7D5A-48A3-A5A5-CA1F7D2C56A2}"/>
              </a:ext>
            </a:extLst>
          </p:cNvPr>
          <p:cNvSpPr>
            <a:spLocks noGrp="1"/>
          </p:cNvSpPr>
          <p:nvPr/>
        </p:nvSpPr>
        <p:spPr>
          <a:xfrm>
            <a:off x="723900" y="1638300"/>
            <a:ext cx="10477500" cy="1371600"/>
          </a:xfrm>
          <a:prstGeom prst="rect">
            <a:avLst/>
          </a:prstGeom>
          <a:noFill/>
          <a:ln w="0">
            <a:noFill/>
          </a:ln>
        </p:spPr>
        <p:txBody>
          <a:bodyPr wrap="none" lIns="0" tIns="0" rIns="0" bIns="0" anchor="t">
            <a:noAutofit/>
          </a:bodyPr>
          <a:lstStyle/>
          <a:p>
            <a:pPr algn="l">
              <a:defRPr sz="3375" b="1">
                <a:solidFill>
                  <a:srgbClr val="087D86"/>
                </a:solidFill>
                <a:latin typeface="Arial Unicode MS"/>
                <a:ea typeface="Arial Unicode MS"/>
                <a:cs typeface="Arial Unicode MS"/>
              </a:defRPr>
            </a:pPr>
            <a:r>
              <a:rPr sz="3375" b="1">
                <a:solidFill>
                  <a:srgbClr val="087D86"/>
                </a:solidFill>
                <a:latin typeface="Arial Unicode MS"/>
                <a:ea typeface="Arial Unicode MS"/>
                <a:cs typeface="Arial Unicode MS"/>
              </a:rPr>
              <a:t>“这部分我确实不清楚，</a:t>
            </a:r>
          </a:p>
          <a:p>
            <a:pPr algn="l">
              <a:defRPr sz="3375" b="1">
                <a:solidFill>
                  <a:srgbClr val="087D86"/>
                </a:solidFill>
                <a:latin typeface="Arial Unicode MS"/>
                <a:ea typeface="Arial Unicode MS"/>
                <a:cs typeface="Arial Unicode MS"/>
              </a:defRPr>
            </a:pPr>
            <a:r>
              <a:rPr sz="3375" b="1">
                <a:solidFill>
                  <a:srgbClr val="087D86"/>
                </a:solidFill>
                <a:latin typeface="Arial Unicode MS"/>
                <a:ea typeface="Arial Unicode MS"/>
                <a:cs typeface="Arial Unicode MS"/>
              </a:rPr>
              <a:t>能换一个项目吗？”</a:t>
            </a:r>
          </a:p>
        </p:txBody>
      </p:sp>
      <p:sp>
        <p:nvSpPr>
          <p:cNvPr id="5" name="矩形 4">
            <a:extLst>
              <a:ext uri="{FF2B5EF4-FFF2-40B4-BE49-F238E27FC236}">
                <a16:creationId xmlns:a16="http://schemas.microsoft.com/office/drawing/2014/main" id="{1A9DD902-A753-4AC4-8865-6C7BD6842C82}"/>
              </a:ext>
            </a:extLst>
          </p:cNvPr>
          <p:cNvSpPr>
            <a:spLocks noGrp="1"/>
          </p:cNvSpPr>
          <p:nvPr/>
        </p:nvSpPr>
        <p:spPr>
          <a:xfrm>
            <a:off x="752475" y="3590925"/>
            <a:ext cx="3419475" cy="428625"/>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尊重换题</a:t>
            </a:r>
          </a:p>
        </p:txBody>
      </p:sp>
      <p:sp>
        <p:nvSpPr>
          <p:cNvPr id="6" name="矩形 5">
            <a:extLst>
              <a:ext uri="{FF2B5EF4-FFF2-40B4-BE49-F238E27FC236}">
                <a16:creationId xmlns:a16="http://schemas.microsoft.com/office/drawing/2014/main" id="{727450E5-E91B-4C9C-BAF4-95B76C4E8AF2}"/>
              </a:ext>
            </a:extLst>
          </p:cNvPr>
          <p:cNvSpPr>
            <a:spLocks noGrp="1"/>
          </p:cNvSpPr>
          <p:nvPr/>
        </p:nvSpPr>
        <p:spPr>
          <a:xfrm>
            <a:off x="752475" y="4229100"/>
            <a:ext cx="3200400" cy="14382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候选人要求换题后，</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系统停止当前项目调查。</a:t>
            </a:r>
          </a:p>
        </p:txBody>
      </p:sp>
      <p:sp>
        <p:nvSpPr>
          <p:cNvPr id="7" name="矩形 6">
            <a:extLst>
              <a:ext uri="{FF2B5EF4-FFF2-40B4-BE49-F238E27FC236}">
                <a16:creationId xmlns:a16="http://schemas.microsoft.com/office/drawing/2014/main" id="{4F77A3B9-8B09-498E-B969-B7FB7A9AB6C3}"/>
              </a:ext>
            </a:extLst>
          </p:cNvPr>
          <p:cNvSpPr>
            <a:spLocks noGrp="1"/>
          </p:cNvSpPr>
          <p:nvPr/>
        </p:nvSpPr>
        <p:spPr>
          <a:xfrm>
            <a:off x="4552950" y="3590925"/>
            <a:ext cx="3419475" cy="428625"/>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保留边界</a:t>
            </a:r>
          </a:p>
        </p:txBody>
      </p:sp>
      <p:sp>
        <p:nvSpPr>
          <p:cNvPr id="8" name="矩形 7">
            <a:extLst>
              <a:ext uri="{FF2B5EF4-FFF2-40B4-BE49-F238E27FC236}">
                <a16:creationId xmlns:a16="http://schemas.microsoft.com/office/drawing/2014/main" id="{DCB1E146-26B5-499F-B566-072C44CFD655}"/>
              </a:ext>
            </a:extLst>
          </p:cNvPr>
          <p:cNvSpPr>
            <a:spLocks noGrp="1"/>
          </p:cNvSpPr>
          <p:nvPr/>
        </p:nvSpPr>
        <p:spPr>
          <a:xfrm>
            <a:off x="4552950" y="4229100"/>
            <a:ext cx="3200400" cy="14382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连续含糊时，系统暂停追问</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并在报告中保留未核验项。</a:t>
            </a:r>
          </a:p>
        </p:txBody>
      </p:sp>
      <p:sp>
        <p:nvSpPr>
          <p:cNvPr id="9" name="矩形 8">
            <a:extLst>
              <a:ext uri="{FF2B5EF4-FFF2-40B4-BE49-F238E27FC236}">
                <a16:creationId xmlns:a16="http://schemas.microsoft.com/office/drawing/2014/main" id="{34193F42-2675-4F81-9780-4C7D837C8C2E}"/>
              </a:ext>
            </a:extLst>
          </p:cNvPr>
          <p:cNvSpPr>
            <a:spLocks noGrp="1"/>
          </p:cNvSpPr>
          <p:nvPr/>
        </p:nvSpPr>
        <p:spPr>
          <a:xfrm>
            <a:off x="8353425" y="3590925"/>
            <a:ext cx="3419475" cy="428625"/>
          </a:xfrm>
          <a:prstGeom prst="rect">
            <a:avLst/>
          </a:prstGeom>
          <a:noFill/>
          <a:ln w="0">
            <a:noFill/>
          </a:ln>
        </p:spPr>
        <p:txBody>
          <a:bodyPr wrap="none" lIns="0" tIns="0" rIns="0" bIns="0" anchor="t">
            <a:noAutofit/>
          </a:bodyPr>
          <a:lstStyle/>
          <a:p>
            <a:pPr algn="l">
              <a:defRPr sz="2250" b="1">
                <a:solidFill>
                  <a:srgbClr val="16313C"/>
                </a:solidFill>
                <a:latin typeface="Arial Unicode MS"/>
                <a:ea typeface="Arial Unicode MS"/>
                <a:cs typeface="Arial Unicode MS"/>
              </a:defRPr>
            </a:pPr>
            <a:r>
              <a:rPr sz="2250" b="1">
                <a:solidFill>
                  <a:srgbClr val="16313C"/>
                </a:solidFill>
                <a:latin typeface="Arial Unicode MS"/>
                <a:ea typeface="Arial Unicode MS"/>
                <a:cs typeface="Arial Unicode MS"/>
              </a:rPr>
              <a:t>留出交流</a:t>
            </a:r>
          </a:p>
        </p:txBody>
      </p:sp>
      <p:sp>
        <p:nvSpPr>
          <p:cNvPr id="10" name="矩形 9">
            <a:extLst>
              <a:ext uri="{FF2B5EF4-FFF2-40B4-BE49-F238E27FC236}">
                <a16:creationId xmlns:a16="http://schemas.microsoft.com/office/drawing/2014/main" id="{71FAD93F-6435-4199-9E94-048B508CAB81}"/>
              </a:ext>
            </a:extLst>
          </p:cNvPr>
          <p:cNvSpPr>
            <a:spLocks noGrp="1"/>
          </p:cNvSpPr>
          <p:nvPr/>
        </p:nvSpPr>
        <p:spPr>
          <a:xfrm>
            <a:off x="8353425" y="4229100"/>
            <a:ext cx="3200400" cy="1438275"/>
          </a:xfrm>
          <a:prstGeom prst="rect">
            <a:avLst/>
          </a:prstGeom>
          <a:noFill/>
          <a:ln w="0">
            <a:noFill/>
          </a:ln>
        </p:spPr>
        <p:txBody>
          <a:bodyPr wrap="none" lIns="0" tIns="0" rIns="0" bIns="0" anchor="t">
            <a:noAutofit/>
          </a:bodyPr>
          <a:lstStyle/>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面试结束前，候选人可补充</a:t>
            </a:r>
          </a:p>
          <a:p>
            <a:pPr algn="l">
              <a:defRPr sz="2025" b="0">
                <a:solidFill>
                  <a:srgbClr val="16313C"/>
                </a:solidFill>
                <a:latin typeface="Arial Unicode MS"/>
                <a:ea typeface="Arial Unicode MS"/>
                <a:cs typeface="Arial Unicode MS"/>
              </a:defRPr>
            </a:pPr>
            <a:r>
              <a:rPr sz="2025" b="0">
                <a:solidFill>
                  <a:srgbClr val="16313C"/>
                </a:solidFill>
                <a:latin typeface="Arial Unicode MS"/>
                <a:ea typeface="Arial Unicode MS"/>
                <a:cs typeface="Arial Unicode MS"/>
              </a:rPr>
              <a:t>经历或向面试官反问。</a:t>
            </a:r>
          </a:p>
        </p:txBody>
      </p:sp>
    </p:spTree>
    <p:extLst>
      <p:ext uri="{BB962C8B-B14F-4D97-AF65-F5344CB8AC3E}">
        <p14:creationId xmlns:p14="http://schemas.microsoft.com/office/powerpoint/2010/main" val="933416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471985A-70EB-44C2-B0C4-8445DA265F84}"/>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可靠执行：一次回答，一份一致的结果</a:t>
            </a:r>
          </a:p>
        </p:txBody>
      </p:sp>
      <p:sp>
        <p:nvSpPr>
          <p:cNvPr id="2" name="矩形 1">
            <a:extLst>
              <a:ext uri="{FF2B5EF4-FFF2-40B4-BE49-F238E27FC236}">
                <a16:creationId xmlns:a16="http://schemas.microsoft.com/office/drawing/2014/main" id="{2D0E2910-E9BD-49DC-B50B-1FB5F9BFA8B2}"/>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同一回答命令贯穿证据更新与问题生成，结果在完成后统一提交</a:t>
            </a:r>
          </a:p>
        </p:txBody>
      </p:sp>
      <p:sp>
        <p:nvSpPr>
          <p:cNvPr id="3" name="矩形 2">
            <a:extLst>
              <a:ext uri="{FF2B5EF4-FFF2-40B4-BE49-F238E27FC236}">
                <a16:creationId xmlns:a16="http://schemas.microsoft.com/office/drawing/2014/main" id="{A21A1BCE-8C62-4EE1-B624-7688A2390F17}"/>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本地 SQLite 保存会话和执行状态，支持刷新后的历史恢复。</a:t>
            </a:r>
          </a:p>
        </p:txBody>
      </p:sp>
      <p:sp>
        <p:nvSpPr>
          <p:cNvPr id="4" name="矩形 3">
            <a:extLst>
              <a:ext uri="{FF2B5EF4-FFF2-40B4-BE49-F238E27FC236}">
                <a16:creationId xmlns:a16="http://schemas.microsoft.com/office/drawing/2014/main" id="{06AA8915-8172-46AB-BEB3-9B89D86E3869}"/>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25</a:t>
            </a:r>
          </a:p>
        </p:txBody>
      </p:sp>
      <p:graphicFrame>
        <p:nvGraphicFramePr>
          <p:cNvPr id="10" name="表格 9"/>
          <p:cNvGraphicFramePr/>
          <p:nvPr/>
        </p:nvGraphicFramePr>
        <p:xfrm>
          <a:off x="685800" y="2019300"/>
          <a:ext cx="10668000" cy="3762375"/>
        </p:xfrm>
        <a:graphic>
          <a:graphicData uri="http://schemas.openxmlformats.org/drawingml/2006/table">
            <a:tbl>
              <a:tblPr/>
              <a:tblGrid>
                <a:gridCol w="2381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52475">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使用情境</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系统处理</a:t>
                      </a:r>
                    </a:p>
                  </a:txBody>
                  <a:tcPr anchor="ctr">
                    <a:solidFill>
                      <a:srgbClr val="16313C"/>
                    </a:solidFill>
                  </a:tcPr>
                </a:tc>
                <a:tc>
                  <a:txBody>
                    <a:bodyPr/>
                    <a:lstStyle/>
                    <a:p>
                      <a:pPr algn="l">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用户获得的结果</a:t>
                      </a:r>
                    </a:p>
                  </a:txBody>
                  <a:tcPr anchor="ctr">
                    <a:solidFill>
                      <a:srgbClr val="16313C"/>
                    </a:solidFill>
                  </a:tcPr>
                </a:tc>
                <a:extLst>
                  <a:ext uri="{0D108BD9-81ED-4DB2-BD59-A6C34878D82A}">
                    <a16:rowId xmlns:a16="http://schemas.microsoft.com/office/drawing/2014/main" val="10000"/>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刷新或重启</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SQLite 载入已保存会话</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已开始的面试可继续进行</a:t>
                      </a:r>
                    </a:p>
                  </a:txBody>
                  <a:tcPr anchor="ctr">
                    <a:solidFill>
                      <a:srgbClr val="F5F8F7"/>
                    </a:solidFill>
                  </a:tcPr>
                </a:tc>
                <a:extLst>
                  <a:ext uri="{0D108BD9-81ED-4DB2-BD59-A6C34878D82A}">
                    <a16:rowId xmlns:a16="http://schemas.microsoft.com/office/drawing/2014/main" val="10001"/>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重复提交</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回答命令按幂等规则执行</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同一回答不重复累计证据</a:t>
                      </a:r>
                    </a:p>
                  </a:txBody>
                  <a:tcPr anchor="ctr">
                    <a:solidFill>
                      <a:srgbClr val="FFFFFF"/>
                    </a:solidFill>
                  </a:tcPr>
                </a:tc>
                <a:extLst>
                  <a:ext uri="{0D108BD9-81ED-4DB2-BD59-A6C34878D82A}">
                    <a16:rowId xmlns:a16="http://schemas.microsoft.com/office/drawing/2014/main" val="10002"/>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超时或输出不合规</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输入保留，支持备用模型配置</a:t>
                      </a:r>
                    </a:p>
                  </a:txBody>
                  <a:tcPr anchor="ctr">
                    <a:solidFill>
                      <a:srgbClr val="F5F8F7"/>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原始回答可用于恢复处理</a:t>
                      </a:r>
                    </a:p>
                  </a:txBody>
                  <a:tcPr anchor="ctr">
                    <a:solidFill>
                      <a:srgbClr val="F5F8F7"/>
                    </a:solidFill>
                  </a:tcPr>
                </a:tc>
                <a:extLst>
                  <a:ext uri="{0D108BD9-81ED-4DB2-BD59-A6C34878D82A}">
                    <a16:rowId xmlns:a16="http://schemas.microsoft.com/office/drawing/2014/main" val="10003"/>
                  </a:ext>
                </a:extLst>
              </a:tr>
              <a:tr h="752475">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处理中途出错</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报告与下一决策成功后才提交</a:t>
                      </a:r>
                    </a:p>
                  </a:txBody>
                  <a:tcPr anchor="ctr">
                    <a:solidFill>
                      <a:srgbClr val="FFFFFF"/>
                    </a:solidFill>
                  </a:tcPr>
                </a:tc>
                <a:tc>
                  <a:txBody>
                    <a:bodyPr/>
                    <a:lstStyle/>
                    <a:p>
                      <a:pPr algn="l">
                        <a:defRPr sz="1800" b="0">
                          <a:solidFill>
                            <a:srgbClr val="16313C"/>
                          </a:solidFill>
                          <a:latin typeface="Arial Unicode MS"/>
                          <a:ea typeface="Arial Unicode MS"/>
                          <a:cs typeface="Arial Unicode MS"/>
                        </a:defRPr>
                      </a:pPr>
                      <a:r>
                        <a:rPr sz="1800" b="0">
                          <a:solidFill>
                            <a:srgbClr val="16313C"/>
                          </a:solidFill>
                          <a:latin typeface="Arial Unicode MS"/>
                          <a:ea typeface="Arial Unicode MS"/>
                          <a:cs typeface="Arial Unicode MS"/>
                        </a:rPr>
                        <a:t>已完成的会话状态保持一致</a:t>
                      </a:r>
                    </a:p>
                  </a:txBody>
                  <a:tcPr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86645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6563B50-8676-4415-BEEC-76B2ECF6A267}"/>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dirty="0" err="1">
                <a:solidFill>
                  <a:srgbClr val="16313C"/>
                </a:solidFill>
                <a:latin typeface="Arial Unicode MS"/>
                <a:ea typeface="Arial Unicode MS"/>
                <a:cs typeface="Arial Unicode MS"/>
              </a:rPr>
              <a:t>模型</a:t>
            </a:r>
            <a:r>
              <a:rPr lang="zh-CN" altLang="en-US" sz="3300" b="1" dirty="0">
                <a:solidFill>
                  <a:srgbClr val="16313C"/>
                </a:solidFill>
                <a:latin typeface="Arial Unicode MS"/>
                <a:ea typeface="Arial Unicode MS"/>
                <a:cs typeface="Arial Unicode MS"/>
              </a:rPr>
              <a:t>路由</a:t>
            </a:r>
            <a:r>
              <a:rPr sz="3300" b="1" dirty="0" err="1">
                <a:solidFill>
                  <a:srgbClr val="16313C"/>
                </a:solidFill>
                <a:latin typeface="Arial Unicode MS"/>
                <a:ea typeface="Arial Unicode MS"/>
                <a:cs typeface="Arial Unicode MS"/>
              </a:rPr>
              <a:t>协同的效率收益</a:t>
            </a:r>
            <a:r>
              <a:rPr lang="zh-CN" altLang="en-US" sz="3300" b="1" dirty="0">
                <a:solidFill>
                  <a:srgbClr val="16313C"/>
                </a:solidFill>
                <a:latin typeface="Arial Unicode MS"/>
                <a:ea typeface="Arial Unicode MS"/>
                <a:cs typeface="Arial Unicode MS"/>
              </a:rPr>
              <a:t>（</a:t>
            </a:r>
            <a:r>
              <a:rPr lang="en-US" altLang="zh-CN" sz="3300" b="1" dirty="0">
                <a:solidFill>
                  <a:srgbClr val="16313C"/>
                </a:solidFill>
                <a:latin typeface="Arial Unicode MS"/>
                <a:ea typeface="Arial Unicode MS"/>
                <a:cs typeface="Arial Unicode MS"/>
              </a:rPr>
              <a:t>v1</a:t>
            </a:r>
            <a:r>
              <a:rPr lang="zh-CN" altLang="en-US" sz="3300" b="1" dirty="0">
                <a:solidFill>
                  <a:srgbClr val="16313C"/>
                </a:solidFill>
                <a:latin typeface="Arial Unicode MS"/>
                <a:ea typeface="Arial Unicode MS"/>
                <a:cs typeface="Arial Unicode MS"/>
              </a:rPr>
              <a:t>版）</a:t>
            </a:r>
            <a:endParaRPr sz="3300" b="1" dirty="0">
              <a:solidFill>
                <a:srgbClr val="16313C"/>
              </a:solidFill>
              <a:latin typeface="Arial Unicode MS"/>
              <a:ea typeface="Arial Unicode MS"/>
              <a:cs typeface="Arial Unicode MS"/>
            </a:endParaRPr>
          </a:p>
        </p:txBody>
      </p:sp>
      <p:sp>
        <p:nvSpPr>
          <p:cNvPr id="2" name="矩形 1">
            <a:extLst>
              <a:ext uri="{FF2B5EF4-FFF2-40B4-BE49-F238E27FC236}">
                <a16:creationId xmlns:a16="http://schemas.microsoft.com/office/drawing/2014/main" id="{58AEF82E-99B7-4CE6-B207-3CEB4E9BB3E3}"/>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2026-09-02，6 组固定案例，每策略运行一次，记录来自不同对话轨迹。</a:t>
            </a:r>
          </a:p>
        </p:txBody>
      </p:sp>
      <p:sp>
        <p:nvSpPr>
          <p:cNvPr id="3" name="矩形 2">
            <a:extLst>
              <a:ext uri="{FF2B5EF4-FFF2-40B4-BE49-F238E27FC236}">
                <a16:creationId xmlns:a16="http://schemas.microsoft.com/office/drawing/2014/main" id="{E2FE21F0-FBE3-46FE-A7A9-240FAD6F959E}"/>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26</a:t>
            </a:r>
          </a:p>
        </p:txBody>
      </p:sp>
      <p:sp>
        <p:nvSpPr>
          <p:cNvPr id="4" name="矩形 3">
            <a:extLst>
              <a:ext uri="{FF2B5EF4-FFF2-40B4-BE49-F238E27FC236}">
                <a16:creationId xmlns:a16="http://schemas.microsoft.com/office/drawing/2014/main" id="{CE2F5CAB-110D-4123-A0C3-D537B8E6EBB2}"/>
              </a:ext>
            </a:extLst>
          </p:cNvPr>
          <p:cNvSpPr>
            <a:spLocks noGrp="1"/>
          </p:cNvSpPr>
          <p:nvPr/>
        </p:nvSpPr>
        <p:spPr>
          <a:xfrm>
            <a:off x="714375" y="1581150"/>
            <a:ext cx="4772025" cy="1123950"/>
          </a:xfrm>
          <a:prstGeom prst="rect">
            <a:avLst/>
          </a:prstGeom>
          <a:noFill/>
          <a:ln w="0">
            <a:noFill/>
          </a:ln>
        </p:spPr>
        <p:txBody>
          <a:bodyPr wrap="none" lIns="0" tIns="0" rIns="0" bIns="0" anchor="t">
            <a:noAutofit/>
          </a:bodyPr>
          <a:lstStyle/>
          <a:p>
            <a:pPr algn="l">
              <a:defRPr sz="6075" b="1">
                <a:solidFill>
                  <a:srgbClr val="087D86"/>
                </a:solidFill>
                <a:latin typeface="Arial Unicode MS"/>
                <a:ea typeface="Arial Unicode MS"/>
                <a:cs typeface="Arial Unicode MS"/>
              </a:defRPr>
            </a:pPr>
            <a:r>
              <a:rPr sz="6075" b="1">
                <a:solidFill>
                  <a:srgbClr val="087D86"/>
                </a:solidFill>
                <a:latin typeface="Arial Unicode MS"/>
                <a:ea typeface="Arial Unicode MS"/>
                <a:cs typeface="Arial Unicode MS"/>
              </a:rPr>
              <a:t>21.4%</a:t>
            </a:r>
          </a:p>
        </p:txBody>
      </p:sp>
      <p:sp>
        <p:nvSpPr>
          <p:cNvPr id="5" name="矩形 4">
            <a:extLst>
              <a:ext uri="{FF2B5EF4-FFF2-40B4-BE49-F238E27FC236}">
                <a16:creationId xmlns:a16="http://schemas.microsoft.com/office/drawing/2014/main" id="{B2CCE94F-5690-4E3E-823D-B205B24B6F2D}"/>
              </a:ext>
            </a:extLst>
          </p:cNvPr>
          <p:cNvSpPr>
            <a:spLocks noGrp="1"/>
          </p:cNvSpPr>
          <p:nvPr/>
        </p:nvSpPr>
        <p:spPr>
          <a:xfrm>
            <a:off x="752475" y="2828925"/>
            <a:ext cx="4524375" cy="466725"/>
          </a:xfrm>
          <a:prstGeom prst="rect">
            <a:avLst/>
          </a:prstGeom>
          <a:noFill/>
          <a:ln w="0">
            <a:noFill/>
          </a:ln>
        </p:spPr>
        <p:txBody>
          <a:bodyPr wrap="none" lIns="0" tIns="0" rIns="0" bIns="0" anchor="t">
            <a:noAutofit/>
          </a:bodyPr>
          <a:lstStyle/>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总 token 减少</a:t>
            </a:r>
          </a:p>
        </p:txBody>
      </p:sp>
      <p:sp>
        <p:nvSpPr>
          <p:cNvPr id="6" name="矩形 5">
            <a:extLst>
              <a:ext uri="{FF2B5EF4-FFF2-40B4-BE49-F238E27FC236}">
                <a16:creationId xmlns:a16="http://schemas.microsoft.com/office/drawing/2014/main" id="{41ED6B6A-2FD1-4CA3-A878-299CAC9779B4}"/>
              </a:ext>
            </a:extLst>
          </p:cNvPr>
          <p:cNvSpPr>
            <a:spLocks noGrp="1"/>
          </p:cNvSpPr>
          <p:nvPr/>
        </p:nvSpPr>
        <p:spPr>
          <a:xfrm>
            <a:off x="6553200" y="1581150"/>
            <a:ext cx="4705350" cy="1123950"/>
          </a:xfrm>
          <a:prstGeom prst="rect">
            <a:avLst/>
          </a:prstGeom>
          <a:noFill/>
          <a:ln w="0">
            <a:noFill/>
          </a:ln>
        </p:spPr>
        <p:txBody>
          <a:bodyPr wrap="none" lIns="0" tIns="0" rIns="0" bIns="0" anchor="t">
            <a:noAutofit/>
          </a:bodyPr>
          <a:lstStyle/>
          <a:p>
            <a:pPr algn="l">
              <a:defRPr sz="6075" b="1">
                <a:solidFill>
                  <a:srgbClr val="087D86"/>
                </a:solidFill>
                <a:latin typeface="Arial Unicode MS"/>
                <a:ea typeface="Arial Unicode MS"/>
                <a:cs typeface="Arial Unicode MS"/>
              </a:defRPr>
            </a:pPr>
            <a:r>
              <a:rPr sz="6075" b="1">
                <a:solidFill>
                  <a:srgbClr val="087D86"/>
                </a:solidFill>
                <a:latin typeface="Arial Unicode MS"/>
                <a:ea typeface="Arial Unicode MS"/>
                <a:cs typeface="Arial Unicode MS"/>
              </a:rPr>
              <a:t>41.5%</a:t>
            </a:r>
          </a:p>
        </p:txBody>
      </p:sp>
      <p:sp>
        <p:nvSpPr>
          <p:cNvPr id="7" name="矩形 6">
            <a:extLst>
              <a:ext uri="{FF2B5EF4-FFF2-40B4-BE49-F238E27FC236}">
                <a16:creationId xmlns:a16="http://schemas.microsoft.com/office/drawing/2014/main" id="{D1ABC548-E7E6-40EB-8475-5C4A98F5F0B6}"/>
              </a:ext>
            </a:extLst>
          </p:cNvPr>
          <p:cNvSpPr>
            <a:spLocks noGrp="1"/>
          </p:cNvSpPr>
          <p:nvPr/>
        </p:nvSpPr>
        <p:spPr>
          <a:xfrm>
            <a:off x="6591300" y="2828925"/>
            <a:ext cx="4705350" cy="466725"/>
          </a:xfrm>
          <a:prstGeom prst="rect">
            <a:avLst/>
          </a:prstGeom>
          <a:noFill/>
          <a:ln w="0">
            <a:noFill/>
          </a:ln>
        </p:spPr>
        <p:txBody>
          <a:bodyPr wrap="none" lIns="0" tIns="0" rIns="0" bIns="0" anchor="t">
            <a:noAutofit/>
          </a:bodyPr>
          <a:lstStyle/>
          <a:p>
            <a:pPr algn="l">
              <a:defRPr sz="2100" b="0">
                <a:solidFill>
                  <a:srgbClr val="16313C"/>
                </a:solidFill>
                <a:latin typeface="Arial Unicode MS"/>
                <a:ea typeface="Arial Unicode MS"/>
                <a:cs typeface="Arial Unicode MS"/>
              </a:defRPr>
            </a:pPr>
            <a:r>
              <a:rPr sz="2100" b="0">
                <a:solidFill>
                  <a:srgbClr val="16313C"/>
                </a:solidFill>
                <a:latin typeface="Arial Unicode MS"/>
                <a:ea typeface="Arial Unicode MS"/>
                <a:cs typeface="Arial Unicode MS"/>
              </a:rPr>
              <a:t>模型累计耗时减少</a:t>
            </a:r>
          </a:p>
        </p:txBody>
      </p:sp>
      <p:graphicFrame>
        <p:nvGraphicFramePr>
          <p:cNvPr id="16" name="表格 15"/>
          <p:cNvGraphicFramePr/>
          <p:nvPr/>
        </p:nvGraphicFramePr>
        <p:xfrm>
          <a:off x="704850" y="3733800"/>
          <a:ext cx="10668000" cy="1943100"/>
        </p:xfrm>
        <a:graphic>
          <a:graphicData uri="http://schemas.openxmlformats.org/drawingml/2006/table">
            <a:tbl>
              <a:tblPr/>
              <a:tblGrid>
                <a:gridCol w="50482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47700">
                <a:tc>
                  <a:txBody>
                    <a:bodyPr/>
                    <a:lstStyle/>
                    <a:p>
                      <a:r>
                        <a:rPr sz="1800" b="1">
                          <a:solidFill>
                            <a:srgbClr val="FFFFFF"/>
                          </a:solidFill>
                          <a:latin typeface="Arial Unicode MS"/>
                          <a:ea typeface="Arial Unicode MS"/>
                          <a:cs typeface="Arial Unicode MS"/>
                        </a:rPr>
                        <a:t>策略</a:t>
                      </a:r>
                    </a:p>
                  </a:txBody>
                  <a:tcPr anchor="ctr">
                    <a:solidFill>
                      <a:srgbClr val="16313C"/>
                    </a:solidFill>
                  </a:tcPr>
                </a:tc>
                <a:tc>
                  <a:txBody>
                    <a:bodyPr/>
                    <a:lstStyle/>
                    <a:p>
                      <a:r>
                        <a:rPr sz="1800" b="1">
                          <a:solidFill>
                            <a:srgbClr val="FFFFFF"/>
                          </a:solidFill>
                          <a:latin typeface="Arial Unicode MS"/>
                          <a:ea typeface="Arial Unicode MS"/>
                          <a:cs typeface="Arial Unicode MS"/>
                        </a:rPr>
                        <a:t>总 token</a:t>
                      </a:r>
                    </a:p>
                  </a:txBody>
                  <a:tcPr anchor="ctr">
                    <a:solidFill>
                      <a:srgbClr val="16313C"/>
                    </a:solidFill>
                  </a:tcPr>
                </a:tc>
                <a:tc>
                  <a:txBody>
                    <a:bodyPr/>
                    <a:lstStyle/>
                    <a:p>
                      <a:r>
                        <a:rPr sz="1800" b="1">
                          <a:solidFill>
                            <a:srgbClr val="FFFFFF"/>
                          </a:solidFill>
                          <a:latin typeface="Arial Unicode MS"/>
                          <a:ea typeface="Arial Unicode MS"/>
                          <a:cs typeface="Arial Unicode MS"/>
                        </a:rPr>
                        <a:t>模型累计耗时</a:t>
                      </a:r>
                    </a:p>
                  </a:txBody>
                  <a:tcPr anchor="ctr">
                    <a:solidFill>
                      <a:srgbClr val="16313C"/>
                    </a:solidFill>
                  </a:tcPr>
                </a:tc>
                <a:extLst>
                  <a:ext uri="{0D108BD9-81ED-4DB2-BD59-A6C34878D82A}">
                    <a16:rowId xmlns:a16="http://schemas.microsoft.com/office/drawing/2014/main" val="10000"/>
                  </a:ext>
                </a:extLst>
              </a:tr>
              <a:tr h="647700">
                <a:tc>
                  <a:txBody>
                    <a:bodyPr/>
                    <a:lstStyle/>
                    <a:p>
                      <a:r>
                        <a:rPr sz="1800" b="0" dirty="0" err="1">
                          <a:solidFill>
                            <a:srgbClr val="16313C"/>
                          </a:solidFill>
                          <a:latin typeface="Arial Unicode MS"/>
                          <a:ea typeface="Arial Unicode MS"/>
                          <a:cs typeface="Arial Unicode MS"/>
                        </a:rPr>
                        <a:t>全程强模型</a:t>
                      </a:r>
                      <a:endParaRPr sz="1800" b="0" dirty="0">
                        <a:solidFill>
                          <a:srgbClr val="16313C"/>
                        </a:solidFill>
                        <a:latin typeface="Arial Unicode MS"/>
                        <a:ea typeface="Arial Unicode MS"/>
                        <a:cs typeface="Arial Unicode MS"/>
                      </a:endParaRPr>
                    </a:p>
                  </a:txBody>
                  <a:tcPr anchor="ctr">
                    <a:solidFill>
                      <a:srgbClr val="F5F8F7"/>
                    </a:solidFill>
                  </a:tcPr>
                </a:tc>
                <a:tc>
                  <a:txBody>
                    <a:bodyPr/>
                    <a:lstStyle/>
                    <a:p>
                      <a:r>
                        <a:rPr sz="1800" b="0">
                          <a:solidFill>
                            <a:srgbClr val="16313C"/>
                          </a:solidFill>
                          <a:latin typeface="Arial Unicode MS"/>
                          <a:ea typeface="Arial Unicode MS"/>
                          <a:cs typeface="Arial Unicode MS"/>
                        </a:rPr>
                        <a:t>302,691</a:t>
                      </a:r>
                    </a:p>
                  </a:txBody>
                  <a:tcPr anchor="ctr">
                    <a:solidFill>
                      <a:srgbClr val="F5F8F7"/>
                    </a:solidFill>
                  </a:tcPr>
                </a:tc>
                <a:tc>
                  <a:txBody>
                    <a:bodyPr/>
                    <a:lstStyle/>
                    <a:p>
                      <a:r>
                        <a:rPr sz="1800" b="0">
                          <a:solidFill>
                            <a:srgbClr val="16313C"/>
                          </a:solidFill>
                          <a:latin typeface="Arial Unicode MS"/>
                          <a:ea typeface="Arial Unicode MS"/>
                          <a:cs typeface="Arial Unicode MS"/>
                        </a:rPr>
                        <a:t>1,462.2 秒</a:t>
                      </a:r>
                    </a:p>
                  </a:txBody>
                  <a:tcPr anchor="ctr">
                    <a:solidFill>
                      <a:srgbClr val="F5F8F7"/>
                    </a:solidFill>
                  </a:tcPr>
                </a:tc>
                <a:extLst>
                  <a:ext uri="{0D108BD9-81ED-4DB2-BD59-A6C34878D82A}">
                    <a16:rowId xmlns:a16="http://schemas.microsoft.com/office/drawing/2014/main" val="10001"/>
                  </a:ext>
                </a:extLst>
              </a:tr>
              <a:tr h="647700">
                <a:tc>
                  <a:txBody>
                    <a:bodyPr/>
                    <a:lstStyle/>
                    <a:p>
                      <a:r>
                        <a:rPr sz="1800" b="0">
                          <a:solidFill>
                            <a:srgbClr val="16313C"/>
                          </a:solidFill>
                          <a:latin typeface="Arial Unicode MS"/>
                          <a:ea typeface="Arial Unicode MS"/>
                          <a:cs typeface="Arial Unicode MS"/>
                        </a:rPr>
                        <a:t>快速报告 + 强模型追问</a:t>
                      </a:r>
                    </a:p>
                  </a:txBody>
                  <a:tcPr anchor="ctr">
                    <a:solidFill>
                      <a:srgbClr val="FFFFFF"/>
                    </a:solidFill>
                  </a:tcPr>
                </a:tc>
                <a:tc>
                  <a:txBody>
                    <a:bodyPr/>
                    <a:lstStyle/>
                    <a:p>
                      <a:r>
                        <a:rPr sz="1800" b="0">
                          <a:solidFill>
                            <a:srgbClr val="16313C"/>
                          </a:solidFill>
                          <a:latin typeface="Arial Unicode MS"/>
                          <a:ea typeface="Arial Unicode MS"/>
                          <a:cs typeface="Arial Unicode MS"/>
                        </a:rPr>
                        <a:t>237,935</a:t>
                      </a:r>
                    </a:p>
                  </a:txBody>
                  <a:tcPr anchor="ctr">
                    <a:solidFill>
                      <a:srgbClr val="FFFFFF"/>
                    </a:solidFill>
                  </a:tcPr>
                </a:tc>
                <a:tc>
                  <a:txBody>
                    <a:bodyPr/>
                    <a:lstStyle/>
                    <a:p>
                      <a:r>
                        <a:rPr sz="1800" b="0" dirty="0">
                          <a:solidFill>
                            <a:srgbClr val="16313C"/>
                          </a:solidFill>
                          <a:latin typeface="Arial Unicode MS"/>
                          <a:ea typeface="Arial Unicode MS"/>
                          <a:cs typeface="Arial Unicode MS"/>
                        </a:rPr>
                        <a:t>854.8 </a:t>
                      </a:r>
                      <a:r>
                        <a:rPr sz="1800" b="0" dirty="0" err="1">
                          <a:solidFill>
                            <a:srgbClr val="16313C"/>
                          </a:solidFill>
                          <a:latin typeface="Arial Unicode MS"/>
                          <a:ea typeface="Arial Unicode MS"/>
                          <a:cs typeface="Arial Unicode MS"/>
                        </a:rPr>
                        <a:t>秒</a:t>
                      </a:r>
                      <a:endParaRPr sz="1800" b="0" dirty="0">
                        <a:solidFill>
                          <a:srgbClr val="16313C"/>
                        </a:solidFill>
                        <a:latin typeface="Arial Unicode MS"/>
                        <a:ea typeface="Arial Unicode MS"/>
                        <a:cs typeface="Arial Unicode MS"/>
                      </a:endParaRPr>
                    </a:p>
                  </a:txBody>
                  <a:tcPr anchor="ct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51372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328168-5361-90C9-6C43-E2E83CEFEB8A}"/>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B673F137-712C-AD0B-68E5-EF1F9C518A95}"/>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目录</a:t>
            </a:r>
          </a:p>
        </p:txBody>
      </p:sp>
      <p:sp>
        <p:nvSpPr>
          <p:cNvPr id="2" name="矩形 1">
            <a:extLst>
              <a:ext uri="{FF2B5EF4-FFF2-40B4-BE49-F238E27FC236}">
                <a16:creationId xmlns:a16="http://schemas.microsoft.com/office/drawing/2014/main" id="{74D6810F-D12D-50A7-EFB3-25E3F60F1F26}"/>
              </a:ext>
            </a:extLst>
          </p:cNvPr>
          <p:cNvSpPr>
            <a:spLocks noGrp="1"/>
          </p:cNvSpPr>
          <p:nvPr/>
        </p:nvSpPr>
        <p:spPr>
          <a:xfrm>
            <a:off x="3106700" y="16764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01</a:t>
            </a:r>
          </a:p>
        </p:txBody>
      </p:sp>
      <p:sp>
        <p:nvSpPr>
          <p:cNvPr id="3" name="矩形 2">
            <a:extLst>
              <a:ext uri="{FF2B5EF4-FFF2-40B4-BE49-F238E27FC236}">
                <a16:creationId xmlns:a16="http://schemas.microsoft.com/office/drawing/2014/main" id="{315CE4D6-D66D-94D1-4D29-7020E11196BE}"/>
              </a:ext>
            </a:extLst>
          </p:cNvPr>
          <p:cNvSpPr>
            <a:spLocks noGrp="1"/>
          </p:cNvSpPr>
          <p:nvPr/>
        </p:nvSpPr>
        <p:spPr>
          <a:xfrm>
            <a:off x="5447635" y="1628775"/>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dirty="0" err="1">
                <a:solidFill>
                  <a:srgbClr val="16313C"/>
                </a:solidFill>
                <a:latin typeface="Arial Unicode MS"/>
                <a:ea typeface="Arial Unicode MS"/>
                <a:cs typeface="Arial Unicode MS"/>
              </a:rPr>
              <a:t>项目定位与使用流程</a:t>
            </a:r>
            <a:endParaRPr sz="2400" dirty="0">
              <a:solidFill>
                <a:srgbClr val="16313C"/>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AC4CD0CC-A6AB-B50C-7435-D12DF12D1754}"/>
              </a:ext>
            </a:extLst>
          </p:cNvPr>
          <p:cNvSpPr>
            <a:spLocks noGrp="1"/>
          </p:cNvSpPr>
          <p:nvPr/>
        </p:nvSpPr>
        <p:spPr>
          <a:xfrm>
            <a:off x="3106700" y="2681287"/>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02</a:t>
            </a:r>
          </a:p>
        </p:txBody>
      </p:sp>
      <p:sp>
        <p:nvSpPr>
          <p:cNvPr id="6" name="矩形 5">
            <a:extLst>
              <a:ext uri="{FF2B5EF4-FFF2-40B4-BE49-F238E27FC236}">
                <a16:creationId xmlns:a16="http://schemas.microsoft.com/office/drawing/2014/main" id="{BF5A40F2-ECC0-7092-03F1-59F4B9364BE0}"/>
              </a:ext>
            </a:extLst>
          </p:cNvPr>
          <p:cNvSpPr>
            <a:spLocks noGrp="1"/>
          </p:cNvSpPr>
          <p:nvPr/>
        </p:nvSpPr>
        <p:spPr>
          <a:xfrm>
            <a:off x="5447635" y="2681287"/>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面试架构与评估逻辑</a:t>
            </a:r>
            <a:endParaRPr sz="2400" b="0" dirty="0">
              <a:solidFill>
                <a:srgbClr val="16313C"/>
              </a:solidFill>
              <a:latin typeface="Arial Unicode MS"/>
              <a:ea typeface="Arial Unicode MS"/>
              <a:cs typeface="Arial Unicode MS"/>
            </a:endParaRPr>
          </a:p>
        </p:txBody>
      </p:sp>
      <p:sp>
        <p:nvSpPr>
          <p:cNvPr id="8" name="矩形 7">
            <a:extLst>
              <a:ext uri="{FF2B5EF4-FFF2-40B4-BE49-F238E27FC236}">
                <a16:creationId xmlns:a16="http://schemas.microsoft.com/office/drawing/2014/main" id="{CFD20190-E942-4B5B-6A79-A11434FFB1AD}"/>
              </a:ext>
            </a:extLst>
          </p:cNvPr>
          <p:cNvSpPr>
            <a:spLocks noGrp="1"/>
          </p:cNvSpPr>
          <p:nvPr/>
        </p:nvSpPr>
        <p:spPr>
          <a:xfrm>
            <a:off x="3106700" y="3533776"/>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03</a:t>
            </a:r>
          </a:p>
        </p:txBody>
      </p:sp>
      <p:sp>
        <p:nvSpPr>
          <p:cNvPr id="9" name="矩形 8">
            <a:extLst>
              <a:ext uri="{FF2B5EF4-FFF2-40B4-BE49-F238E27FC236}">
                <a16:creationId xmlns:a16="http://schemas.microsoft.com/office/drawing/2014/main" id="{B6FC7CFD-56DC-9581-9465-C0645C2EF3DD}"/>
              </a:ext>
            </a:extLst>
          </p:cNvPr>
          <p:cNvSpPr>
            <a:spLocks noGrp="1"/>
          </p:cNvSpPr>
          <p:nvPr/>
        </p:nvSpPr>
        <p:spPr>
          <a:xfrm>
            <a:off x="5447635" y="3533776"/>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知识库与自适应</a:t>
            </a:r>
            <a:r>
              <a:rPr sz="2400" b="0" dirty="0">
                <a:solidFill>
                  <a:srgbClr val="16313C"/>
                </a:solidFill>
                <a:latin typeface="Arial Unicode MS"/>
                <a:ea typeface="Arial Unicode MS"/>
                <a:cs typeface="Arial Unicode MS"/>
              </a:rPr>
              <a:t> RAG</a:t>
            </a:r>
          </a:p>
        </p:txBody>
      </p:sp>
      <p:sp>
        <p:nvSpPr>
          <p:cNvPr id="11" name="矩形 10">
            <a:extLst>
              <a:ext uri="{FF2B5EF4-FFF2-40B4-BE49-F238E27FC236}">
                <a16:creationId xmlns:a16="http://schemas.microsoft.com/office/drawing/2014/main" id="{8145FB69-CA95-CFC8-6823-2BE0A1ABCC07}"/>
              </a:ext>
            </a:extLst>
          </p:cNvPr>
          <p:cNvSpPr>
            <a:spLocks noGrp="1"/>
          </p:cNvSpPr>
          <p:nvPr/>
        </p:nvSpPr>
        <p:spPr>
          <a:xfrm>
            <a:off x="3106700" y="4457700"/>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04</a:t>
            </a:r>
          </a:p>
        </p:txBody>
      </p:sp>
      <p:sp>
        <p:nvSpPr>
          <p:cNvPr id="12" name="矩形 11">
            <a:extLst>
              <a:ext uri="{FF2B5EF4-FFF2-40B4-BE49-F238E27FC236}">
                <a16:creationId xmlns:a16="http://schemas.microsoft.com/office/drawing/2014/main" id="{6077551B-C768-C191-311A-33C7E0E0AF3D}"/>
              </a:ext>
            </a:extLst>
          </p:cNvPr>
          <p:cNvSpPr>
            <a:spLocks noGrp="1"/>
          </p:cNvSpPr>
          <p:nvPr/>
        </p:nvSpPr>
        <p:spPr>
          <a:xfrm>
            <a:off x="5447635" y="4457700"/>
            <a:ext cx="7620000" cy="466725"/>
          </a:xfrm>
          <a:prstGeom prst="rect">
            <a:avLst/>
          </a:prstGeom>
          <a:noFill/>
          <a:ln w="0">
            <a:noFill/>
          </a:ln>
        </p:spPr>
        <p:txBody>
          <a:bodyPr wrap="none" lIns="0" tIns="0" rIns="0" bIns="0" anchor="t">
            <a:noAutofit/>
          </a:bodyPr>
          <a:lstStyle/>
          <a:p>
            <a:pPr algn="l">
              <a:defRPr sz="2400" b="0">
                <a:solidFill>
                  <a:srgbClr val="16313C"/>
                </a:solidFill>
                <a:latin typeface="Arial Unicode MS"/>
                <a:ea typeface="Arial Unicode MS"/>
                <a:cs typeface="Arial Unicode MS"/>
              </a:defRPr>
            </a:pPr>
            <a:r>
              <a:rPr sz="2400" b="0" dirty="0" err="1">
                <a:solidFill>
                  <a:srgbClr val="16313C"/>
                </a:solidFill>
                <a:latin typeface="Arial Unicode MS"/>
                <a:ea typeface="Arial Unicode MS"/>
                <a:cs typeface="Arial Unicode MS"/>
              </a:rPr>
              <a:t>会话管理与运行保障</a:t>
            </a:r>
            <a:endParaRPr sz="2400" b="0" dirty="0">
              <a:solidFill>
                <a:srgbClr val="16313C"/>
              </a:solidFill>
              <a:latin typeface="Arial Unicode MS"/>
              <a:ea typeface="Arial Unicode MS"/>
              <a:cs typeface="Arial Unicode MS"/>
            </a:endParaRPr>
          </a:p>
        </p:txBody>
      </p:sp>
      <p:sp>
        <p:nvSpPr>
          <p:cNvPr id="17" name="矩形 16">
            <a:extLst>
              <a:ext uri="{FF2B5EF4-FFF2-40B4-BE49-F238E27FC236}">
                <a16:creationId xmlns:a16="http://schemas.microsoft.com/office/drawing/2014/main" id="{5E0AC05A-4E46-FBB3-24A4-9E18BAAB4734}"/>
              </a:ext>
            </a:extLst>
          </p:cNvPr>
          <p:cNvSpPr>
            <a:spLocks noGrp="1"/>
          </p:cNvSpPr>
          <p:nvPr/>
        </p:nvSpPr>
        <p:spPr>
          <a:xfrm>
            <a:off x="3106700" y="5248275"/>
            <a:ext cx="809625" cy="447675"/>
          </a:xfrm>
          <a:prstGeom prst="rect">
            <a:avLst/>
          </a:prstGeom>
          <a:noFill/>
          <a:ln w="0">
            <a:noFill/>
          </a:ln>
        </p:spPr>
        <p:txBody>
          <a:bodyPr wrap="none" lIns="0" tIns="0" rIns="0" bIns="0" anchor="t">
            <a:noAutofit/>
          </a:bodyPr>
          <a:lstStyle/>
          <a:p>
            <a:pPr algn="l">
              <a:defRPr sz="2550" b="0">
                <a:solidFill>
                  <a:srgbClr val="087D86"/>
                </a:solidFill>
                <a:latin typeface="Arial Unicode MS"/>
                <a:ea typeface="Arial Unicode MS"/>
                <a:cs typeface="Arial Unicode MS"/>
              </a:defRPr>
            </a:pPr>
            <a:r>
              <a:rPr sz="2550" b="0">
                <a:solidFill>
                  <a:srgbClr val="087D86"/>
                </a:solidFill>
                <a:latin typeface="Arial Unicode MS"/>
                <a:ea typeface="Arial Unicode MS"/>
                <a:cs typeface="Arial Unicode MS"/>
              </a:rPr>
              <a:t>06</a:t>
            </a:r>
          </a:p>
        </p:txBody>
      </p:sp>
      <p:sp>
        <p:nvSpPr>
          <p:cNvPr id="18" name="矩形 17">
            <a:extLst>
              <a:ext uri="{FF2B5EF4-FFF2-40B4-BE49-F238E27FC236}">
                <a16:creationId xmlns:a16="http://schemas.microsoft.com/office/drawing/2014/main" id="{E8415E79-1B4F-E513-3CBD-35F844074FB9}"/>
              </a:ext>
            </a:extLst>
          </p:cNvPr>
          <p:cNvSpPr>
            <a:spLocks noGrp="1"/>
          </p:cNvSpPr>
          <p:nvPr/>
        </p:nvSpPr>
        <p:spPr>
          <a:xfrm>
            <a:off x="5178005" y="5229225"/>
            <a:ext cx="7620000" cy="466725"/>
          </a:xfrm>
          <a:prstGeom prst="rect">
            <a:avLst/>
          </a:prstGeom>
          <a:noFill/>
          <a:ln w="0">
            <a:noFill/>
          </a:ln>
        </p:spPr>
        <p:txBody>
          <a:bodyPr wrap="none" lIns="0" tIns="0" rIns="0" bIns="0" anchor="t">
            <a:noAutofit/>
          </a:bodyPr>
          <a:lstStyle/>
          <a:p>
            <a:pPr>
              <a:defRPr sz="2400" b="0">
                <a:solidFill>
                  <a:srgbClr val="16313C"/>
                </a:solidFill>
                <a:latin typeface="Arial Unicode MS"/>
                <a:ea typeface="Arial Unicode MS"/>
                <a:cs typeface="Arial Unicode MS"/>
              </a:defRPr>
            </a:pPr>
            <a:r>
              <a:rPr lang="zh-CN" altLang="en-US" sz="3200" u="sng" dirty="0">
                <a:solidFill>
                  <a:srgbClr val="FF0000"/>
                </a:solidFill>
                <a:latin typeface="Arial Unicode MS"/>
                <a:ea typeface="Arial Unicode MS"/>
                <a:cs typeface="Arial Unicode MS"/>
              </a:rPr>
              <a:t>报告展示</a:t>
            </a:r>
            <a:r>
              <a:rPr sz="3200" u="sng" dirty="0" err="1">
                <a:solidFill>
                  <a:srgbClr val="FF0000"/>
                </a:solidFill>
                <a:latin typeface="Arial Unicode MS"/>
                <a:ea typeface="Arial Unicode MS"/>
                <a:cs typeface="Arial Unicode MS"/>
              </a:rPr>
              <a:t>与参赛信息</a:t>
            </a:r>
            <a:endParaRPr sz="3200" u="sng" dirty="0">
              <a:solidFill>
                <a:srgbClr val="FF0000"/>
              </a:solidFill>
              <a:latin typeface="Arial Unicode MS"/>
              <a:ea typeface="Arial Unicode MS"/>
              <a:cs typeface="Arial Unicode MS"/>
            </a:endParaRPr>
          </a:p>
        </p:txBody>
      </p:sp>
      <p:sp>
        <p:nvSpPr>
          <p:cNvPr id="20" name="矩形 19">
            <a:extLst>
              <a:ext uri="{FF2B5EF4-FFF2-40B4-BE49-F238E27FC236}">
                <a16:creationId xmlns:a16="http://schemas.microsoft.com/office/drawing/2014/main" id="{9E59C0A4-3A46-8601-F0A1-882A9BE0500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27</a:t>
            </a:r>
          </a:p>
        </p:txBody>
      </p:sp>
    </p:spTree>
    <p:extLst>
      <p:ext uri="{BB962C8B-B14F-4D97-AF65-F5344CB8AC3E}">
        <p14:creationId xmlns:p14="http://schemas.microsoft.com/office/powerpoint/2010/main" val="1001648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9200219-A6D5-4E8D-BA1A-2B56CC21B4FB}"/>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从能力画像，到可执行的提升路径</a:t>
            </a:r>
          </a:p>
        </p:txBody>
      </p:sp>
      <p:sp>
        <p:nvSpPr>
          <p:cNvPr id="2" name="矩形 1">
            <a:extLst>
              <a:ext uri="{FF2B5EF4-FFF2-40B4-BE49-F238E27FC236}">
                <a16:creationId xmlns:a16="http://schemas.microsoft.com/office/drawing/2014/main" id="{8A2379AF-5753-41BC-B1B2-CD4219D2BD65}"/>
              </a:ext>
            </a:extLst>
          </p:cNvPr>
          <p:cNvSpPr>
            <a:spLocks noGrp="1"/>
          </p:cNvSpPr>
          <p:nvPr/>
        </p:nvSpPr>
        <p:spPr>
          <a:xfrm>
            <a:off x="647700" y="1209675"/>
            <a:ext cx="10839450" cy="628650"/>
          </a:xfrm>
          <a:prstGeom prst="rect">
            <a:avLst/>
          </a:prstGeom>
          <a:noFill/>
          <a:ln w="0">
            <a:noFill/>
          </a:ln>
        </p:spPr>
        <p:txBody>
          <a:bodyPr wrap="none" lIns="0" tIns="0" rIns="0" bIns="0" anchor="t">
            <a:noAutofit/>
          </a:bodyPr>
          <a:lstStyle/>
          <a:p>
            <a:pPr algn="l">
              <a:defRPr sz="2025" b="0">
                <a:solidFill>
                  <a:srgbClr val="087D86"/>
                </a:solidFill>
                <a:latin typeface="Arial Unicode MS"/>
                <a:ea typeface="Arial Unicode MS"/>
                <a:cs typeface="Arial Unicode MS"/>
              </a:defRPr>
            </a:pPr>
            <a:r>
              <a:rPr sz="2025" b="0">
                <a:solidFill>
                  <a:srgbClr val="087D86"/>
                </a:solidFill>
                <a:latin typeface="Arial Unicode MS"/>
                <a:ea typeface="Arial Unicode MS"/>
                <a:cs typeface="Arial Unicode MS"/>
              </a:rPr>
              <a:t>报告呈现已展示的能力深度，并将改进建议细化为练习与完成标准</a:t>
            </a:r>
          </a:p>
        </p:txBody>
      </p:sp>
      <p:sp>
        <p:nvSpPr>
          <p:cNvPr id="3" name="矩形 2">
            <a:extLst>
              <a:ext uri="{FF2B5EF4-FFF2-40B4-BE49-F238E27FC236}">
                <a16:creationId xmlns:a16="http://schemas.microsoft.com/office/drawing/2014/main" id="{53C32BAB-4EA2-4F84-9890-793DFCB8F465}"/>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dirty="0" err="1">
                <a:solidFill>
                  <a:srgbClr val="526874"/>
                </a:solidFill>
                <a:latin typeface="Arial Unicode MS"/>
                <a:ea typeface="Arial Unicode MS"/>
                <a:cs typeface="Arial Unicode MS"/>
              </a:rPr>
              <a:t>历史演示报告中，匹配分对应</a:t>
            </a:r>
            <a:r>
              <a:rPr sz="1350" b="0" dirty="0">
                <a:solidFill>
                  <a:srgbClr val="526874"/>
                </a:solidFill>
                <a:latin typeface="Arial Unicode MS"/>
                <a:ea typeface="Arial Unicode MS"/>
                <a:cs typeface="Arial Unicode MS"/>
              </a:rPr>
              <a:t> 1 </a:t>
            </a:r>
            <a:r>
              <a:rPr sz="1350" b="0" dirty="0" err="1">
                <a:solidFill>
                  <a:srgbClr val="526874"/>
                </a:solidFill>
                <a:latin typeface="Arial Unicode MS"/>
                <a:ea typeface="Arial Unicode MS"/>
                <a:cs typeface="Arial Unicode MS"/>
              </a:rPr>
              <a:t>条合并的岗位要求，其他能力维度仍按证据呈现</a:t>
            </a:r>
            <a:r>
              <a:rPr sz="1350" b="0" dirty="0">
                <a:solidFill>
                  <a:srgbClr val="526874"/>
                </a:solidFill>
                <a:latin typeface="Arial Unicode MS"/>
                <a:ea typeface="Arial Unicode MS"/>
                <a:cs typeface="Arial Unicode MS"/>
              </a:rPr>
              <a:t>。</a:t>
            </a:r>
          </a:p>
        </p:txBody>
      </p:sp>
      <p:sp>
        <p:nvSpPr>
          <p:cNvPr id="4" name="矩形 3">
            <a:extLst>
              <a:ext uri="{FF2B5EF4-FFF2-40B4-BE49-F238E27FC236}">
                <a16:creationId xmlns:a16="http://schemas.microsoft.com/office/drawing/2014/main" id="{EC44D715-9C93-4EBC-99FF-C802EF76F462}"/>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28</a:t>
            </a:r>
          </a:p>
        </p:txBody>
      </p:sp>
      <p:pic>
        <p:nvPicPr>
          <p:cNvPr id="11" name="图片 10"/>
          <p:cNvPicPr>
            <a:picLocks noChangeAspect="1"/>
          </p:cNvPicPr>
          <p:nvPr/>
        </p:nvPicPr>
        <p:blipFill>
          <a:blip r:embed="rId3"/>
          <a:stretch/>
        </p:blipFill>
        <p:spPr>
          <a:xfrm>
            <a:off x="628765" y="1924050"/>
            <a:ext cx="7715020" cy="3781425"/>
          </a:xfrm>
          <a:prstGeom prst="rect">
            <a:avLst/>
          </a:prstGeom>
        </p:spPr>
      </p:pic>
      <p:pic>
        <p:nvPicPr>
          <p:cNvPr id="12" name="图片 11"/>
          <p:cNvPicPr>
            <a:picLocks noChangeAspect="1"/>
          </p:cNvPicPr>
          <p:nvPr/>
        </p:nvPicPr>
        <p:blipFill>
          <a:blip r:embed="rId4"/>
          <a:stretch/>
        </p:blipFill>
        <p:spPr>
          <a:xfrm>
            <a:off x="8667750" y="1576486"/>
            <a:ext cx="2714625" cy="4438452"/>
          </a:xfrm>
          <a:prstGeom prst="rect">
            <a:avLst/>
          </a:prstGeom>
        </p:spPr>
      </p:pic>
    </p:spTree>
    <p:extLst>
      <p:ext uri="{BB962C8B-B14F-4D97-AF65-F5344CB8AC3E}">
        <p14:creationId xmlns:p14="http://schemas.microsoft.com/office/powerpoint/2010/main" val="26305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33506083-0AAF-43E8-A96E-A2D49DB8C4EE}"/>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免费分享与项目维护</a:t>
            </a:r>
          </a:p>
        </p:txBody>
      </p:sp>
      <p:sp>
        <p:nvSpPr>
          <p:cNvPr id="2" name="矩形 1">
            <a:extLst>
              <a:ext uri="{FF2B5EF4-FFF2-40B4-BE49-F238E27FC236}">
                <a16:creationId xmlns:a16="http://schemas.microsoft.com/office/drawing/2014/main" id="{EB6ED3DE-CD85-4161-89AF-6B17E1BB6696}"/>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lgn="l">
              <a:defRPr sz="1350" b="0">
                <a:solidFill>
                  <a:srgbClr val="526874"/>
                </a:solidFill>
                <a:latin typeface="Arial Unicode MS"/>
                <a:ea typeface="Arial Unicode MS"/>
                <a:cs typeface="Arial Unicode MS"/>
              </a:defRPr>
            </a:pPr>
            <a:r>
              <a:rPr sz="1350" b="0">
                <a:solidFill>
                  <a:srgbClr val="526874"/>
                </a:solidFill>
                <a:latin typeface="Arial Unicode MS"/>
                <a:ea typeface="Arial Unicode MS"/>
                <a:cs typeface="Arial Unicode MS"/>
              </a:rPr>
              <a:t>项目按个人本地使用设计，计划通过 GitHub 免费提供源码与使用说明。</a:t>
            </a:r>
          </a:p>
        </p:txBody>
      </p:sp>
      <p:sp>
        <p:nvSpPr>
          <p:cNvPr id="3" name="矩形 2">
            <a:extLst>
              <a:ext uri="{FF2B5EF4-FFF2-40B4-BE49-F238E27FC236}">
                <a16:creationId xmlns:a16="http://schemas.microsoft.com/office/drawing/2014/main" id="{5D943FE3-17E8-4CBA-9279-8CA9DCDC0430}"/>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sz="1200" b="0">
                <a:solidFill>
                  <a:srgbClr val="526874"/>
                </a:solidFill>
                <a:latin typeface="Arial Unicode MS"/>
                <a:ea typeface="Arial Unicode MS"/>
                <a:cs typeface="Arial Unicode MS"/>
              </a:rPr>
              <a:t>29</a:t>
            </a:r>
          </a:p>
        </p:txBody>
      </p:sp>
      <p:sp>
        <p:nvSpPr>
          <p:cNvPr id="4" name="矩形 3">
            <a:extLst>
              <a:ext uri="{FF2B5EF4-FFF2-40B4-BE49-F238E27FC236}">
                <a16:creationId xmlns:a16="http://schemas.microsoft.com/office/drawing/2014/main" id="{556FEEB3-5830-46CA-877C-AC4334A4F6B5}"/>
              </a:ext>
            </a:extLst>
          </p:cNvPr>
          <p:cNvSpPr>
            <a:spLocks noGrp="1"/>
          </p:cNvSpPr>
          <p:nvPr/>
        </p:nvSpPr>
        <p:spPr>
          <a:xfrm>
            <a:off x="733425" y="1771650"/>
            <a:ext cx="2333625" cy="828675"/>
          </a:xfrm>
          <a:prstGeom prst="rect">
            <a:avLst/>
          </a:prstGeom>
          <a:noFill/>
          <a:ln w="0">
            <a:noFill/>
          </a:ln>
        </p:spPr>
        <p:txBody>
          <a:bodyPr wrap="none" lIns="0" tIns="0" rIns="0" bIns="0" anchor="t">
            <a:noAutofit/>
          </a:bodyPr>
          <a:lstStyle/>
          <a:p>
            <a:pPr algn="l">
              <a:defRPr sz="4425" b="0">
                <a:solidFill>
                  <a:srgbClr val="087D86"/>
                </a:solidFill>
                <a:latin typeface="Arial Unicode MS"/>
                <a:ea typeface="Arial Unicode MS"/>
                <a:cs typeface="Arial Unicode MS"/>
              </a:defRPr>
            </a:pPr>
            <a:r>
              <a:rPr sz="4425" b="0">
                <a:solidFill>
                  <a:srgbClr val="087D86"/>
                </a:solidFill>
                <a:latin typeface="Arial Unicode MS"/>
                <a:ea typeface="Arial Unicode MS"/>
                <a:cs typeface="Arial Unicode MS"/>
              </a:rPr>
              <a:t>01</a:t>
            </a:r>
          </a:p>
        </p:txBody>
      </p:sp>
      <p:sp>
        <p:nvSpPr>
          <p:cNvPr id="5" name="矩形 4">
            <a:extLst>
              <a:ext uri="{FF2B5EF4-FFF2-40B4-BE49-F238E27FC236}">
                <a16:creationId xmlns:a16="http://schemas.microsoft.com/office/drawing/2014/main" id="{C962AED1-4FFD-4349-988A-077AC4154B90}"/>
              </a:ext>
            </a:extLst>
          </p:cNvPr>
          <p:cNvSpPr>
            <a:spLocks noGrp="1"/>
          </p:cNvSpPr>
          <p:nvPr/>
        </p:nvSpPr>
        <p:spPr>
          <a:xfrm>
            <a:off x="733425" y="3028950"/>
            <a:ext cx="2371725" cy="447675"/>
          </a:xfrm>
          <a:prstGeom prst="rect">
            <a:avLst/>
          </a:prstGeom>
          <a:noFill/>
          <a:ln w="0">
            <a:noFill/>
          </a:ln>
        </p:spPr>
        <p:txBody>
          <a:bodyPr wrap="none" lIns="0" tIns="0" rIns="0" bIns="0" anchor="t">
            <a:noAutofit/>
          </a:bodyPr>
          <a:lstStyle/>
          <a:p>
            <a:pPr algn="l">
              <a:defRPr sz="2400" b="1">
                <a:solidFill>
                  <a:srgbClr val="16313C"/>
                </a:solidFill>
                <a:latin typeface="Arial Unicode MS"/>
                <a:ea typeface="Arial Unicode MS"/>
                <a:cs typeface="Arial Unicode MS"/>
              </a:defRPr>
            </a:pPr>
            <a:r>
              <a:rPr sz="2400" b="1">
                <a:solidFill>
                  <a:srgbClr val="16313C"/>
                </a:solidFill>
                <a:latin typeface="Arial Unicode MS"/>
                <a:ea typeface="Arial Unicode MS"/>
                <a:cs typeface="Arial Unicode MS"/>
              </a:rPr>
              <a:t>发布</a:t>
            </a:r>
          </a:p>
        </p:txBody>
      </p:sp>
      <p:sp>
        <p:nvSpPr>
          <p:cNvPr id="6" name="矩形 5">
            <a:extLst>
              <a:ext uri="{FF2B5EF4-FFF2-40B4-BE49-F238E27FC236}">
                <a16:creationId xmlns:a16="http://schemas.microsoft.com/office/drawing/2014/main" id="{52995B10-C2D4-439B-BCBE-14477A07E6D5}"/>
              </a:ext>
            </a:extLst>
          </p:cNvPr>
          <p:cNvSpPr>
            <a:spLocks noGrp="1"/>
          </p:cNvSpPr>
          <p:nvPr/>
        </p:nvSpPr>
        <p:spPr>
          <a:xfrm>
            <a:off x="733425" y="3714750"/>
            <a:ext cx="2333625" cy="194310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项目计划通过 </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GitHub 发布源码和</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本地使用说明。</a:t>
            </a:r>
          </a:p>
        </p:txBody>
      </p:sp>
      <p:sp>
        <p:nvSpPr>
          <p:cNvPr id="7" name="矩形 6">
            <a:extLst>
              <a:ext uri="{FF2B5EF4-FFF2-40B4-BE49-F238E27FC236}">
                <a16:creationId xmlns:a16="http://schemas.microsoft.com/office/drawing/2014/main" id="{24DBEA07-4D84-404E-B6F6-2AB089F4B970}"/>
              </a:ext>
            </a:extLst>
          </p:cNvPr>
          <p:cNvSpPr>
            <a:spLocks noGrp="1"/>
          </p:cNvSpPr>
          <p:nvPr/>
        </p:nvSpPr>
        <p:spPr>
          <a:xfrm>
            <a:off x="3571875" y="1771650"/>
            <a:ext cx="2333625" cy="828675"/>
          </a:xfrm>
          <a:prstGeom prst="rect">
            <a:avLst/>
          </a:prstGeom>
          <a:noFill/>
          <a:ln w="0">
            <a:noFill/>
          </a:ln>
        </p:spPr>
        <p:txBody>
          <a:bodyPr wrap="none" lIns="0" tIns="0" rIns="0" bIns="0" anchor="t">
            <a:noAutofit/>
          </a:bodyPr>
          <a:lstStyle/>
          <a:p>
            <a:pPr algn="l">
              <a:defRPr sz="4425" b="0">
                <a:solidFill>
                  <a:srgbClr val="087D86"/>
                </a:solidFill>
                <a:latin typeface="Arial Unicode MS"/>
                <a:ea typeface="Arial Unicode MS"/>
                <a:cs typeface="Arial Unicode MS"/>
              </a:defRPr>
            </a:pPr>
            <a:r>
              <a:rPr sz="4425" b="0">
                <a:solidFill>
                  <a:srgbClr val="087D86"/>
                </a:solidFill>
                <a:latin typeface="Arial Unicode MS"/>
                <a:ea typeface="Arial Unicode MS"/>
                <a:cs typeface="Arial Unicode MS"/>
              </a:rPr>
              <a:t>02</a:t>
            </a:r>
          </a:p>
        </p:txBody>
      </p:sp>
      <p:sp>
        <p:nvSpPr>
          <p:cNvPr id="8" name="矩形 7">
            <a:extLst>
              <a:ext uri="{FF2B5EF4-FFF2-40B4-BE49-F238E27FC236}">
                <a16:creationId xmlns:a16="http://schemas.microsoft.com/office/drawing/2014/main" id="{AC9F4E6A-C7CD-44C5-B04E-40A408B66741}"/>
              </a:ext>
            </a:extLst>
          </p:cNvPr>
          <p:cNvSpPr>
            <a:spLocks noGrp="1"/>
          </p:cNvSpPr>
          <p:nvPr/>
        </p:nvSpPr>
        <p:spPr>
          <a:xfrm>
            <a:off x="3571875" y="3028950"/>
            <a:ext cx="2371725" cy="447675"/>
          </a:xfrm>
          <a:prstGeom prst="rect">
            <a:avLst/>
          </a:prstGeom>
          <a:noFill/>
          <a:ln w="0">
            <a:noFill/>
          </a:ln>
        </p:spPr>
        <p:txBody>
          <a:bodyPr wrap="none" lIns="0" tIns="0" rIns="0" bIns="0" anchor="t">
            <a:noAutofit/>
          </a:bodyPr>
          <a:lstStyle/>
          <a:p>
            <a:pPr algn="l">
              <a:defRPr sz="2400" b="1">
                <a:solidFill>
                  <a:srgbClr val="16313C"/>
                </a:solidFill>
                <a:latin typeface="Arial Unicode MS"/>
                <a:ea typeface="Arial Unicode MS"/>
                <a:cs typeface="Arial Unicode MS"/>
              </a:defRPr>
            </a:pPr>
            <a:r>
              <a:rPr sz="2400" b="1">
                <a:solidFill>
                  <a:srgbClr val="16313C"/>
                </a:solidFill>
                <a:latin typeface="Arial Unicode MS"/>
                <a:ea typeface="Arial Unicode MS"/>
                <a:cs typeface="Arial Unicode MS"/>
              </a:rPr>
              <a:t>反馈</a:t>
            </a:r>
          </a:p>
        </p:txBody>
      </p:sp>
      <p:sp>
        <p:nvSpPr>
          <p:cNvPr id="9" name="矩形 8">
            <a:extLst>
              <a:ext uri="{FF2B5EF4-FFF2-40B4-BE49-F238E27FC236}">
                <a16:creationId xmlns:a16="http://schemas.microsoft.com/office/drawing/2014/main" id="{06719A00-8365-4E5B-AF54-D1E7132469CF}"/>
              </a:ext>
            </a:extLst>
          </p:cNvPr>
          <p:cNvSpPr>
            <a:spLocks noGrp="1"/>
          </p:cNvSpPr>
          <p:nvPr/>
        </p:nvSpPr>
        <p:spPr>
          <a:xfrm>
            <a:off x="3571875" y="3714750"/>
            <a:ext cx="2333625" cy="194310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用户反馈将用于定位</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安装问题、重复追问</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和不合理报告。</a:t>
            </a:r>
          </a:p>
        </p:txBody>
      </p:sp>
      <p:sp>
        <p:nvSpPr>
          <p:cNvPr id="10" name="矩形 9">
            <a:extLst>
              <a:ext uri="{FF2B5EF4-FFF2-40B4-BE49-F238E27FC236}">
                <a16:creationId xmlns:a16="http://schemas.microsoft.com/office/drawing/2014/main" id="{9EAA0F7D-5A98-4F4F-AB36-4E36872F3EC9}"/>
              </a:ext>
            </a:extLst>
          </p:cNvPr>
          <p:cNvSpPr>
            <a:spLocks noGrp="1"/>
          </p:cNvSpPr>
          <p:nvPr/>
        </p:nvSpPr>
        <p:spPr>
          <a:xfrm>
            <a:off x="6410325" y="1771650"/>
            <a:ext cx="2333625" cy="828675"/>
          </a:xfrm>
          <a:prstGeom prst="rect">
            <a:avLst/>
          </a:prstGeom>
          <a:noFill/>
          <a:ln w="0">
            <a:noFill/>
          </a:ln>
        </p:spPr>
        <p:txBody>
          <a:bodyPr wrap="none" lIns="0" tIns="0" rIns="0" bIns="0" anchor="t">
            <a:noAutofit/>
          </a:bodyPr>
          <a:lstStyle/>
          <a:p>
            <a:pPr algn="l">
              <a:defRPr sz="4425" b="0">
                <a:solidFill>
                  <a:srgbClr val="087D86"/>
                </a:solidFill>
                <a:latin typeface="Arial Unicode MS"/>
                <a:ea typeface="Arial Unicode MS"/>
                <a:cs typeface="Arial Unicode MS"/>
              </a:defRPr>
            </a:pPr>
            <a:r>
              <a:rPr sz="4425" b="0">
                <a:solidFill>
                  <a:srgbClr val="087D86"/>
                </a:solidFill>
                <a:latin typeface="Arial Unicode MS"/>
                <a:ea typeface="Arial Unicode MS"/>
                <a:cs typeface="Arial Unicode MS"/>
              </a:rPr>
              <a:t>03</a:t>
            </a:r>
          </a:p>
        </p:txBody>
      </p:sp>
      <p:sp>
        <p:nvSpPr>
          <p:cNvPr id="11" name="矩形 10">
            <a:extLst>
              <a:ext uri="{FF2B5EF4-FFF2-40B4-BE49-F238E27FC236}">
                <a16:creationId xmlns:a16="http://schemas.microsoft.com/office/drawing/2014/main" id="{AA574197-7448-4CF2-9732-754D7D77650C}"/>
              </a:ext>
            </a:extLst>
          </p:cNvPr>
          <p:cNvSpPr>
            <a:spLocks noGrp="1"/>
          </p:cNvSpPr>
          <p:nvPr/>
        </p:nvSpPr>
        <p:spPr>
          <a:xfrm>
            <a:off x="6410325" y="3028950"/>
            <a:ext cx="2371725" cy="447675"/>
          </a:xfrm>
          <a:prstGeom prst="rect">
            <a:avLst/>
          </a:prstGeom>
          <a:noFill/>
          <a:ln w="0">
            <a:noFill/>
          </a:ln>
        </p:spPr>
        <p:txBody>
          <a:bodyPr wrap="none" lIns="0" tIns="0" rIns="0" bIns="0" anchor="t">
            <a:noAutofit/>
          </a:bodyPr>
          <a:lstStyle/>
          <a:p>
            <a:pPr algn="l">
              <a:defRPr sz="2400" b="1">
                <a:solidFill>
                  <a:srgbClr val="16313C"/>
                </a:solidFill>
                <a:latin typeface="Arial Unicode MS"/>
                <a:ea typeface="Arial Unicode MS"/>
                <a:cs typeface="Arial Unicode MS"/>
              </a:defRPr>
            </a:pPr>
            <a:r>
              <a:rPr sz="2400" b="1">
                <a:solidFill>
                  <a:srgbClr val="16313C"/>
                </a:solidFill>
                <a:latin typeface="Arial Unicode MS"/>
                <a:ea typeface="Arial Unicode MS"/>
                <a:cs typeface="Arial Unicode MS"/>
              </a:rPr>
              <a:t>贡献</a:t>
            </a:r>
          </a:p>
        </p:txBody>
      </p:sp>
      <p:sp>
        <p:nvSpPr>
          <p:cNvPr id="12" name="矩形 11">
            <a:extLst>
              <a:ext uri="{FF2B5EF4-FFF2-40B4-BE49-F238E27FC236}">
                <a16:creationId xmlns:a16="http://schemas.microsoft.com/office/drawing/2014/main" id="{BDC1972B-A551-4FAC-8508-C74AF4843BF3}"/>
              </a:ext>
            </a:extLst>
          </p:cNvPr>
          <p:cNvSpPr>
            <a:spLocks noGrp="1"/>
          </p:cNvSpPr>
          <p:nvPr/>
        </p:nvSpPr>
        <p:spPr>
          <a:xfrm>
            <a:off x="6410325" y="3714750"/>
            <a:ext cx="2333625" cy="194310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知识卡、回归案例与</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文档均纳入项目协作</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范围。</a:t>
            </a:r>
          </a:p>
        </p:txBody>
      </p:sp>
      <p:sp>
        <p:nvSpPr>
          <p:cNvPr id="13" name="矩形 12">
            <a:extLst>
              <a:ext uri="{FF2B5EF4-FFF2-40B4-BE49-F238E27FC236}">
                <a16:creationId xmlns:a16="http://schemas.microsoft.com/office/drawing/2014/main" id="{A73D8557-2F41-401E-A126-B2DA6A448C86}"/>
              </a:ext>
            </a:extLst>
          </p:cNvPr>
          <p:cNvSpPr>
            <a:spLocks noGrp="1"/>
          </p:cNvSpPr>
          <p:nvPr/>
        </p:nvSpPr>
        <p:spPr>
          <a:xfrm>
            <a:off x="9248775" y="1771650"/>
            <a:ext cx="2333625" cy="828675"/>
          </a:xfrm>
          <a:prstGeom prst="rect">
            <a:avLst/>
          </a:prstGeom>
          <a:noFill/>
          <a:ln w="0">
            <a:noFill/>
          </a:ln>
        </p:spPr>
        <p:txBody>
          <a:bodyPr wrap="none" lIns="0" tIns="0" rIns="0" bIns="0" anchor="t">
            <a:noAutofit/>
          </a:bodyPr>
          <a:lstStyle/>
          <a:p>
            <a:pPr algn="l">
              <a:defRPr sz="4425" b="0">
                <a:solidFill>
                  <a:srgbClr val="087D86"/>
                </a:solidFill>
                <a:latin typeface="Arial Unicode MS"/>
                <a:ea typeface="Arial Unicode MS"/>
                <a:cs typeface="Arial Unicode MS"/>
              </a:defRPr>
            </a:pPr>
            <a:r>
              <a:rPr sz="4425" b="0">
                <a:solidFill>
                  <a:srgbClr val="087D86"/>
                </a:solidFill>
                <a:latin typeface="Arial Unicode MS"/>
                <a:ea typeface="Arial Unicode MS"/>
                <a:cs typeface="Arial Unicode MS"/>
              </a:rPr>
              <a:t>04</a:t>
            </a:r>
          </a:p>
        </p:txBody>
      </p:sp>
      <p:sp>
        <p:nvSpPr>
          <p:cNvPr id="14" name="矩形 13">
            <a:extLst>
              <a:ext uri="{FF2B5EF4-FFF2-40B4-BE49-F238E27FC236}">
                <a16:creationId xmlns:a16="http://schemas.microsoft.com/office/drawing/2014/main" id="{78EF086B-8989-481A-87EE-5B4CE11E2539}"/>
              </a:ext>
            </a:extLst>
          </p:cNvPr>
          <p:cNvSpPr>
            <a:spLocks noGrp="1"/>
          </p:cNvSpPr>
          <p:nvPr/>
        </p:nvSpPr>
        <p:spPr>
          <a:xfrm>
            <a:off x="9248775" y="3028950"/>
            <a:ext cx="2371725" cy="447675"/>
          </a:xfrm>
          <a:prstGeom prst="rect">
            <a:avLst/>
          </a:prstGeom>
          <a:noFill/>
          <a:ln w="0">
            <a:noFill/>
          </a:ln>
        </p:spPr>
        <p:txBody>
          <a:bodyPr wrap="none" lIns="0" tIns="0" rIns="0" bIns="0" anchor="t">
            <a:noAutofit/>
          </a:bodyPr>
          <a:lstStyle/>
          <a:p>
            <a:pPr algn="l">
              <a:defRPr sz="2400" b="1">
                <a:solidFill>
                  <a:srgbClr val="16313C"/>
                </a:solidFill>
                <a:latin typeface="Arial Unicode MS"/>
                <a:ea typeface="Arial Unicode MS"/>
                <a:cs typeface="Arial Unicode MS"/>
              </a:defRPr>
            </a:pPr>
            <a:r>
              <a:rPr sz="2400" b="1">
                <a:solidFill>
                  <a:srgbClr val="16313C"/>
                </a:solidFill>
                <a:latin typeface="Arial Unicode MS"/>
                <a:ea typeface="Arial Unicode MS"/>
                <a:cs typeface="Arial Unicode MS"/>
              </a:rPr>
              <a:t>维护</a:t>
            </a:r>
          </a:p>
        </p:txBody>
      </p:sp>
      <p:sp>
        <p:nvSpPr>
          <p:cNvPr id="15" name="矩形 14">
            <a:extLst>
              <a:ext uri="{FF2B5EF4-FFF2-40B4-BE49-F238E27FC236}">
                <a16:creationId xmlns:a16="http://schemas.microsoft.com/office/drawing/2014/main" id="{7E5D0439-28EE-4771-B933-06DD1FF67E25}"/>
              </a:ext>
            </a:extLst>
          </p:cNvPr>
          <p:cNvSpPr>
            <a:spLocks noGrp="1"/>
          </p:cNvSpPr>
          <p:nvPr/>
        </p:nvSpPr>
        <p:spPr>
          <a:xfrm>
            <a:off x="9248775" y="3714750"/>
            <a:ext cx="2333625" cy="1943100"/>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维护工作按问题影响</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安排，修改后以固定</a:t>
            </a:r>
          </a:p>
          <a:p>
            <a:pPr algn="l">
              <a:defRPr sz="1950" b="0">
                <a:solidFill>
                  <a:srgbClr val="16313C"/>
                </a:solidFill>
                <a:latin typeface="Arial Unicode MS"/>
                <a:ea typeface="Arial Unicode MS"/>
                <a:cs typeface="Arial Unicode MS"/>
              </a:defRPr>
            </a:pPr>
            <a:r>
              <a:rPr sz="1950" b="0">
                <a:solidFill>
                  <a:srgbClr val="16313C"/>
                </a:solidFill>
                <a:latin typeface="Arial Unicode MS"/>
                <a:ea typeface="Arial Unicode MS"/>
                <a:cs typeface="Arial Unicode MS"/>
              </a:rPr>
              <a:t>案例检查回归。</a:t>
            </a:r>
          </a:p>
        </p:txBody>
      </p:sp>
    </p:spTree>
    <p:extLst>
      <p:ext uri="{BB962C8B-B14F-4D97-AF65-F5344CB8AC3E}">
        <p14:creationId xmlns:p14="http://schemas.microsoft.com/office/powerpoint/2010/main" val="408747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descr="年轻的男人&#10;&#10;AI 生成的内容可能不正确。">
            <a:extLst>
              <a:ext uri="{FF2B5EF4-FFF2-40B4-BE49-F238E27FC236}">
                <a16:creationId xmlns:a16="http://schemas.microsoft.com/office/drawing/2014/main" id="{F82810B8-5584-9144-2634-B3B5B3AC3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0310" y="1612446"/>
            <a:ext cx="2413000" cy="3102429"/>
          </a:xfrm>
          <a:prstGeom prst="rect">
            <a:avLst/>
          </a:prstGeom>
        </p:spPr>
      </p:pic>
      <p:sp>
        <p:nvSpPr>
          <p:cNvPr id="10" name="矩形 9">
            <a:extLst>
              <a:ext uri="{FF2B5EF4-FFF2-40B4-BE49-F238E27FC236}">
                <a16:creationId xmlns:a16="http://schemas.microsoft.com/office/drawing/2014/main" id="{D795361F-0924-4DB7-9676-AAE109681C2B}"/>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16313C"/>
                </a:solidFill>
                <a:latin typeface="Arial Unicode MS"/>
                <a:ea typeface="Arial Unicode MS"/>
                <a:cs typeface="Arial Unicode MS"/>
              </a:defRPr>
            </a:pPr>
            <a:r>
              <a:rPr sz="3300" b="1">
                <a:solidFill>
                  <a:srgbClr val="16313C"/>
                </a:solidFill>
                <a:latin typeface="Arial Unicode MS"/>
                <a:ea typeface="Arial Unicode MS"/>
                <a:cs typeface="Arial Unicode MS"/>
              </a:rPr>
              <a:t>项目团队</a:t>
            </a:r>
          </a:p>
        </p:txBody>
      </p:sp>
      <p:sp>
        <p:nvSpPr>
          <p:cNvPr id="3" name="矩形 2">
            <a:extLst>
              <a:ext uri="{FF2B5EF4-FFF2-40B4-BE49-F238E27FC236}">
                <a16:creationId xmlns:a16="http://schemas.microsoft.com/office/drawing/2014/main" id="{6AE536F1-47FF-44CD-9D75-B85C5725A232}"/>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526874"/>
                </a:solidFill>
                <a:latin typeface="Arial Unicode MS"/>
                <a:ea typeface="Arial Unicode MS"/>
                <a:cs typeface="Arial Unicode MS"/>
              </a:defRPr>
            </a:pPr>
            <a:r>
              <a:rPr lang="en-US" altLang="zh-CN" sz="1200" b="0" dirty="0">
                <a:solidFill>
                  <a:srgbClr val="526874"/>
                </a:solidFill>
                <a:latin typeface="Arial Unicode MS"/>
                <a:ea typeface="Arial Unicode MS"/>
                <a:cs typeface="Arial Unicode MS"/>
              </a:rPr>
              <a:t>30</a:t>
            </a:r>
            <a:endParaRPr sz="1200" b="0" dirty="0">
              <a:solidFill>
                <a:srgbClr val="526874"/>
              </a:solidFill>
              <a:latin typeface="Arial Unicode MS"/>
              <a:ea typeface="Arial Unicode MS"/>
              <a:cs typeface="Arial Unicode MS"/>
            </a:endParaRPr>
          </a:p>
        </p:txBody>
      </p:sp>
      <p:sp>
        <p:nvSpPr>
          <p:cNvPr id="4" name="图片占位_成员照片">
            <a:extLst>
              <a:ext uri="{FF2B5EF4-FFF2-40B4-BE49-F238E27FC236}">
                <a16:creationId xmlns:a16="http://schemas.microsoft.com/office/drawing/2014/main" id="{AEDE9ED0-C2AF-443D-9167-AC26D0AE3450}"/>
              </a:ext>
            </a:extLst>
          </p:cNvPr>
          <p:cNvSpPr>
            <a:spLocks noGrp="1"/>
          </p:cNvSpPr>
          <p:nvPr/>
        </p:nvSpPr>
        <p:spPr>
          <a:xfrm>
            <a:off x="2410310" y="1612446"/>
            <a:ext cx="2413000" cy="3102429"/>
          </a:xfrm>
          <a:prstGeom prst="rect">
            <a:avLst/>
          </a:prstGeom>
          <a:noFill/>
          <a:ln w="12700">
            <a:solidFill>
              <a:srgbClr val="B6CACB"/>
            </a:solidFill>
          </a:ln>
        </p:spPr>
        <p:txBody>
          <a:bodyPr lIns="142875" tIns="142875" rIns="142875" bIns="142875" anchor="ctr">
            <a:noAutofit/>
          </a:bodyPr>
          <a:lstStyle/>
          <a:p>
            <a:pPr algn="ctr">
              <a:defRPr sz="1950">
                <a:solidFill>
                  <a:srgbClr val="526874"/>
                </a:solidFill>
                <a:latin typeface="Arial Unicode MS"/>
                <a:ea typeface="Arial Unicode MS"/>
                <a:cs typeface="Arial Unicode MS"/>
              </a:defRPr>
            </a:pPr>
            <a:endParaRPr sz="1950" dirty="0">
              <a:solidFill>
                <a:srgbClr val="526874"/>
              </a:solidFill>
              <a:latin typeface="Arial Unicode MS"/>
              <a:ea typeface="Arial Unicode MS"/>
              <a:cs typeface="Arial Unicode MS"/>
            </a:endParaRPr>
          </a:p>
        </p:txBody>
      </p:sp>
      <p:sp>
        <p:nvSpPr>
          <p:cNvPr id="5" name="矩形 4">
            <a:extLst>
              <a:ext uri="{FF2B5EF4-FFF2-40B4-BE49-F238E27FC236}">
                <a16:creationId xmlns:a16="http://schemas.microsoft.com/office/drawing/2014/main" id="{54B75D20-ECC5-4E6A-86C8-23365FDF519E}"/>
              </a:ext>
            </a:extLst>
          </p:cNvPr>
          <p:cNvSpPr>
            <a:spLocks noGrp="1"/>
          </p:cNvSpPr>
          <p:nvPr/>
        </p:nvSpPr>
        <p:spPr>
          <a:xfrm>
            <a:off x="5080907" y="1800225"/>
            <a:ext cx="3028950" cy="762000"/>
          </a:xfrm>
          <a:prstGeom prst="rect">
            <a:avLst/>
          </a:prstGeom>
          <a:noFill/>
          <a:ln w="0">
            <a:noFill/>
          </a:ln>
        </p:spPr>
        <p:txBody>
          <a:bodyPr wrap="none" lIns="0" tIns="0" rIns="0" bIns="0" anchor="t">
            <a:noAutofit/>
          </a:bodyPr>
          <a:lstStyle/>
          <a:p>
            <a:pPr algn="l">
              <a:defRPr sz="2250" b="1">
                <a:solidFill>
                  <a:srgbClr val="087D86"/>
                </a:solidFill>
                <a:latin typeface="Arial Unicode MS"/>
                <a:ea typeface="Arial Unicode MS"/>
                <a:cs typeface="Arial Unicode MS"/>
              </a:defRPr>
            </a:pPr>
            <a:r>
              <a:rPr sz="2400" dirty="0">
                <a:solidFill>
                  <a:srgbClr val="16313C"/>
                </a:solidFill>
                <a:latin typeface="Arial Unicode MS"/>
                <a:ea typeface="Arial Unicode MS"/>
                <a:cs typeface="Arial Unicode MS"/>
              </a:rPr>
              <a:t>[</a:t>
            </a:r>
            <a:r>
              <a:rPr sz="2400" dirty="0" err="1">
                <a:solidFill>
                  <a:srgbClr val="16313C"/>
                </a:solidFill>
                <a:latin typeface="Arial Unicode MS"/>
                <a:ea typeface="Arial Unicode MS"/>
                <a:cs typeface="Arial Unicode MS"/>
              </a:rPr>
              <a:t>姓名</a:t>
            </a:r>
            <a:r>
              <a:rPr sz="2400" dirty="0">
                <a:solidFill>
                  <a:srgbClr val="16313C"/>
                </a:solidFill>
                <a:latin typeface="Arial Unicode MS"/>
                <a:ea typeface="Arial Unicode MS"/>
                <a:cs typeface="Arial Unicode MS"/>
              </a:rPr>
              <a:t>]</a:t>
            </a:r>
            <a:r>
              <a:rPr lang="zh-CN" altLang="en-US" sz="2400" dirty="0">
                <a:solidFill>
                  <a:srgbClr val="16313C"/>
                </a:solidFill>
                <a:latin typeface="Arial Unicode MS"/>
                <a:ea typeface="Arial Unicode MS"/>
                <a:cs typeface="Arial Unicode MS"/>
              </a:rPr>
              <a:t>：黄欣</a:t>
            </a:r>
            <a:endParaRPr sz="2400" dirty="0">
              <a:solidFill>
                <a:srgbClr val="16313C"/>
              </a:solidFill>
              <a:latin typeface="Arial Unicode MS"/>
              <a:ea typeface="Arial Unicode MS"/>
              <a:cs typeface="Arial Unicode MS"/>
            </a:endParaRPr>
          </a:p>
        </p:txBody>
      </p:sp>
      <p:sp>
        <p:nvSpPr>
          <p:cNvPr id="6" name="矩形 5">
            <a:extLst>
              <a:ext uri="{FF2B5EF4-FFF2-40B4-BE49-F238E27FC236}">
                <a16:creationId xmlns:a16="http://schemas.microsoft.com/office/drawing/2014/main" id="{98E9F6BF-A562-47A1-80D3-D3432BA10A89}"/>
              </a:ext>
            </a:extLst>
          </p:cNvPr>
          <p:cNvSpPr>
            <a:spLocks noGrp="1"/>
          </p:cNvSpPr>
          <p:nvPr/>
        </p:nvSpPr>
        <p:spPr>
          <a:xfrm>
            <a:off x="5080907" y="3691706"/>
            <a:ext cx="3679635" cy="409575"/>
          </a:xfrm>
          <a:prstGeom prst="rect">
            <a:avLst/>
          </a:prstGeom>
          <a:noFill/>
          <a:ln w="0">
            <a:noFill/>
          </a:ln>
        </p:spPr>
        <p:txBody>
          <a:bodyPr wrap="none" lIns="0" tIns="0" rIns="0" bIns="0" anchor="t">
            <a:noAutofit/>
          </a:bodyPr>
          <a:lstStyle/>
          <a:p>
            <a:pPr algn="l">
              <a:defRPr sz="1950" b="0">
                <a:solidFill>
                  <a:srgbClr val="16313C"/>
                </a:solidFill>
                <a:latin typeface="Arial Unicode MS"/>
                <a:ea typeface="Arial Unicode MS"/>
                <a:cs typeface="Arial Unicode MS"/>
              </a:defRPr>
            </a:pPr>
            <a:r>
              <a:rPr sz="2400" b="1" dirty="0">
                <a:solidFill>
                  <a:srgbClr val="16313C"/>
                </a:solidFill>
                <a:latin typeface="Arial Unicode MS"/>
                <a:ea typeface="Arial Unicode MS"/>
                <a:cs typeface="Arial Unicode MS"/>
              </a:rPr>
              <a:t>[</a:t>
            </a:r>
            <a:r>
              <a:rPr sz="2400" b="1" dirty="0" err="1">
                <a:solidFill>
                  <a:srgbClr val="16313C"/>
                </a:solidFill>
                <a:latin typeface="Arial Unicode MS"/>
                <a:ea typeface="Arial Unicode MS"/>
                <a:cs typeface="Arial Unicode MS"/>
              </a:rPr>
              <a:t>学校</a:t>
            </a:r>
            <a:r>
              <a:rPr sz="2400" b="1" dirty="0">
                <a:solidFill>
                  <a:srgbClr val="16313C"/>
                </a:solidFill>
                <a:latin typeface="Arial Unicode MS"/>
                <a:ea typeface="Arial Unicode MS"/>
                <a:cs typeface="Arial Unicode MS"/>
              </a:rPr>
              <a:t> ]</a:t>
            </a:r>
            <a:r>
              <a:rPr lang="zh-CN" altLang="en-US" sz="2400" b="1" dirty="0">
                <a:solidFill>
                  <a:srgbClr val="16313C"/>
                </a:solidFill>
                <a:latin typeface="Arial Unicode MS"/>
                <a:ea typeface="Arial Unicode MS"/>
                <a:cs typeface="Arial Unicode MS"/>
              </a:rPr>
              <a:t>：中国科学院大学</a:t>
            </a:r>
            <a:endParaRPr sz="2400" b="1" dirty="0">
              <a:solidFill>
                <a:srgbClr val="16313C"/>
              </a:solidFill>
              <a:latin typeface="Arial Unicode MS"/>
              <a:ea typeface="Arial Unicode MS"/>
              <a:cs typeface="Arial Unicode MS"/>
            </a:endParaRPr>
          </a:p>
        </p:txBody>
      </p:sp>
    </p:spTree>
    <p:extLst>
      <p:ext uri="{BB962C8B-B14F-4D97-AF65-F5344CB8AC3E}">
        <p14:creationId xmlns:p14="http://schemas.microsoft.com/office/powerpoint/2010/main" val="1356661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6313C"/>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F93AB44-948B-4F0A-AE55-03F831EF00F1}"/>
              </a:ext>
            </a:extLst>
          </p:cNvPr>
          <p:cNvSpPr>
            <a:spLocks noGrp="1"/>
          </p:cNvSpPr>
          <p:nvPr/>
        </p:nvSpPr>
        <p:spPr>
          <a:xfrm>
            <a:off x="609600" y="428625"/>
            <a:ext cx="10953750" cy="695325"/>
          </a:xfrm>
          <a:prstGeom prst="rect">
            <a:avLst/>
          </a:prstGeom>
          <a:noFill/>
          <a:ln w="0">
            <a:noFill/>
          </a:ln>
        </p:spPr>
        <p:txBody>
          <a:bodyPr wrap="none" lIns="0" tIns="0" rIns="0" bIns="0" anchor="t">
            <a:noAutofit/>
          </a:bodyPr>
          <a:lstStyle/>
          <a:p>
            <a:pPr algn="l">
              <a:defRPr sz="3300" b="1">
                <a:solidFill>
                  <a:srgbClr val="FFFFFF"/>
                </a:solidFill>
                <a:latin typeface="Arial Unicode MS"/>
                <a:ea typeface="Arial Unicode MS"/>
                <a:cs typeface="Arial Unicode MS"/>
              </a:defRPr>
            </a:pPr>
            <a:r>
              <a:rPr sz="3300" b="1">
                <a:solidFill>
                  <a:srgbClr val="FFFFFF"/>
                </a:solidFill>
                <a:latin typeface="Arial Unicode MS"/>
                <a:ea typeface="Arial Unicode MS"/>
                <a:cs typeface="Arial Unicode MS"/>
              </a:rPr>
              <a:t>项目地址</a:t>
            </a:r>
          </a:p>
        </p:txBody>
      </p:sp>
      <p:sp>
        <p:nvSpPr>
          <p:cNvPr id="2" name="矩形 1">
            <a:extLst>
              <a:ext uri="{FF2B5EF4-FFF2-40B4-BE49-F238E27FC236}">
                <a16:creationId xmlns:a16="http://schemas.microsoft.com/office/drawing/2014/main" id="{3DFBC1E9-357A-4DC9-AE52-ACD467E52175}"/>
              </a:ext>
            </a:extLst>
          </p:cNvPr>
          <p:cNvSpPr>
            <a:spLocks noGrp="1"/>
          </p:cNvSpPr>
          <p:nvPr/>
        </p:nvSpPr>
        <p:spPr>
          <a:xfrm>
            <a:off x="647700" y="6153150"/>
            <a:ext cx="10620375" cy="409575"/>
          </a:xfrm>
          <a:prstGeom prst="rect">
            <a:avLst/>
          </a:prstGeom>
          <a:noFill/>
          <a:ln w="0">
            <a:noFill/>
          </a:ln>
        </p:spPr>
        <p:txBody>
          <a:bodyPr wrap="none" lIns="0" tIns="0" rIns="0" bIns="0" anchor="t">
            <a:noAutofit/>
          </a:bodyPr>
          <a:lstStyle/>
          <a:p>
            <a:pPr>
              <a:defRPr sz="1350" b="0">
                <a:solidFill>
                  <a:srgbClr val="B9D2D5"/>
                </a:solidFill>
                <a:latin typeface="Arial Unicode MS"/>
                <a:ea typeface="Arial Unicode MS"/>
                <a:cs typeface="Arial Unicode MS"/>
              </a:defRPr>
            </a:pPr>
            <a:r>
              <a:rPr sz="1400" b="0" dirty="0">
                <a:solidFill>
                  <a:srgbClr val="B9D2D5"/>
                </a:solidFill>
                <a:latin typeface="Arial Unicode MS"/>
                <a:ea typeface="Arial Unicode MS"/>
                <a:cs typeface="Arial Unicode MS"/>
              </a:rPr>
              <a:t>[</a:t>
            </a:r>
            <a:r>
              <a:rPr lang="zh-CN" altLang="en-US" sz="1400" b="0" dirty="0">
                <a:solidFill>
                  <a:srgbClr val="B9D2D5"/>
                </a:solidFill>
                <a:latin typeface="Arial Unicode MS"/>
                <a:ea typeface="Arial Unicode MS"/>
                <a:cs typeface="Arial Unicode MS"/>
              </a:rPr>
              <a:t>队伍名称</a:t>
            </a:r>
            <a:r>
              <a:rPr sz="1400" b="0" dirty="0">
                <a:solidFill>
                  <a:srgbClr val="B9D2D5"/>
                </a:solidFill>
                <a:latin typeface="Arial Unicode MS"/>
                <a:ea typeface="Arial Unicode MS"/>
                <a:cs typeface="Arial Unicode MS"/>
              </a:rPr>
              <a:t>] </a:t>
            </a:r>
            <a:r>
              <a:rPr lang="en-US" sz="1400" b="0" dirty="0">
                <a:solidFill>
                  <a:srgbClr val="B9D2D5"/>
                </a:solidFill>
                <a:latin typeface="Arial Unicode MS"/>
                <a:ea typeface="Arial Unicode MS"/>
                <a:cs typeface="Arial Unicode MS"/>
              </a:rPr>
              <a:t>: </a:t>
            </a:r>
            <a:r>
              <a:rPr lang="en-US" sz="1400" dirty="0">
                <a:solidFill>
                  <a:srgbClr val="B9D2D5"/>
                </a:solidFill>
                <a:latin typeface="Arial Unicode MS"/>
                <a:ea typeface="Arial Unicode MS"/>
                <a:cs typeface="Arial Unicode MS"/>
              </a:rPr>
              <a:t>[</a:t>
            </a:r>
            <a:r>
              <a:rPr lang="zh-CN" altLang="en-US" sz="1400" dirty="0">
                <a:solidFill>
                  <a:srgbClr val="B9D2D5"/>
                </a:solidFill>
                <a:latin typeface="Arial Unicode MS"/>
                <a:ea typeface="Arial Unicode MS"/>
                <a:cs typeface="Arial Unicode MS"/>
              </a:rPr>
              <a:t>哈吉米重度依赖</a:t>
            </a:r>
            <a:r>
              <a:rPr lang="en-US" altLang="zh-CN" sz="1400" dirty="0">
                <a:solidFill>
                  <a:srgbClr val="B9D2D5"/>
                </a:solidFill>
                <a:latin typeface="Arial Unicode MS"/>
                <a:ea typeface="Arial Unicode MS"/>
                <a:cs typeface="Arial Unicode MS"/>
              </a:rPr>
              <a:t>]</a:t>
            </a:r>
            <a:endParaRPr lang="en-US" sz="1400" b="0" dirty="0">
              <a:solidFill>
                <a:srgbClr val="B9D2D5"/>
              </a:solidFill>
              <a:latin typeface="Arial Unicode MS"/>
              <a:ea typeface="Arial Unicode MS"/>
              <a:cs typeface="Arial Unicode MS"/>
            </a:endParaRPr>
          </a:p>
          <a:p>
            <a:pPr>
              <a:defRPr sz="1350" b="0">
                <a:solidFill>
                  <a:srgbClr val="B9D2D5"/>
                </a:solidFill>
                <a:latin typeface="Arial Unicode MS"/>
                <a:ea typeface="Arial Unicode MS"/>
                <a:cs typeface="Arial Unicode MS"/>
              </a:defRPr>
            </a:pPr>
            <a:r>
              <a:rPr sz="1400" b="0" dirty="0">
                <a:solidFill>
                  <a:srgbClr val="B9D2D5"/>
                </a:solidFill>
                <a:latin typeface="Arial Unicode MS"/>
                <a:ea typeface="Arial Unicode MS"/>
                <a:cs typeface="Arial Unicode MS"/>
              </a:rPr>
              <a:t>[</a:t>
            </a:r>
            <a:r>
              <a:rPr sz="1400" b="0" dirty="0" err="1">
                <a:solidFill>
                  <a:srgbClr val="B9D2D5"/>
                </a:solidFill>
                <a:latin typeface="Arial Unicode MS"/>
                <a:ea typeface="Arial Unicode MS"/>
                <a:cs typeface="Arial Unicode MS"/>
              </a:rPr>
              <a:t>负责人联系方式</a:t>
            </a:r>
            <a:r>
              <a:rPr sz="1400" b="0" dirty="0">
                <a:solidFill>
                  <a:srgbClr val="B9D2D5"/>
                </a:solidFill>
                <a:latin typeface="Arial Unicode MS"/>
                <a:ea typeface="Arial Unicode MS"/>
                <a:cs typeface="Arial Unicode MS"/>
              </a:rPr>
              <a:t>]</a:t>
            </a:r>
            <a:r>
              <a:rPr lang="en-US" altLang="zh-CN" sz="1400" dirty="0">
                <a:solidFill>
                  <a:srgbClr val="B9D2D5"/>
                </a:solidFill>
                <a:latin typeface="Arial Unicode MS"/>
                <a:ea typeface="Arial Unicode MS"/>
                <a:cs typeface="Arial Unicode MS"/>
              </a:rPr>
              <a:t> : [</a:t>
            </a:r>
            <a:r>
              <a:rPr lang="en-US" altLang="zh-CN" sz="1400" dirty="0" err="1">
                <a:solidFill>
                  <a:srgbClr val="B9D2D5"/>
                </a:solidFill>
                <a:latin typeface="Arial Unicode MS"/>
                <a:ea typeface="Arial Unicode MS"/>
                <a:cs typeface="Arial Unicode MS"/>
              </a:rPr>
              <a:t>hxlux@qq.com</a:t>
            </a:r>
            <a:r>
              <a:rPr lang="en-US" altLang="zh-CN" sz="1400" dirty="0">
                <a:solidFill>
                  <a:srgbClr val="B9D2D5"/>
                </a:solidFill>
                <a:latin typeface="Arial Unicode MS"/>
                <a:ea typeface="Arial Unicode MS"/>
                <a:cs typeface="Arial Unicode MS"/>
              </a:rPr>
              <a:t>]</a:t>
            </a:r>
            <a:endParaRPr sz="1400" b="0" dirty="0">
              <a:solidFill>
                <a:srgbClr val="B9D2D5"/>
              </a:solidFill>
              <a:latin typeface="Arial Unicode MS"/>
              <a:ea typeface="Arial Unicode MS"/>
              <a:cs typeface="Arial Unicode MS"/>
            </a:endParaRPr>
          </a:p>
        </p:txBody>
      </p:sp>
      <p:sp>
        <p:nvSpPr>
          <p:cNvPr id="3" name="矩形 2">
            <a:extLst>
              <a:ext uri="{FF2B5EF4-FFF2-40B4-BE49-F238E27FC236}">
                <a16:creationId xmlns:a16="http://schemas.microsoft.com/office/drawing/2014/main" id="{0B5F32CE-FC3A-4B3C-88D7-A371F61A3663}"/>
              </a:ext>
            </a:extLst>
          </p:cNvPr>
          <p:cNvSpPr>
            <a:spLocks noGrp="1"/>
          </p:cNvSpPr>
          <p:nvPr/>
        </p:nvSpPr>
        <p:spPr>
          <a:xfrm>
            <a:off x="11334750" y="6505575"/>
            <a:ext cx="400050" cy="209550"/>
          </a:xfrm>
          <a:prstGeom prst="rect">
            <a:avLst/>
          </a:prstGeom>
          <a:noFill/>
          <a:ln w="0">
            <a:noFill/>
          </a:ln>
        </p:spPr>
        <p:txBody>
          <a:bodyPr wrap="none" lIns="0" tIns="0" rIns="0" bIns="0" anchor="t">
            <a:noAutofit/>
          </a:bodyPr>
          <a:lstStyle/>
          <a:p>
            <a:pPr algn="r">
              <a:defRPr sz="1200" b="0">
                <a:solidFill>
                  <a:srgbClr val="B9D2D5"/>
                </a:solidFill>
                <a:latin typeface="Arial Unicode MS"/>
                <a:ea typeface="Arial Unicode MS"/>
                <a:cs typeface="Arial Unicode MS"/>
              </a:defRPr>
            </a:pPr>
            <a:r>
              <a:rPr sz="1200" b="0" dirty="0">
                <a:solidFill>
                  <a:srgbClr val="B9D2D5"/>
                </a:solidFill>
                <a:latin typeface="Arial Unicode MS"/>
                <a:ea typeface="Arial Unicode MS"/>
                <a:cs typeface="Arial Unicode MS"/>
              </a:rPr>
              <a:t>3</a:t>
            </a:r>
            <a:r>
              <a:rPr lang="en-US" altLang="zh-CN" sz="1200" b="0" dirty="0">
                <a:solidFill>
                  <a:srgbClr val="B9D2D5"/>
                </a:solidFill>
                <a:latin typeface="Arial Unicode MS"/>
                <a:ea typeface="Arial Unicode MS"/>
                <a:cs typeface="Arial Unicode MS"/>
              </a:rPr>
              <a:t>1</a:t>
            </a:r>
            <a:endParaRPr sz="1200" b="0" dirty="0">
              <a:solidFill>
                <a:srgbClr val="B9D2D5"/>
              </a:solidFill>
              <a:latin typeface="Arial Unicode MS"/>
              <a:ea typeface="Arial Unicode MS"/>
              <a:cs typeface="Arial Unicode MS"/>
            </a:endParaRPr>
          </a:p>
        </p:txBody>
      </p:sp>
      <p:sp>
        <p:nvSpPr>
          <p:cNvPr id="4" name="矩形 3">
            <a:extLst>
              <a:ext uri="{FF2B5EF4-FFF2-40B4-BE49-F238E27FC236}">
                <a16:creationId xmlns:a16="http://schemas.microsoft.com/office/drawing/2014/main" id="{5DA22E03-EBBD-4289-93D3-1360D4D0E072}"/>
              </a:ext>
            </a:extLst>
          </p:cNvPr>
          <p:cNvSpPr>
            <a:spLocks noGrp="1"/>
          </p:cNvSpPr>
          <p:nvPr/>
        </p:nvSpPr>
        <p:spPr>
          <a:xfrm>
            <a:off x="733425" y="1724025"/>
            <a:ext cx="10725150" cy="800100"/>
          </a:xfrm>
          <a:prstGeom prst="rect">
            <a:avLst/>
          </a:prstGeom>
          <a:noFill/>
          <a:ln w="0">
            <a:noFill/>
          </a:ln>
        </p:spPr>
        <p:txBody>
          <a:bodyPr wrap="none" lIns="0" tIns="0" rIns="0" bIns="0" anchor="t">
            <a:noAutofit/>
          </a:bodyPr>
          <a:lstStyle/>
          <a:p>
            <a:pPr algn="l">
              <a:defRPr sz="3225" b="0">
                <a:solidFill>
                  <a:srgbClr val="A5DBD8"/>
                </a:solidFill>
                <a:latin typeface="Arial Unicode MS"/>
                <a:ea typeface="Arial Unicode MS"/>
                <a:cs typeface="Arial Unicode MS"/>
              </a:defRPr>
            </a:pPr>
            <a:r>
              <a:rPr sz="3225" b="0">
                <a:solidFill>
                  <a:srgbClr val="A5DBD8"/>
                </a:solidFill>
                <a:latin typeface="Arial Unicode MS"/>
                <a:ea typeface="Arial Unicode MS"/>
                <a:cs typeface="Arial Unicode MS"/>
              </a:rPr>
              <a:t>github.com/lux-666/better-resume</a:t>
            </a:r>
          </a:p>
        </p:txBody>
      </p:sp>
      <p:sp>
        <p:nvSpPr>
          <p:cNvPr id="5" name="矩形 4">
            <a:extLst>
              <a:ext uri="{FF2B5EF4-FFF2-40B4-BE49-F238E27FC236}">
                <a16:creationId xmlns:a16="http://schemas.microsoft.com/office/drawing/2014/main" id="{24ACB515-D252-4355-8A7A-6791BE159AE0}"/>
              </a:ext>
            </a:extLst>
          </p:cNvPr>
          <p:cNvSpPr>
            <a:spLocks noGrp="1"/>
          </p:cNvSpPr>
          <p:nvPr/>
        </p:nvSpPr>
        <p:spPr>
          <a:xfrm>
            <a:off x="742950" y="3133725"/>
            <a:ext cx="10668000" cy="1333500"/>
          </a:xfrm>
          <a:prstGeom prst="rect">
            <a:avLst/>
          </a:prstGeom>
          <a:noFill/>
          <a:ln w="0">
            <a:noFill/>
          </a:ln>
        </p:spPr>
        <p:txBody>
          <a:bodyPr wrap="none" lIns="0" tIns="0" rIns="0" bIns="0" anchor="t">
            <a:noAutofit/>
          </a:bodyPr>
          <a:lstStyle/>
          <a:p>
            <a:pPr algn="l">
              <a:defRPr sz="2925" b="0">
                <a:solidFill>
                  <a:srgbClr val="FFFFFF"/>
                </a:solidFill>
                <a:latin typeface="Arial Unicode MS"/>
                <a:ea typeface="Arial Unicode MS"/>
                <a:cs typeface="Arial Unicode MS"/>
              </a:defRPr>
            </a:pPr>
            <a:r>
              <a:rPr sz="2925" b="0" dirty="0" err="1">
                <a:solidFill>
                  <a:srgbClr val="FFFFFF"/>
                </a:solidFill>
                <a:latin typeface="Arial Unicode MS"/>
                <a:ea typeface="Arial Unicode MS"/>
                <a:cs typeface="Arial Unicode MS"/>
              </a:rPr>
              <a:t>通过</a:t>
            </a:r>
            <a:r>
              <a:rPr sz="2925" b="0" dirty="0">
                <a:solidFill>
                  <a:srgbClr val="FFFFFF"/>
                </a:solidFill>
                <a:latin typeface="Arial Unicode MS"/>
                <a:ea typeface="Arial Unicode MS"/>
                <a:cs typeface="Arial Unicode MS"/>
              </a:rPr>
              <a:t> GitHub </a:t>
            </a:r>
            <a:r>
              <a:rPr sz="2925" b="0" dirty="0" err="1">
                <a:solidFill>
                  <a:srgbClr val="FFFFFF"/>
                </a:solidFill>
                <a:latin typeface="Arial Unicode MS"/>
                <a:ea typeface="Arial Unicode MS"/>
                <a:cs typeface="Arial Unicode MS"/>
              </a:rPr>
              <a:t>免费</a:t>
            </a:r>
            <a:r>
              <a:rPr lang="zh-CN" altLang="en-US" sz="2925" b="0" dirty="0">
                <a:solidFill>
                  <a:srgbClr val="FFFFFF"/>
                </a:solidFill>
                <a:latin typeface="Arial Unicode MS"/>
                <a:ea typeface="Arial Unicode MS"/>
                <a:cs typeface="Arial Unicode MS"/>
              </a:rPr>
              <a:t>开源</a:t>
            </a:r>
            <a:endParaRPr sz="2925" b="0" dirty="0">
              <a:solidFill>
                <a:srgbClr val="FFFFFF"/>
              </a:solidFill>
              <a:latin typeface="Arial Unicode MS"/>
              <a:ea typeface="Arial Unicode MS"/>
              <a:cs typeface="Arial Unicode MS"/>
            </a:endParaRPr>
          </a:p>
          <a:p>
            <a:pPr algn="l">
              <a:defRPr sz="2925" b="0">
                <a:solidFill>
                  <a:srgbClr val="FFFFFF"/>
                </a:solidFill>
                <a:latin typeface="Arial Unicode MS"/>
                <a:ea typeface="Arial Unicode MS"/>
                <a:cs typeface="Arial Unicode MS"/>
              </a:defRPr>
            </a:pPr>
            <a:r>
              <a:rPr sz="2925" b="0" dirty="0" err="1">
                <a:solidFill>
                  <a:srgbClr val="FFFFFF"/>
                </a:solidFill>
                <a:latin typeface="Arial Unicode MS"/>
                <a:ea typeface="Arial Unicode MS"/>
                <a:cs typeface="Arial Unicode MS"/>
              </a:rPr>
              <a:t>下载源码后在本地运行</a:t>
            </a:r>
            <a:endParaRPr sz="2925" b="0" dirty="0">
              <a:solidFill>
                <a:srgbClr val="FFFFFF"/>
              </a:solidFill>
              <a:latin typeface="Arial Unicode MS"/>
              <a:ea typeface="Arial Unicode MS"/>
              <a:cs typeface="Arial Unicode MS"/>
            </a:endParaRPr>
          </a:p>
        </p:txBody>
      </p:sp>
    </p:spTree>
    <p:extLst>
      <p:ext uri="{BB962C8B-B14F-4D97-AF65-F5344CB8AC3E}">
        <p14:creationId xmlns:p14="http://schemas.microsoft.com/office/powerpoint/2010/main" val="16643044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EA3E4B-E0B9-054A-ABDB-6F81990AA3EA}">
  <we:reference id="wa200010215" version="2.0.0.0" store="zh-CN" storeType="OMEX"/>
  <we:alternateReferences>
    <we:reference id="WA200010215" version="2.0.0.0" store="" storeType="OMEX"/>
  </we:alternateReferences>
  <we:properties>
    <we:property name="bps.codex_control.document_id" value="&quot;904f9073-d9d8-44ea-aed0-a125f78d2c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900</TotalTime>
  <Words>1389</Words>
  <Application>Microsoft Macintosh PowerPoint</Application>
  <DocSecurity>0</DocSecurity>
  <PresentationFormat>宽屏</PresentationFormat>
  <Paragraphs>426</Paragraphs>
  <Slides>31</Slides>
  <Notes>23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31</vt:i4>
      </vt:variant>
    </vt:vector>
  </HeadingPairs>
  <TitlesOfParts>
    <vt:vector size="34" baseType="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Lux HX</cp:lastModifiedBy>
  <cp:revision>31</cp:revision>
  <dcterms:created xsi:type="dcterms:W3CDTF">2026-09-08T09:21:05Z</dcterms:created>
  <dcterms:modified xsi:type="dcterms:W3CDTF">2026-09-09T06:04:19Z</dcterms:modified>
</cp:coreProperties>
</file>